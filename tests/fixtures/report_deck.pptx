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Retail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Q4 25</c:v>
                </c:pt>
                <c:pt idx="1">
                  <c:v>Q1 26</c:v>
                </c:pt>
                <c:pt idx="2">
                  <c:v>Q2 26</c:v>
                </c:pt>
                <c:pt idx="3">
                  <c:v>Q3 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</c:v>
                </c:pt>
                <c:pt idx="1">
                  <c:v>1.5</c:v>
                </c:pt>
                <c:pt idx="2">
                  <c:v>1.7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Q4 25</c:v>
                </c:pt>
                <c:pt idx="1">
                  <c:v>Q1 26</c:v>
                </c:pt>
                <c:pt idx="2">
                  <c:v>Q2 26</c:v>
                </c:pt>
                <c:pt idx="3">
                  <c:v>Q3 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1.0</c:v>
                </c:pt>
                <c:pt idx="1">
                  <c:v>1.2</c:v>
                </c:pt>
                <c:pt idx="2">
                  <c:v>1.4</c:v>
                </c:pt>
                <c:pt idx="3">
                  <c:v>2.2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Today: how Q3 went, what drove it, and what we do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revenue: 4.2 million. Then margin held at 38 percent. Finally 1,250 new subscribers.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steps in order, then land the result: lead time down to four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animation: each feedback point fades in on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Operating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Roasters (synthetic data)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Headline results</a:t>
            </a:r>
          </a:p>
          <a:p>
            <a:r>
              <a:t>Revenue by channel</a:t>
            </a:r>
          </a:p>
          <a:p>
            <a:r>
              <a:t>How we fixed fulfilment</a:t>
            </a:r>
          </a:p>
          <a:p>
            <a:r>
              <a:t>Priorities for 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at a glance</a:t>
            </a:r>
          </a:p>
        </p:txBody>
      </p:sp>
      <p:sp>
        <p:nvSpPr>
          <p:cNvPr id="3" name="KPI Card 1"/>
          <p:cNvSpPr/>
          <p:nvPr/>
        </p:nvSpPr>
        <p:spPr>
          <a:xfrm>
            <a:off x="822960" y="2011680"/>
            <a:ext cx="3200400" cy="274320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PI Value 1"/>
          <p:cNvSpPr txBox="1"/>
          <p:nvPr/>
        </p:nvSpPr>
        <p:spPr>
          <a:xfrm>
            <a:off x="1097280" y="2377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9D8A"/>
                </a:solidFill>
              </a:rPr>
              <a:t>$4.2M</a:t>
            </a:r>
          </a:p>
        </p:txBody>
      </p:sp>
      <p:sp>
        <p:nvSpPr>
          <p:cNvPr id="5" name="KPI Label 1"/>
          <p:cNvSpPr txBox="1"/>
          <p:nvPr/>
        </p:nvSpPr>
        <p:spPr>
          <a:xfrm>
            <a:off x="109728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16E"/>
                </a:solidFill>
              </a:rPr>
              <a:t>Revenue, up from $3.1M</a:t>
            </a:r>
          </a:p>
        </p:txBody>
      </p:sp>
      <p:sp>
        <p:nvSpPr>
          <p:cNvPr id="6" name="KPI Card 2"/>
          <p:cNvSpPr/>
          <p:nvPr/>
        </p:nvSpPr>
        <p:spPr>
          <a:xfrm>
            <a:off x="4480560" y="2011680"/>
            <a:ext cx="3200400" cy="274320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PI Value 2"/>
          <p:cNvSpPr txBox="1"/>
          <p:nvPr/>
        </p:nvSpPr>
        <p:spPr>
          <a:xfrm>
            <a:off x="4754880" y="2377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9D8A"/>
                </a:solidFill>
              </a:rPr>
              <a:t>38%</a:t>
            </a:r>
          </a:p>
        </p:txBody>
      </p:sp>
      <p:sp>
        <p:nvSpPr>
          <p:cNvPr id="8" name="KPI Label 2"/>
          <p:cNvSpPr txBox="1"/>
          <p:nvPr/>
        </p:nvSpPr>
        <p:spPr>
          <a:xfrm>
            <a:off x="475488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16E"/>
                </a:solidFill>
              </a:rPr>
              <a:t>Gross margin</a:t>
            </a:r>
          </a:p>
        </p:txBody>
      </p:sp>
      <p:sp>
        <p:nvSpPr>
          <p:cNvPr id="9" name="KPI Card 3"/>
          <p:cNvSpPr/>
          <p:nvPr/>
        </p:nvSpPr>
        <p:spPr>
          <a:xfrm>
            <a:off x="8138160" y="2011680"/>
            <a:ext cx="3200400" cy="274320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Value 3"/>
          <p:cNvSpPr txBox="1"/>
          <p:nvPr/>
        </p:nvSpPr>
        <p:spPr>
          <a:xfrm>
            <a:off x="8412480" y="2377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9D8A"/>
                </a:solidFill>
              </a:rPr>
              <a:t>1,250</a:t>
            </a:r>
          </a:p>
        </p:txBody>
      </p:sp>
      <p:sp>
        <p:nvSpPr>
          <p:cNvPr id="11" name="KPI Label 3"/>
          <p:cNvSpPr txBox="1"/>
          <p:nvPr/>
        </p:nvSpPr>
        <p:spPr>
          <a:xfrm>
            <a:off x="841248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16E"/>
                </a:solidFill>
              </a:rPr>
              <a:t>New subscribers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channel</a:t>
            </a:r>
          </a:p>
        </p:txBody>
      </p:sp>
      <p:graphicFrame>
        <p:nvGraphicFramePr>
          <p:cNvPr id="3" name="Channel Chart"/>
          <p:cNvGraphicFramePr>
            <a:graphicFrameLocks noGrp="1"/>
          </p:cNvGraphicFramePr>
          <p:nvPr/>
        </p:nvGraphicFramePr>
        <p:xfrm>
          <a:off x="731520" y="1554480"/>
          <a:ext cx="7132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akeaway Card"/>
          <p:cNvSpPr/>
          <p:nvPr/>
        </p:nvSpPr>
        <p:spPr>
          <a:xfrm>
            <a:off x="8229600" y="2011680"/>
            <a:ext cx="3291840" cy="292608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keaway"/>
          <p:cNvSpPr txBox="1"/>
          <p:nvPr/>
        </p:nvSpPr>
        <p:spPr>
          <a:xfrm>
            <a:off x="8503920" y="228600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A44"/>
                </a:solidFill>
              </a:rPr>
              <a:t>Online overtook retail for the first time in Q3.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fixed fulfilment</a:t>
            </a:r>
          </a:p>
        </p:txBody>
      </p:sp>
      <p:sp>
        <p:nvSpPr>
          <p:cNvPr id="3" name="Step 1"/>
          <p:cNvSpPr/>
          <p:nvPr/>
        </p:nvSpPr>
        <p:spPr>
          <a:xfrm>
            <a:off x="731520" y="2743200"/>
            <a:ext cx="2194560" cy="12801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Forecast</a:t>
            </a:r>
          </a:p>
        </p:txBody>
      </p:sp>
      <p:sp>
        <p:nvSpPr>
          <p:cNvPr id="4" name="Step 2"/>
          <p:cNvSpPr/>
          <p:nvPr/>
        </p:nvSpPr>
        <p:spPr>
          <a:xfrm>
            <a:off x="3657600" y="2743200"/>
            <a:ext cx="2194560" cy="12801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Roast</a:t>
            </a:r>
          </a:p>
        </p:txBody>
      </p:sp>
      <p:cxnSp>
        <p:nvCxnSpPr>
          <p:cNvPr id="5" name="Arrow 1"/>
          <p:cNvCxnSpPr/>
          <p:nvPr/>
        </p:nvCxnSpPr>
        <p:spPr>
          <a:xfrm>
            <a:off x="2926080" y="3383280"/>
            <a:ext cx="731520" cy="0"/>
          </a:xfrm>
          <a:prstGeom prst="line">
            <a:avLst/>
          </a:prstGeom>
          <a:ln w="25400">
            <a:solidFill>
              <a:srgbClr val="5B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tep 3"/>
          <p:cNvSpPr/>
          <p:nvPr/>
        </p:nvSpPr>
        <p:spPr>
          <a:xfrm>
            <a:off x="6583680" y="2743200"/>
            <a:ext cx="2194560" cy="12801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Pack</a:t>
            </a:r>
          </a:p>
        </p:txBody>
      </p:sp>
      <p:cxnSp>
        <p:nvCxnSpPr>
          <p:cNvPr id="7" name="Arrow 2"/>
          <p:cNvCxnSpPr/>
          <p:nvPr/>
        </p:nvCxnSpPr>
        <p:spPr>
          <a:xfrm>
            <a:off x="5852160" y="3383280"/>
            <a:ext cx="731520" cy="0"/>
          </a:xfrm>
          <a:prstGeom prst="line">
            <a:avLst/>
          </a:prstGeom>
          <a:ln w="25400">
            <a:solidFill>
              <a:srgbClr val="5B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ep 4"/>
          <p:cNvSpPr/>
          <p:nvPr/>
        </p:nvSpPr>
        <p:spPr>
          <a:xfrm>
            <a:off x="9509760" y="2743200"/>
            <a:ext cx="2194560" cy="1280160"/>
          </a:xfrm>
          <a:prstGeom prst="round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Ship</a:t>
            </a:r>
          </a:p>
        </p:txBody>
      </p:sp>
      <p:cxnSp>
        <p:nvCxnSpPr>
          <p:cNvPr id="9" name="Arrow 3"/>
          <p:cNvCxnSpPr/>
          <p:nvPr/>
        </p:nvCxnSpPr>
        <p:spPr>
          <a:xfrm>
            <a:off x="8778240" y="3383280"/>
            <a:ext cx="731520" cy="0"/>
          </a:xfrm>
          <a:prstGeom prst="line">
            <a:avLst/>
          </a:prstGeom>
          <a:ln w="25400">
            <a:solidFill>
              <a:srgbClr val="5B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sult"/>
          <p:cNvSpPr txBox="1"/>
          <p:nvPr/>
        </p:nvSpPr>
        <p:spPr>
          <a:xfrm>
            <a:off x="731520" y="45720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9D8A"/>
                </a:solidFill>
              </a:rPr>
              <a:t>Lead time fell from 9 days to 4 days.</a:t>
            </a:r>
          </a:p>
        </p:txBody>
      </p:sp>
      <p:grpSp>
        <p:nvGrpSpPr>
          <p:cNvPr id="11" name="Badge Group"/>
          <p:cNvGrpSpPr/>
          <p:nvPr/>
        </p:nvGrpSpPr>
        <p:grpSpPr>
          <a:xfrm>
            <a:off x="10607040" y="365760"/>
            <a:ext cx="914400" cy="914400"/>
            <a:chOff x="10607040" y="365760"/>
            <a:chExt cx="914400" cy="914400"/>
          </a:xfrm>
        </p:grpSpPr>
        <p:sp>
          <p:nvSpPr>
            <p:cNvPr id="12" name="Oval 11"/>
            <p:cNvSpPr/>
            <p:nvPr/>
          </p:nvSpPr>
          <p:spPr>
            <a:xfrm>
              <a:off x="10607040" y="365760"/>
              <a:ext cx="914400" cy="914400"/>
            </a:xfrm>
            <a:prstGeom prst="ellipse">
              <a:avLst/>
            </a:prstGeom>
            <a:solidFill>
              <a:srgbClr val="0F9D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698480" y="594360"/>
              <a:ext cx="73152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-55%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6400800" cy="4389120"/>
          </a:xfrm>
        </p:spPr>
        <p:txBody>
          <a:bodyPr/>
          <a:lstStyle/>
          <a:p>
            <a:r>
              <a:t>Delivery speed is the top compliment</a:t>
            </a:r>
          </a:p>
          <a:p>
            <a:r>
              <a:t>Packaging waste is the top complaint</a:t>
            </a:r>
          </a:p>
        </p:txBody>
      </p:sp>
      <p:pic>
        <p:nvPicPr>
          <p:cNvPr id="4" name="Feedback Pictur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737360"/>
            <a:ext cx="3840480" cy="2880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 for 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online subscriptions</a:t>
            </a:r>
          </a:p>
          <a:p>
            <a:r>
              <a:t>Cut packaging waste by 30%</a:t>
            </a:r>
          </a:p>
          <a:p>
            <a:r>
              <a:t>Open the second roastery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