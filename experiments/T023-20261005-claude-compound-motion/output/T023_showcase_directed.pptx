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cycle, then walk Plan, Do, Check and 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one order through each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Operating Model 2027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Northwind Roasters (synthetic data)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improvement cycle</a:t>
            </a:r>
          </a:p>
        </p:txBody>
      </p:sp>
      <p:sp>
        <p:nvSpPr>
          <p:cNvPr id="3" name="Hub"/>
          <p:cNvSpPr/>
          <p:nvPr/>
        </p:nvSpPr>
        <p:spPr>
          <a:xfrm>
            <a:off x="5184648" y="3063239"/>
            <a:ext cx="1828800" cy="182880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600" b="1">
                <a:solidFill>
                  <a:srgbClr val="FFFFFF"/>
                </a:solidFill>
              </a:rPr>
              <a:t>Customer value</a:t>
            </a:r>
          </a:p>
        </p:txBody>
      </p:sp>
      <p:sp>
        <p:nvSpPr>
          <p:cNvPr id="4" name="Stage Plan"/>
          <p:cNvSpPr/>
          <p:nvPr/>
        </p:nvSpPr>
        <p:spPr>
          <a:xfrm>
            <a:off x="5367528" y="1325879"/>
            <a:ext cx="1463040" cy="14630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700" b="1">
                <a:solidFill>
                  <a:srgbClr val="FFFFFF"/>
                </a:solidFill>
              </a:rPr>
              <a:t>Plan</a:t>
            </a:r>
          </a:p>
        </p:txBody>
      </p:sp>
      <p:sp>
        <p:nvSpPr>
          <p:cNvPr id="5" name="Stage Do"/>
          <p:cNvSpPr/>
          <p:nvPr/>
        </p:nvSpPr>
        <p:spPr>
          <a:xfrm>
            <a:off x="7287768" y="3246120"/>
            <a:ext cx="1463040" cy="14630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700" b="1">
                <a:solidFill>
                  <a:srgbClr val="FFFFFF"/>
                </a:solidFill>
              </a:rPr>
              <a:t>Do</a:t>
            </a:r>
          </a:p>
        </p:txBody>
      </p:sp>
      <p:sp>
        <p:nvSpPr>
          <p:cNvPr id="6" name="Stage Check"/>
          <p:cNvSpPr/>
          <p:nvPr/>
        </p:nvSpPr>
        <p:spPr>
          <a:xfrm>
            <a:off x="5367528" y="5166359"/>
            <a:ext cx="1463040" cy="14630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700" b="1">
                <a:solidFill>
                  <a:srgbClr val="FFFFFF"/>
                </a:solidFill>
              </a:rPr>
              <a:t>Check</a:t>
            </a:r>
          </a:p>
        </p:txBody>
      </p:sp>
      <p:sp>
        <p:nvSpPr>
          <p:cNvPr id="7" name="Stage Act"/>
          <p:cNvSpPr/>
          <p:nvPr/>
        </p:nvSpPr>
        <p:spPr>
          <a:xfrm>
            <a:off x="3447288" y="3246120"/>
            <a:ext cx="1463040" cy="14630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700" b="1">
                <a:solidFill>
                  <a:srgbClr val="FFFFFF"/>
                </a:solidFill>
              </a:rPr>
              <a:t>Act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0" presetClass="path" presetSubtype="0" de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28 L 0 0 E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0" presetClass="path" presetSubtype="0" decel="60000" fill="hold" grpId="1" nodeType="withEffect">
                                  <p:stCondLst>
                                    <p:cond delay="140"/>
                                  </p:stCondLst>
                                  <p:childTnLst>
                                    <p:animMotion origin="layout" path="M -0.157504 -0 L 0 0 E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0" presetClass="path" presetSubtype="0" decel="60000" fill="hold" grpId="1" nodeType="withEffect">
                                  <p:stCondLst>
                                    <p:cond delay="280"/>
                                  </p:stCondLst>
                                  <p:childTnLst>
                                    <p:animMotion origin="layout" path="M 0 -0.28 L 0 0 E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0" presetClass="path" presetSubtype="0" decel="60000" fill="hold" grpId="1" nodeType="withEffect">
                                  <p:stCondLst>
                                    <p:cond delay="420"/>
                                  </p:stCondLst>
                                  <p:childTnLst>
                                    <p:animMotion origin="layout" path="M 0.157504 -0 L 0 0 E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mp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36" dur="indefinite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39" dur="indefinite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42" dur="indefinite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47" dur="indefinite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" presetClass="emp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50" presetID="9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indefinite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52" dur="indefinite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mp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4" dur="500" fill="hold"/>
                                        <p:tgtEl>
                                          <p:spTgt spid="4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59" dur="indefinite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6" presetClass="emp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62" presetID="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64" dur="indefinite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6" presetClass="emp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6" dur="500" fill="hold"/>
                                        <p:tgtEl>
                                          <p:spTgt spid="5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indefinite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71" dur="indefinite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6" presetClass="emp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3" dur="500" fill="hold"/>
                                        <p:tgtEl>
                                          <p:spTgt spid="7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74" presetID="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76" dur="indefinite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6" presetClass="emp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8" dur="500" fill="hold"/>
                                        <p:tgtEl>
                                          <p:spTgt spid="6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mph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indefinite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83" dur="indefinite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mp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86" dur="indefinite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mp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89" dur="indefinite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6" presetClass="emp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1" dur="500" fill="hold"/>
                                        <p:tgtEl>
                                          <p:spTgt spid="7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4" grpId="1" animBg="1"/>
      <p:bldP spid="4" grpId="2" animBg="1"/>
      <p:bldP spid="4" grpId="3" animBg="1"/>
      <p:bldP spid="4" grpId="4" animBg="1"/>
      <p:bldP spid="4" grpId="5" animBg="1"/>
      <p:bldP spid="5" grpId="0" animBg="1"/>
      <p:bldP spid="5" grpId="1" animBg="1"/>
      <p:bldP spid="5" grpId="2" animBg="1"/>
      <p:bldP spid="5" grpId="3" animBg="1"/>
      <p:bldP spid="5" grpId="4" animBg="1"/>
      <p:bldP spid="5" grpId="5" animBg="1"/>
      <p:bldP spid="5" grpId="6" animBg="1"/>
      <p:bldP spid="5" grpId="7" animBg="1"/>
      <p:bldP spid="6" grpId="0" animBg="1"/>
      <p:bldP spid="6" grpId="1" animBg="1"/>
      <p:bldP spid="6" grpId="2" animBg="1"/>
      <p:bldP spid="6" grpId="3" animBg="1"/>
      <p:bldP spid="6" grpId="4" animBg="1"/>
      <p:bldP spid="6" grpId="5" animBg="1"/>
      <p:bldP spid="6" grpId="6" animBg="1"/>
      <p:bldP spid="6" grpId="7" animBg="1"/>
      <p:bldP spid="7" grpId="0" animBg="1"/>
      <p:bldP spid="7" grpId="1" animBg="1"/>
      <p:bldP spid="7" grpId="2" animBg="1"/>
      <p:bldP spid="7" grpId="3" animBg="1"/>
      <p:bldP spid="7" grpId="4" animBg="1"/>
      <p:bldP spid="7" grpId="5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Partner ecosystem</a:t>
            </a:r>
          </a:p>
        </p:txBody>
      </p:sp>
      <p:sp>
        <p:nvSpPr>
          <p:cNvPr id="3" name="Platform"/>
          <p:cNvSpPr/>
          <p:nvPr/>
        </p:nvSpPr>
        <p:spPr>
          <a:xfrm>
            <a:off x="4818888" y="3428999"/>
            <a:ext cx="2560320" cy="109728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Northwind platform</a:t>
            </a:r>
          </a:p>
        </p:txBody>
      </p:sp>
      <p:sp>
        <p:nvSpPr>
          <p:cNvPr id="4" name="Partner Growers"/>
          <p:cNvSpPr/>
          <p:nvPr/>
        </p:nvSpPr>
        <p:spPr>
          <a:xfrm>
            <a:off x="5458968" y="1463039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Growers</a:t>
            </a:r>
          </a:p>
        </p:txBody>
      </p:sp>
      <p:sp>
        <p:nvSpPr>
          <p:cNvPr id="5" name="Partner Importers"/>
          <p:cNvSpPr/>
          <p:nvPr/>
        </p:nvSpPr>
        <p:spPr>
          <a:xfrm>
            <a:off x="7517891" y="2468879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Importers</a:t>
            </a:r>
          </a:p>
        </p:txBody>
      </p:sp>
      <p:sp>
        <p:nvSpPr>
          <p:cNvPr id="6" name="Partner Cafés"/>
          <p:cNvSpPr/>
          <p:nvPr/>
        </p:nvSpPr>
        <p:spPr>
          <a:xfrm>
            <a:off x="7517891" y="4480559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Cafés</a:t>
            </a:r>
          </a:p>
        </p:txBody>
      </p:sp>
      <p:sp>
        <p:nvSpPr>
          <p:cNvPr id="7" name="Partner Grocers"/>
          <p:cNvSpPr/>
          <p:nvPr/>
        </p:nvSpPr>
        <p:spPr>
          <a:xfrm>
            <a:off x="5458968" y="5486400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Grocers</a:t>
            </a:r>
          </a:p>
        </p:txBody>
      </p:sp>
      <p:sp>
        <p:nvSpPr>
          <p:cNvPr id="8" name="Partner Couriers"/>
          <p:cNvSpPr/>
          <p:nvPr/>
        </p:nvSpPr>
        <p:spPr>
          <a:xfrm>
            <a:off x="3400044" y="4480560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Couriers</a:t>
            </a:r>
          </a:p>
        </p:txBody>
      </p:sp>
      <p:sp>
        <p:nvSpPr>
          <p:cNvPr id="9" name="Partner Recyclers"/>
          <p:cNvSpPr/>
          <p:nvPr/>
        </p:nvSpPr>
        <p:spPr>
          <a:xfrm>
            <a:off x="3400044" y="2468879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Recyclers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0" presetClass="path" presetSubtype="0" de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 0.293333 L 0 0 E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0" presetClass="path" presetSubtype="0" decel="60000" fill="hold" grpId="1" nodeType="withEffect">
                                  <p:stCondLst>
                                    <p:cond delay="140"/>
                                  </p:stCondLst>
                                  <p:childTnLst>
                                    <p:animMotion origin="layout" path="M -0.168879 0.146667 L 0 0 E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0" presetClass="path" presetSubtype="0" decel="60000" fill="hold" grpId="1" nodeType="withEffect">
                                  <p:stCondLst>
                                    <p:cond delay="280"/>
                                  </p:stCondLst>
                                  <p:childTnLst>
                                    <p:animMotion origin="layout" path="M -0.168879 -0.146667 L 0 0 E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0" presetClass="path" presetSubtype="0" decel="60000" fill="hold" grpId="1" nodeType="withEffect">
                                  <p:stCondLst>
                                    <p:cond delay="420"/>
                                  </p:stCondLst>
                                  <p:childTnLst>
                                    <p:animMotion origin="layout" path="M -0 -0.293333 L 0 0 E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0" presetClass="path" presetSubtype="0" decel="60000" fill="hold" grpId="1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168879 -0.146667 L 0 0 E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0" presetClass="path" presetSubtype="0" decel="6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.168879 0.146667 L 0 0 E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14 -0.006 -0.024 -0.016 -0.03 -0.03 E" pathEditMode="relative" rAng="0">
                                      <p:cBhvr>
                                        <p:cTn id="43" dur="9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6" presetClass="emp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5" dur="900" fill="hold"/>
                                        <p:tgtEl>
                                          <p:spTgt spid="6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4667 -0.011667 0.004667 -0.023333 0 -0.035 E" pathEditMode="relative" rAng="0">
                                      <p:cBhvr>
                                        <p:cTn id="47" dur="10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6" presetClass="emp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9" dur="1050" fill="hold"/>
                                        <p:tgtEl>
                                          <p:spTgt spid="7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6" grpId="2" animBg="1"/>
      <p:bldP spid="6" grpId="3" animBg="1"/>
      <p:bldP spid="7" grpId="0" animBg="1"/>
      <p:bldP spid="7" grpId="1" animBg="1"/>
      <p:bldP spid="7" grpId="2" animBg="1"/>
      <p:bldP spid="7" grpId="3" animBg="1"/>
      <p:bldP spid="8" grpId="0" animBg="1"/>
      <p:bldP spid="8" grpId="1" animBg="1"/>
      <p:bldP spid="9" grpId="0" animBg="1"/>
      <p:bldP spid="9" grpId="1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Priorities re-ranked for 2027</a:t>
            </a:r>
          </a:p>
        </p:txBody>
      </p:sp>
      <p:sp>
        <p:nvSpPr>
          <p:cNvPr id="3" name="Priority Cost"/>
          <p:cNvSpPr/>
          <p:nvPr/>
        </p:nvSpPr>
        <p:spPr>
          <a:xfrm>
            <a:off x="2926080" y="1828800"/>
            <a:ext cx="6309360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200" b="1">
                <a:solidFill>
                  <a:srgbClr val="FFFFFF"/>
                </a:solidFill>
              </a:rPr>
              <a:t>Cost</a:t>
            </a:r>
          </a:p>
        </p:txBody>
      </p:sp>
      <p:sp>
        <p:nvSpPr>
          <p:cNvPr id="4" name="Priority Speed"/>
          <p:cNvSpPr/>
          <p:nvPr/>
        </p:nvSpPr>
        <p:spPr>
          <a:xfrm>
            <a:off x="2926080" y="3200400"/>
            <a:ext cx="6309360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200" b="1">
                <a:solidFill>
                  <a:srgbClr val="FFFFFF"/>
                </a:solidFill>
              </a:rPr>
              <a:t>Speed</a:t>
            </a:r>
          </a:p>
        </p:txBody>
      </p:sp>
      <p:sp>
        <p:nvSpPr>
          <p:cNvPr id="5" name="Priority Sustainability"/>
          <p:cNvSpPr/>
          <p:nvPr/>
        </p:nvSpPr>
        <p:spPr>
          <a:xfrm>
            <a:off x="2926080" y="4572000"/>
            <a:ext cx="6309360" cy="1005840"/>
          </a:xfrm>
          <a:prstGeom prst="roundRect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200" b="1">
                <a:solidFill>
                  <a:srgbClr val="FFFFFF"/>
                </a:solidFill>
              </a:rPr>
              <a:t>Sustainability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8 -0.133333 -0.08 -0.266667 0 -0.4 E" pathEditMode="relative" rAng="0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8 0.133333 0.08 0.266667 0 0.4 E" pathEditMode="relative" rAng="0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5" grpId="0" animBg="1"/>
      <p:bldP spid="5" grpId="1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journey</a:t>
            </a:r>
          </a:p>
        </p:txBody>
      </p:sp>
      <p:sp>
        <p:nvSpPr>
          <p:cNvPr id="3" name="Step Order"/>
          <p:cNvSpPr/>
          <p:nvPr/>
        </p:nvSpPr>
        <p:spPr>
          <a:xfrm>
            <a:off x="914400" y="3108960"/>
            <a:ext cx="2194560" cy="11887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FFFFFF"/>
                </a:solidFill>
              </a:rPr>
              <a:t>Order</a:t>
            </a:r>
          </a:p>
        </p:txBody>
      </p:sp>
      <p:sp>
        <p:nvSpPr>
          <p:cNvPr id="4" name="Step Roast"/>
          <p:cNvSpPr/>
          <p:nvPr/>
        </p:nvSpPr>
        <p:spPr>
          <a:xfrm>
            <a:off x="3657600" y="3108960"/>
            <a:ext cx="2194560" cy="11887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FFFFFF"/>
                </a:solidFill>
              </a:rPr>
              <a:t>Roast</a:t>
            </a:r>
          </a:p>
        </p:txBody>
      </p:sp>
      <p:sp>
        <p:nvSpPr>
          <p:cNvPr id="5" name="Step Pack"/>
          <p:cNvSpPr/>
          <p:nvPr/>
        </p:nvSpPr>
        <p:spPr>
          <a:xfrm>
            <a:off x="6400800" y="3108960"/>
            <a:ext cx="2194560" cy="11887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FFFFFF"/>
                </a:solidFill>
              </a:rPr>
              <a:t>Pack</a:t>
            </a:r>
          </a:p>
        </p:txBody>
      </p:sp>
      <p:sp>
        <p:nvSpPr>
          <p:cNvPr id="6" name="Step Deliver"/>
          <p:cNvSpPr/>
          <p:nvPr/>
        </p:nvSpPr>
        <p:spPr>
          <a:xfrm>
            <a:off x="9144000" y="3108960"/>
            <a:ext cx="2194560" cy="11887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FFFFFF"/>
                </a:solidFill>
              </a:rPr>
              <a:t>Deliver</a:t>
            </a:r>
          </a:p>
        </p:txBody>
      </p:sp>
      <p:sp>
        <p:nvSpPr>
          <p:cNvPr id="7" name="Order token"/>
          <p:cNvSpPr/>
          <p:nvPr/>
        </p:nvSpPr>
        <p:spPr>
          <a:xfrm>
            <a:off x="320040" y="3429000"/>
            <a:ext cx="548640" cy="548640"/>
          </a:xfrm>
          <a:prstGeom prst="ellipse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0751 -0.067126 0.049502 -0.107126 0.116253 -0.12 E" pathEditMode="relative" rAng="0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6" presetClass="emph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31" dur="200" fill="hold" autoRev="1"/>
                                        <p:tgtEl>
                                          <p:spTgt spid="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6253 -0.12 C 0.191255 -0.172501 0.266257 -0.172501 0.341259 -0.12 E" pathEditMode="relative" rAng="0">
                                      <p:cBhvr>
                                        <p:cTn id="35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6" presetClass="emph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37" dur="200" fill="hold" autoRev="1"/>
                                        <p:tgtEl>
                                          <p:spTgt spid="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1259 -0.12 C 0.41626 -0.172501 0.491262 -0.172501 0.566264 -0.12 E" pathEditMode="relative" rAng="0">
                                      <p:cBhvr>
                                        <p:cTn id="41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6" presetClass="emph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43" dur="200" fill="hold" autoRev="1"/>
                                        <p:tgtEl>
                                          <p:spTgt spid="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0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66264 -0.12 C 0.641266 -0.172501 0.716268 -0.172501 0.79127 -0.12 E" pathEditMode="relative" rAng="0">
                                      <p:cBhvr>
                                        <p:cTn id="47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6" presetClass="emph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49" dur="200" fill="hold" autoRev="1"/>
                                        <p:tgtEl>
                                          <p:spTgt spid="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7" grpId="2" animBg="1"/>
      <p:bldP spid="7" grpId="3" animBg="1"/>
      <p:bldP spid="7" grpId="4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quadrants</a:t>
            </a:r>
          </a:p>
        </p:txBody>
      </p:sp>
      <p:sp>
        <p:nvSpPr>
          <p:cNvPr id="3" name="Quadrant Grow"/>
          <p:cNvSpPr/>
          <p:nvPr/>
        </p:nvSpPr>
        <p:spPr>
          <a:xfrm>
            <a:off x="2194560" y="1737360"/>
            <a:ext cx="3749039" cy="2103120"/>
          </a:xfrm>
          <a:prstGeom prst="round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Grow</a:t>
            </a:r>
          </a:p>
          <a:p>
            <a:r>
              <a:rPr sz="1800" b="1">
                <a:solidFill>
                  <a:srgbClr val="FFFFFF"/>
                </a:solidFill>
              </a:rPr>
              <a:t>Premium cafés</a:t>
            </a:r>
          </a:p>
        </p:txBody>
      </p:sp>
      <p:sp>
        <p:nvSpPr>
          <p:cNvPr id="4" name="Quadrant Defend"/>
          <p:cNvSpPr/>
          <p:nvPr/>
        </p:nvSpPr>
        <p:spPr>
          <a:xfrm>
            <a:off x="6217920" y="1737360"/>
            <a:ext cx="3749039" cy="21031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Defend</a:t>
            </a:r>
          </a:p>
          <a:p>
            <a:r>
              <a:rPr sz="1800" b="1">
                <a:solidFill>
                  <a:srgbClr val="FFFFFF"/>
                </a:solidFill>
              </a:rPr>
              <a:t>Grocery retail</a:t>
            </a:r>
          </a:p>
        </p:txBody>
      </p:sp>
      <p:sp>
        <p:nvSpPr>
          <p:cNvPr id="5" name="Quadrant Explore"/>
          <p:cNvSpPr/>
          <p:nvPr/>
        </p:nvSpPr>
        <p:spPr>
          <a:xfrm>
            <a:off x="2194560" y="4114800"/>
            <a:ext cx="3749039" cy="2103120"/>
          </a:xfrm>
          <a:prstGeom prst="roundRect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Explore</a:t>
            </a:r>
          </a:p>
          <a:p>
            <a:r>
              <a:rPr sz="1800" b="1">
                <a:solidFill>
                  <a:srgbClr val="FFFFFF"/>
                </a:solidFill>
              </a:rPr>
              <a:t>Subscriptions</a:t>
            </a:r>
          </a:p>
        </p:txBody>
      </p:sp>
      <p:sp>
        <p:nvSpPr>
          <p:cNvPr id="6" name="Quadrant Exit"/>
          <p:cNvSpPr/>
          <p:nvPr/>
        </p:nvSpPr>
        <p:spPr>
          <a:xfrm>
            <a:off x="6217920" y="4114800"/>
            <a:ext cx="3749039" cy="21031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Exit</a:t>
            </a:r>
          </a:p>
          <a:p>
            <a:r>
              <a:rPr sz="1800" b="1">
                <a:solidFill>
                  <a:srgbClr val="FFFFFF"/>
                </a:solidFill>
              </a:rPr>
              <a:t>Wholesale bulk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de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5004 0.173333 L 0 0 E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0" presetClass="path" presetSubtype="0" decel="60000" fill="hold" grpId="1" nodeType="withEffect">
                                  <p:stCondLst>
                                    <p:cond delay="140"/>
                                  </p:stCondLst>
                                  <p:childTnLst>
                                    <p:animMotion origin="layout" path="M -0.165004 -0.173333 L 0 0 E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0" presetClass="path" presetSubtype="0" decel="60000" fill="hold" grpId="1" nodeType="withEffect">
                                  <p:stCondLst>
                                    <p:cond delay="280"/>
                                  </p:stCondLst>
                                  <p:childTnLst>
                                    <p:animMotion origin="layout" path="M 0.165004 -0.173333 L 0 0 E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0" presetClass="path" presetSubtype="0" decel="60000" fill="hold" grpId="1" nodeType="withEffect">
                                  <p:stCondLst>
                                    <p:cond delay="420"/>
                                  </p:stCondLst>
                                  <p:childTnLst>
                                    <p:animMotion origin="layout" path="M 0.165004 0.173333 L 0 0 E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6242 0.193333 E" pathEditMode="relative" rAng="0" ptsTypes="AA">
                                      <p:cBhvr>
                                        <p:cTn id="28" dur="9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6" presetClass="emp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900" fill="hold"/>
                                        <p:tgtEl>
                                          <p:spTgt spid="3"/>
                                        </p:tgtEl>
                                      </p:cBhvr>
                                      <p:by x="195117" y="195117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0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6242 0.193333 L 0 0 E" pathEditMode="relative" rAng="0" ptsTypes="AA">
                                      <p:cBhvr>
                                        <p:cTn id="43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6" presetClass="emp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5" dur="800" fill="hold"/>
                                        <p:tgtEl>
                                          <p:spTgt spid="3"/>
                                        </p:tgtEl>
                                      </p:cBhvr>
                                      <p:by x="51251" y="51251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  <p:bldP spid="3" grpId="3" animBg="1"/>
      <p:bldP spid="3" grpId="4" animBg="1"/>
      <p:bldP spid="3" grpId="5" animBg="1"/>
      <p:bldP spid="4" grpId="0" animBg="1"/>
      <p:bldP spid="4" grpId="1" animBg="1"/>
      <p:bldP spid="4" grpId="2" animBg="1"/>
      <p:bldP spid="4" grpId="3" animBg="1"/>
      <p:bldP spid="5" grpId="0" animBg="1"/>
      <p:bldP spid="5" grpId="1" animBg="1"/>
      <p:bldP spid="5" grpId="2" animBg="1"/>
      <p:bldP spid="5" grpId="3" animBg="1"/>
      <p:bldP spid="6" grpId="0" animBg="1"/>
      <p:bldP spid="6" grpId="1" animBg="1"/>
      <p:bldP spid="6" grpId="2" animBg="1"/>
      <p:bldP spid="6" grpId="3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roastery</a:t>
            </a:r>
          </a:p>
        </p:txBody>
      </p:sp>
      <p:pic>
        <p:nvPicPr>
          <p:cNvPr id="3" name="Roastery phot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4008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roastery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7315200" cy="4389120"/>
          </a:xfrm>
        </p:spPr>
        <p:txBody>
          <a:bodyPr/>
          <a:lstStyle/>
          <a:p>
            <a:r>
              <a:t>Capacity 1,200 t per year</a:t>
            </a:r>
          </a:p>
          <a:p>
            <a:r>
              <a:t>Solar roof covers 40% of energy</a:t>
            </a:r>
          </a:p>
          <a:p>
            <a:r>
              <a:t>Second site opens in 2027</a:t>
            </a:r>
          </a:p>
        </p:txBody>
      </p:sp>
      <p:pic>
        <p:nvPicPr>
          <p:cNvPr id="4" name="Roastery phot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645920"/>
            <a:ext cx="3108960" cy="2331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3" grpId="2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