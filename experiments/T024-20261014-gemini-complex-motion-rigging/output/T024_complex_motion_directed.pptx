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Optical Mesh (TB/s)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9.2</c:v>
                </c:pt>
                <c:pt idx="1">
                  <c:v>11.4</c:v>
                </c:pt>
                <c:pt idx="2">
                  <c:v>13.1</c:v>
                </c:pt>
                <c:pt idx="3">
                  <c:v>14.4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Tail p99 (ms)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2.9</c:v>
                </c:pt>
                <c:pt idx="2">
                  <c:v>2.1</c:v>
                </c:pt>
                <c:pt idx="3">
                  <c:v>1.4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Auto-assemble the 6 multi-part NPU tiles on slide start, then orbit all 6 tiles 360 degrees while counter-spinning the wafer 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Assemble the 5 composite pods with 30ms follow-through inertia, rotate twice in 3D elliptical depth, spotlight Pod RiskSolver, then restore.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Explode the 5-layer silicon stack, stream 4 packets through Relays R1-R4 with color flashes, then route Audit Probe around Thermal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Assemble the 6 regional clusters, swap US-East and EU-Central on curved arcs, then Morph all 18 !! objects into Slide 5's swimlane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Morph 18 cluster shapes into swimlanes, build the chart while rippling the swimlane bars, count up the SLA metric, and wire two interactive trigger buttons.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Kicker Pill"/>
          <p:cNvSpPr/>
          <p:nvPr/>
        </p:nvSpPr>
        <p:spPr>
          <a:xfrm>
            <a:off x="640080" y="594360"/>
            <a:ext cx="3474720" cy="329184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6B6D4"/>
                </a:solidFill>
                <a:latin typeface="DejaVu Sans"/>
              </a:rPr>
              <a:t>AUTONOMOUS SILICON &amp; FABRIC · 2027</a:t>
            </a:r>
          </a:p>
        </p:txBody>
      </p:sp>
      <p:sp>
        <p:nvSpPr>
          <p:cNvPr id="3" name="Cover Main Title"/>
          <p:cNvSpPr txBox="1"/>
          <p:nvPr/>
        </p:nvSpPr>
        <p:spPr>
          <a:xfrm>
            <a:off x="640080" y="1078992"/>
            <a:ext cx="5669280" cy="10515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DejaVu Sans"/>
              </a:rPr>
              <a:t>Optical Tensor Architecture</a:t>
            </a:r>
          </a:p>
          <a:p>
            <a:pPr algn="l"/>
            <a:r>
              <a:rPr sz="3000" b="1">
                <a:solidFill>
                  <a:srgbClr val="F8FAFC"/>
                </a:solidFill>
                <a:latin typeface="DejaVu Sans"/>
              </a:rPr>
              <a:t>&amp; Self-Healing Mesh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640080" y="2304288"/>
            <a:ext cx="548640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Multi-layer compound choreography: transitive virtual rigging,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3D perspective orbits, exploded strata, and interactive OOXML.</a:t>
            </a:r>
          </a:p>
        </p:txBody>
      </p:sp>
      <p:sp>
        <p:nvSpPr>
          <p:cNvPr id="5" name="Card BW"/>
          <p:cNvSpPr/>
          <p:nvPr/>
        </p:nvSpPr>
        <p:spPr>
          <a:xfrm>
            <a:off x="640080" y="4160520"/>
            <a:ext cx="1810512" cy="1691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BW Bar"/>
          <p:cNvSpPr/>
          <p:nvPr/>
        </p:nvSpPr>
        <p:spPr>
          <a:xfrm>
            <a:off x="749808" y="4270248"/>
            <a:ext cx="1591056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BW Val"/>
          <p:cNvSpPr txBox="1"/>
          <p:nvPr/>
        </p:nvSpPr>
        <p:spPr>
          <a:xfrm>
            <a:off x="749808" y="450799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DejaVu Sans"/>
              </a:rPr>
              <a:t>14.4 TB/s</a:t>
            </a:r>
          </a:p>
        </p:txBody>
      </p:sp>
      <p:sp>
        <p:nvSpPr>
          <p:cNvPr id="8" name="Card BW Sub"/>
          <p:cNvSpPr txBox="1"/>
          <p:nvPr/>
        </p:nvSpPr>
        <p:spPr>
          <a:xfrm>
            <a:off x="749808" y="514807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Co-Packaged Optical Ring</a:t>
            </a:r>
          </a:p>
        </p:txBody>
      </p:sp>
      <p:sp>
        <p:nvSpPr>
          <p:cNvPr id="9" name="Card E"/>
          <p:cNvSpPr/>
          <p:nvPr/>
        </p:nvSpPr>
        <p:spPr>
          <a:xfrm>
            <a:off x="2606039" y="4160520"/>
            <a:ext cx="1810512" cy="1691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E Bar"/>
          <p:cNvSpPr/>
          <p:nvPr/>
        </p:nvSpPr>
        <p:spPr>
          <a:xfrm>
            <a:off x="2715768" y="4270248"/>
            <a:ext cx="1591056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E Val"/>
          <p:cNvSpPr txBox="1"/>
          <p:nvPr/>
        </p:nvSpPr>
        <p:spPr>
          <a:xfrm>
            <a:off x="2715768" y="450799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DejaVu Sans"/>
              </a:rPr>
              <a:t>1.8 pJ/bit</a:t>
            </a:r>
          </a:p>
        </p:txBody>
      </p:sp>
      <p:sp>
        <p:nvSpPr>
          <p:cNvPr id="12" name="Card E Sub"/>
          <p:cNvSpPr txBox="1"/>
          <p:nvPr/>
        </p:nvSpPr>
        <p:spPr>
          <a:xfrm>
            <a:off x="2715768" y="514807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Photonic Waveguide Bus</a:t>
            </a:r>
          </a:p>
        </p:txBody>
      </p:sp>
      <p:sp>
        <p:nvSpPr>
          <p:cNvPr id="13" name="Card SLA"/>
          <p:cNvSpPr/>
          <p:nvPr/>
        </p:nvSpPr>
        <p:spPr>
          <a:xfrm>
            <a:off x="4572000" y="4160520"/>
            <a:ext cx="1810512" cy="1691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SLA Bar"/>
          <p:cNvSpPr/>
          <p:nvPr/>
        </p:nvSpPr>
        <p:spPr>
          <a:xfrm>
            <a:off x="4681728" y="4270248"/>
            <a:ext cx="1591056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SLA Val"/>
          <p:cNvSpPr txBox="1"/>
          <p:nvPr/>
        </p:nvSpPr>
        <p:spPr>
          <a:xfrm>
            <a:off x="4681728" y="450799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DejaVu Sans"/>
              </a:rPr>
              <a:t>99.995%</a:t>
            </a:r>
          </a:p>
        </p:txBody>
      </p:sp>
      <p:sp>
        <p:nvSpPr>
          <p:cNvPr id="16" name="Card SLA Sub"/>
          <p:cNvSpPr txBox="1"/>
          <p:nvPr/>
        </p:nvSpPr>
        <p:spPr>
          <a:xfrm>
            <a:off x="4681728" y="514807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Zero-Drop Failover Mesh</a:t>
            </a:r>
          </a:p>
        </p:txBody>
      </p:sp>
      <p:sp>
        <p:nvSpPr>
          <p:cNvPr id="17" name="Wafer Outer Ring"/>
          <p:cNvSpPr/>
          <p:nvPr/>
        </p:nvSpPr>
        <p:spPr>
          <a:xfrm>
            <a:off x="6675120" y="1097280"/>
            <a:ext cx="4663440" cy="4663440"/>
          </a:xfrm>
          <a:prstGeom prst="donu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Wafer Core Die"/>
          <p:cNvSpPr/>
          <p:nvPr/>
        </p:nvSpPr>
        <p:spPr>
          <a:xfrm>
            <a:off x="8138160" y="2560320"/>
            <a:ext cx="1737360" cy="1737360"/>
          </a:xfrm>
          <a:prstGeom prst="hexagon">
            <a:avLst/>
          </a:prstGeom>
          <a:solidFill>
            <a:srgbClr val="2563E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Wafer Core Title"/>
          <p:cNvSpPr txBox="1"/>
          <p:nvPr/>
        </p:nvSpPr>
        <p:spPr>
          <a:xfrm>
            <a:off x="8321040" y="3081528"/>
            <a:ext cx="137160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DejaVu Sans"/>
              </a:rPr>
              <a:t>NPU-X9</a:t>
            </a:r>
          </a:p>
        </p:txBody>
      </p:sp>
      <p:sp>
        <p:nvSpPr>
          <p:cNvPr id="20" name="Wafer Core Sub"/>
          <p:cNvSpPr txBox="1"/>
          <p:nvPr/>
        </p:nvSpPr>
        <p:spPr>
          <a:xfrm>
            <a:off x="8321040" y="3474720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DejaVu Sans"/>
              </a:rPr>
              <a:t>4.8 PFLOPS</a:t>
            </a:r>
          </a:p>
        </p:txBody>
      </p:sp>
      <p:sp>
        <p:nvSpPr>
          <p:cNvPr id="21" name="Core Tile C1"/>
          <p:cNvSpPr/>
          <p:nvPr/>
        </p:nvSpPr>
        <p:spPr>
          <a:xfrm>
            <a:off x="8348471" y="1033271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re Gem C1"/>
          <p:cNvSpPr/>
          <p:nvPr/>
        </p:nvSpPr>
        <p:spPr>
          <a:xfrm>
            <a:off x="8476488" y="1179576"/>
            <a:ext cx="310896" cy="310896"/>
          </a:xfrm>
          <a:prstGeom prst="diamon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C1</a:t>
            </a:r>
          </a:p>
        </p:txBody>
      </p:sp>
      <p:sp>
        <p:nvSpPr>
          <p:cNvPr id="23" name="Core Name C1"/>
          <p:cNvSpPr txBox="1"/>
          <p:nvPr/>
        </p:nvSpPr>
        <p:spPr>
          <a:xfrm>
            <a:off x="8842248" y="116128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C1</a:t>
            </a:r>
          </a:p>
        </p:txBody>
      </p:sp>
      <p:sp>
        <p:nvSpPr>
          <p:cNvPr id="24" name="Core Spec C1"/>
          <p:cNvSpPr txBox="1"/>
          <p:nvPr/>
        </p:nvSpPr>
        <p:spPr>
          <a:xfrm>
            <a:off x="8476488" y="1563624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640 TFLOPS</a:t>
            </a:r>
          </a:p>
        </p:txBody>
      </p:sp>
      <p:sp>
        <p:nvSpPr>
          <p:cNvPr id="25" name="Core Tile C2"/>
          <p:cNvSpPr/>
          <p:nvPr/>
        </p:nvSpPr>
        <p:spPr>
          <a:xfrm>
            <a:off x="10011448" y="1993392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re Gem C2"/>
          <p:cNvSpPr/>
          <p:nvPr/>
        </p:nvSpPr>
        <p:spPr>
          <a:xfrm>
            <a:off x="10139464" y="2139696"/>
            <a:ext cx="310896" cy="310896"/>
          </a:xfrm>
          <a:prstGeom prst="diamond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C2</a:t>
            </a:r>
          </a:p>
        </p:txBody>
      </p:sp>
      <p:sp>
        <p:nvSpPr>
          <p:cNvPr id="27" name="Core Name C2"/>
          <p:cNvSpPr txBox="1"/>
          <p:nvPr/>
        </p:nvSpPr>
        <p:spPr>
          <a:xfrm>
            <a:off x="10505224" y="212140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C2</a:t>
            </a:r>
          </a:p>
        </p:txBody>
      </p:sp>
      <p:sp>
        <p:nvSpPr>
          <p:cNvPr id="28" name="Core Spec C2"/>
          <p:cNvSpPr txBox="1"/>
          <p:nvPr/>
        </p:nvSpPr>
        <p:spPr>
          <a:xfrm>
            <a:off x="10139464" y="2523744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HBM3e Ctrl</a:t>
            </a:r>
          </a:p>
        </p:txBody>
      </p:sp>
      <p:sp>
        <p:nvSpPr>
          <p:cNvPr id="29" name="Core Tile C3"/>
          <p:cNvSpPr/>
          <p:nvPr/>
        </p:nvSpPr>
        <p:spPr>
          <a:xfrm>
            <a:off x="10011448" y="3913631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re Gem C3"/>
          <p:cNvSpPr/>
          <p:nvPr/>
        </p:nvSpPr>
        <p:spPr>
          <a:xfrm>
            <a:off x="10139464" y="4059935"/>
            <a:ext cx="310896" cy="310896"/>
          </a:xfrm>
          <a:prstGeom prst="diamond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C3</a:t>
            </a:r>
          </a:p>
        </p:txBody>
      </p:sp>
      <p:sp>
        <p:nvSpPr>
          <p:cNvPr id="31" name="Core Name C3"/>
          <p:cNvSpPr txBox="1"/>
          <p:nvPr/>
        </p:nvSpPr>
        <p:spPr>
          <a:xfrm>
            <a:off x="10505224" y="404164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C3</a:t>
            </a:r>
          </a:p>
        </p:txBody>
      </p:sp>
      <p:sp>
        <p:nvSpPr>
          <p:cNvPr id="32" name="Core Spec C3"/>
          <p:cNvSpPr txBox="1"/>
          <p:nvPr/>
        </p:nvSpPr>
        <p:spPr>
          <a:xfrm>
            <a:off x="10139464" y="4443983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KV Router</a:t>
            </a:r>
          </a:p>
        </p:txBody>
      </p:sp>
      <p:sp>
        <p:nvSpPr>
          <p:cNvPr id="33" name="Core Tile C4"/>
          <p:cNvSpPr/>
          <p:nvPr/>
        </p:nvSpPr>
        <p:spPr>
          <a:xfrm>
            <a:off x="8348471" y="4873752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re Gem C4"/>
          <p:cNvSpPr/>
          <p:nvPr/>
        </p:nvSpPr>
        <p:spPr>
          <a:xfrm>
            <a:off x="8476488" y="5020055"/>
            <a:ext cx="310896" cy="310896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C4</a:t>
            </a:r>
          </a:p>
        </p:txBody>
      </p:sp>
      <p:sp>
        <p:nvSpPr>
          <p:cNvPr id="35" name="Core Name C4"/>
          <p:cNvSpPr txBox="1"/>
          <p:nvPr/>
        </p:nvSpPr>
        <p:spPr>
          <a:xfrm>
            <a:off x="8842248" y="500176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C4</a:t>
            </a:r>
          </a:p>
        </p:txBody>
      </p:sp>
      <p:sp>
        <p:nvSpPr>
          <p:cNvPr id="36" name="Core Spec C4"/>
          <p:cNvSpPr txBox="1"/>
          <p:nvPr/>
        </p:nvSpPr>
        <p:spPr>
          <a:xfrm>
            <a:off x="8476488" y="5404103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Optical TX</a:t>
            </a:r>
          </a:p>
        </p:txBody>
      </p:sp>
      <p:sp>
        <p:nvSpPr>
          <p:cNvPr id="37" name="Core Tile C5"/>
          <p:cNvSpPr/>
          <p:nvPr/>
        </p:nvSpPr>
        <p:spPr>
          <a:xfrm>
            <a:off x="6685495" y="3913632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re Gem C5"/>
          <p:cNvSpPr/>
          <p:nvPr/>
        </p:nvSpPr>
        <p:spPr>
          <a:xfrm>
            <a:off x="6813511" y="4059936"/>
            <a:ext cx="310896" cy="310896"/>
          </a:xfrm>
          <a:prstGeom prst="diamon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C5</a:t>
            </a:r>
          </a:p>
        </p:txBody>
      </p:sp>
      <p:sp>
        <p:nvSpPr>
          <p:cNvPr id="39" name="Core Name C5"/>
          <p:cNvSpPr txBox="1"/>
          <p:nvPr/>
        </p:nvSpPr>
        <p:spPr>
          <a:xfrm>
            <a:off x="7179271" y="404164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C5</a:t>
            </a:r>
          </a:p>
        </p:txBody>
      </p:sp>
      <p:sp>
        <p:nvSpPr>
          <p:cNvPr id="40" name="Core Spec C5"/>
          <p:cNvSpPr txBox="1"/>
          <p:nvPr/>
        </p:nvSpPr>
        <p:spPr>
          <a:xfrm>
            <a:off x="6813511" y="4443984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RDMA DMA</a:t>
            </a:r>
          </a:p>
        </p:txBody>
      </p:sp>
      <p:sp>
        <p:nvSpPr>
          <p:cNvPr id="41" name="Core Tile C6"/>
          <p:cNvSpPr/>
          <p:nvPr/>
        </p:nvSpPr>
        <p:spPr>
          <a:xfrm>
            <a:off x="6685495" y="1993391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re Gem C6"/>
          <p:cNvSpPr/>
          <p:nvPr/>
        </p:nvSpPr>
        <p:spPr>
          <a:xfrm>
            <a:off x="6813511" y="2139696"/>
            <a:ext cx="310896" cy="310896"/>
          </a:xfrm>
          <a:prstGeom prst="diamond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C6</a:t>
            </a:r>
          </a:p>
        </p:txBody>
      </p:sp>
      <p:sp>
        <p:nvSpPr>
          <p:cNvPr id="43" name="Core Name C6"/>
          <p:cNvSpPr txBox="1"/>
          <p:nvPr/>
        </p:nvSpPr>
        <p:spPr>
          <a:xfrm>
            <a:off x="7179271" y="212140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C6</a:t>
            </a:r>
          </a:p>
        </p:txBody>
      </p:sp>
      <p:sp>
        <p:nvSpPr>
          <p:cNvPr id="44" name="Core Spec C6"/>
          <p:cNvSpPr txBox="1"/>
          <p:nvPr/>
        </p:nvSpPr>
        <p:spPr>
          <a:xfrm>
            <a:off x="6813511" y="2523744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Guardrail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0="http://schemas.microsoft.com/office/powerpoint/2010/main" id="28" presetID="0" presetClass="path" presetSubtype="0" decel="60000" fill="hold" grpId="1" nodeType="withEffect" ns0:bounceEnd="3500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28 L 0 0 E" pathEditMode="relative" rAng="0" ptsTypes="AA">
                                      <p:cBhvr>
                                        <p:cTn id="2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="http://schemas.microsoft.com/office/powerpoint/2010/main" id="33" presetID="0" presetClass="path" presetSubtype="0" decel="60000" fill="hold" grpId="1" nodeType="withEffect" ns1:bounceEnd="35000">
                                  <p:stCondLst>
                                    <p:cond delay="35"/>
                                  </p:stCondLst>
                                  <p:childTnLst>
                                    <p:animMotion origin="layout" path="M 0 0.28 L 0 0 E" pathEditMode="relative" rAng="0" ptsTypes="AA">
                                      <p:cBhvr>
                                        <p:cTn id="34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="http://schemas.microsoft.com/office/powerpoint/2010/main" id="38" presetID="0" presetClass="path" presetSubtype="0" decel="60000" fill="hold" grpId="1" nodeType="withEffect" ns2:bounceEnd="35000">
                                  <p:stCondLst>
                                    <p:cond delay="70"/>
                                  </p:stCondLst>
                                  <p:childTnLst>
                                    <p:animMotion origin="layout" path="M 0 0.28 L 0 0 E" pathEditMode="relative" rAng="0" ptsTypes="AA">
                                      <p:cBhvr>
                                        <p:cTn id="3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3="http://schemas.microsoft.com/office/powerpoint/2010/main" id="43" presetID="0" presetClass="path" presetSubtype="0" decel="60000" fill="hold" grpId="1" nodeType="withEffect" ns3:bounceEnd="35000">
                                  <p:stCondLst>
                                    <p:cond delay="90"/>
                                  </p:stCondLst>
                                  <p:childTnLst>
                                    <p:animMotion origin="layout" path="M -0.136402 0.14 L 0 0 E" pathEditMode="relative" rAng="0" ptsTypes="AA">
                                      <p:cBhvr>
                                        <p:cTn id="44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4="http://schemas.microsoft.com/office/powerpoint/2010/main" id="48" presetID="0" presetClass="path" presetSubtype="0" decel="60000" fill="hold" grpId="1" nodeType="withEffect" ns4:bounceEnd="35000">
                                  <p:stCondLst>
                                    <p:cond delay="105"/>
                                  </p:stCondLst>
                                  <p:childTnLst>
                                    <p:animMotion origin="layout" path="M 0 0.28 L 0 0 E" pathEditMode="relative" rAng="0" ptsTypes="AA">
                                      <p:cBhvr>
                                        <p:cTn id="4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2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5="http://schemas.microsoft.com/office/powerpoint/2010/main" id="53" presetID="0" presetClass="path" presetSubtype="0" decel="60000" fill="hold" grpId="1" nodeType="withEffect" ns5:bounceEnd="35000">
                                  <p:stCondLst>
                                    <p:cond delay="125"/>
                                  </p:stCondLst>
                                  <p:childTnLst>
                                    <p:animMotion origin="layout" path="M -0.136402 0.14 L 0 0 E" pathEditMode="relative" rAng="0" ptsTypes="AA">
                                      <p:cBhvr>
                                        <p:cTn id="5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6="http://schemas.microsoft.com/office/powerpoint/2010/main" id="58" presetID="0" presetClass="path" presetSubtype="0" decel="60000" fill="hold" grpId="1" nodeType="withEffect" ns6:bounceEnd="35000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-0.136402 0.14 L 0 0 E" pathEditMode="relative" rAng="0" ptsTypes="AA">
                                      <p:cBhvr>
                                        <p:cTn id="59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7="http://schemas.microsoft.com/office/powerpoint/2010/main" id="63" presetID="0" presetClass="path" presetSubtype="0" decel="60000" fill="hold" grpId="1" nodeType="withEffect" ns7:bounceEnd="35000">
                                  <p:stCondLst>
                                    <p:cond delay="180"/>
                                  </p:stCondLst>
                                  <p:childTnLst>
                                    <p:animMotion origin="layout" path="M -0.136402 -0.14 L 0 0 E" pathEditMode="relative" rAng="0" ptsTypes="AA">
                                      <p:cBhvr>
                                        <p:cTn id="64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8="http://schemas.microsoft.com/office/powerpoint/2010/main" id="68" presetID="0" presetClass="path" presetSubtype="0" decel="60000" fill="hold" grpId="1" nodeType="withEffect" ns8:bounceEnd="35000">
                                  <p:stCondLst>
                                    <p:cond delay="195"/>
                                  </p:stCondLst>
                                  <p:childTnLst>
                                    <p:animMotion origin="layout" path="M -0.136402 0.14 L 0 0 E" pathEditMode="relative" rAng="0" ptsTypes="AA">
                                      <p:cBhvr>
                                        <p:cTn id="6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1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9="http://schemas.microsoft.com/office/powerpoint/2010/main" id="73" presetID="0" presetClass="path" presetSubtype="0" decel="60000" fill="hold" grpId="1" nodeType="withEffect" ns9:bounceEnd="35000">
                                  <p:stCondLst>
                                    <p:cond delay="215"/>
                                  </p:stCondLst>
                                  <p:childTnLst>
                                    <p:animMotion origin="layout" path="M -0.136402 -0.14 L 0 0 E" pathEditMode="relative" rAng="0" ptsTypes="AA">
                                      <p:cBhvr>
                                        <p:cTn id="74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0="http://schemas.microsoft.com/office/powerpoint/2010/main" id="78" presetID="0" presetClass="path" presetSubtype="0" decel="60000" fill="hold" grpId="1" nodeType="withEffect" ns10:bounceEnd="35000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136402 -0.14 L 0 0 E" pathEditMode="relative" rAng="0" ptsTypes="AA">
                                      <p:cBhvr>
                                        <p:cTn id="7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1="http://schemas.microsoft.com/office/powerpoint/2010/main" id="83" presetID="0" presetClass="path" presetSubtype="0" decel="60000" fill="hold" grpId="1" nodeType="withEffect" ns11:bounceEnd="35000">
                                  <p:stCondLst>
                                    <p:cond delay="270"/>
                                  </p:stCondLst>
                                  <p:childTnLst>
                                    <p:animMotion origin="layout" path="M 0 -0.28 L 0 0 E" pathEditMode="relative" rAng="0" ptsTypes="AA">
                                      <p:cBhvr>
                                        <p:cTn id="84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2="http://schemas.microsoft.com/office/powerpoint/2010/main" id="88" presetID="0" presetClass="path" presetSubtype="0" decel="60000" fill="hold" grpId="1" nodeType="withEffect" ns12:bounceEnd="35000">
                                  <p:stCondLst>
                                    <p:cond delay="285"/>
                                  </p:stCondLst>
                                  <p:childTnLst>
                                    <p:animMotion origin="layout" path="M -0.136402 -0.14 L 0 0 E" pathEditMode="relative" rAng="0" ptsTypes="AA">
                                      <p:cBhvr>
                                        <p:cTn id="8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305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3="http://schemas.microsoft.com/office/powerpoint/2010/main" id="93" presetID="0" presetClass="path" presetSubtype="0" decel="60000" fill="hold" grpId="1" nodeType="withEffect" ns13:bounceEnd="35000">
                                  <p:stCondLst>
                                    <p:cond delay="305"/>
                                  </p:stCondLst>
                                  <p:childTnLst>
                                    <p:animMotion origin="layout" path="M 0 -0.28 L 0 0 E" pathEditMode="relative" rAng="0" ptsTypes="AA">
                                      <p:cBhvr>
                                        <p:cTn id="94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4="http://schemas.microsoft.com/office/powerpoint/2010/main" id="98" presetID="0" presetClass="path" presetSubtype="0" decel="60000" fill="hold" grpId="1" nodeType="withEffect" ns14:bounceEnd="35000">
                                  <p:stCondLst>
                                    <p:cond delay="340"/>
                                  </p:stCondLst>
                                  <p:childTnLst>
                                    <p:animMotion origin="layout" path="M 0 -0.28 L 0 0 E" pathEditMode="relative" rAng="0" ptsTypes="AA">
                                      <p:cBhvr>
                                        <p:cTn id="99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5="http://schemas.microsoft.com/office/powerpoint/2010/main" id="103" presetID="0" presetClass="path" presetSubtype="0" decel="60000" fill="hold" grpId="1" nodeType="withEffect" ns15:bounceEnd="35000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136402 -0.14 L 0 0 E" pathEditMode="relative" rAng="0" ptsTypes="AA">
                                      <p:cBhvr>
                                        <p:cTn id="104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6="http://schemas.microsoft.com/office/powerpoint/2010/main" id="108" presetID="0" presetClass="path" presetSubtype="0" decel="60000" fill="hold" grpId="1" nodeType="withEffect" ns16:bounceEnd="35000">
                                  <p:stCondLst>
                                    <p:cond delay="375"/>
                                  </p:stCondLst>
                                  <p:childTnLst>
                                    <p:animMotion origin="layout" path="M 0 -0.28 L 0 0 E" pathEditMode="relative" rAng="0" ptsTypes="AA">
                                      <p:cBhvr>
                                        <p:cTn id="109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9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7="http://schemas.microsoft.com/office/powerpoint/2010/main" id="113" presetID="0" presetClass="path" presetSubtype="0" decel="60000" fill="hold" grpId="1" nodeType="withEffect" ns17:bounceEnd="35000">
                                  <p:stCondLst>
                                    <p:cond delay="395"/>
                                  </p:stCondLst>
                                  <p:childTnLst>
                                    <p:animMotion origin="layout" path="M 0.136402 -0.14 L 0 0 E" pathEditMode="relative" rAng="0" ptsTypes="AA">
                                      <p:cBhvr>
                                        <p:cTn id="114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8="http://schemas.microsoft.com/office/powerpoint/2010/main" id="118" presetID="0" presetClass="path" presetSubtype="0" decel="60000" fill="hold" grpId="1" nodeType="withEffect" ns18:bounceEnd="35000">
                                  <p:stCondLst>
                                    <p:cond delay="430"/>
                                  </p:stCondLst>
                                  <p:childTnLst>
                                    <p:animMotion origin="layout" path="M 0.136402 -0.14 L 0 0 E" pathEditMode="relative" rAng="0" ptsTypes="AA">
                                      <p:cBhvr>
                                        <p:cTn id="119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9="http://schemas.microsoft.com/office/powerpoint/2010/main" id="123" presetID="0" presetClass="path" presetSubtype="0" decel="60000" fill="hold" grpId="1" nodeType="withEffect" ns19:bounceEnd="35000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.136402 0.14 L 0 0 E" pathEditMode="relative" rAng="0" ptsTypes="AA">
                                      <p:cBhvr>
                                        <p:cTn id="124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46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0="http://schemas.microsoft.com/office/powerpoint/2010/main" id="128" presetID="0" presetClass="path" presetSubtype="0" decel="60000" fill="hold" grpId="1" nodeType="withEffect" ns20:bounceEnd="35000">
                                  <p:stCondLst>
                                    <p:cond delay="465"/>
                                  </p:stCondLst>
                                  <p:childTnLst>
                                    <p:animMotion origin="layout" path="M 0.136402 -0.14 L 0 0 E" pathEditMode="relative" rAng="0" ptsTypes="AA">
                                      <p:cBhvr>
                                        <p:cTn id="129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1="http://schemas.microsoft.com/office/powerpoint/2010/main" id="133" presetID="0" presetClass="path" presetSubtype="0" decel="60000" fill="hold" grpId="1" nodeType="withEffect" ns21:bounceEnd="35000">
                                  <p:stCondLst>
                                    <p:cond delay="485"/>
                                  </p:stCondLst>
                                  <p:childTnLst>
                                    <p:animMotion origin="layout" path="M 0.136402 0.14 L 0 0 E" pathEditMode="relative" rAng="0" ptsTypes="AA">
                                      <p:cBhvr>
                                        <p:cTn id="134" dur="6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2="http://schemas.microsoft.com/office/powerpoint/2010/main" id="138" presetID="0" presetClass="path" presetSubtype="0" decel="60000" fill="hold" grpId="1" nodeType="withEffect" ns22:bounceEnd="35000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136402 0.14 L 0 0 E" pathEditMode="relative" rAng="0" ptsTypes="AA">
                                      <p:cBhvr>
                                        <p:cTn id="139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5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3="http://schemas.microsoft.com/office/powerpoint/2010/main" id="143" presetID="0" presetClass="path" presetSubtype="0" decel="60000" fill="hold" grpId="1" nodeType="withEffect" ns23:bounceEnd="35000">
                                  <p:stCondLst>
                                    <p:cond delay="555"/>
                                  </p:stCondLst>
                                  <p:childTnLst>
                                    <p:animMotion origin="layout" path="M 0.136402 0.14 L 0 0 E" pathEditMode="relative" rAng="0" ptsTypes="AA">
                                      <p:cBhvr>
                                        <p:cTn id="144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205"/>
                            </p:stCondLst>
                            <p:childTnLst>
                              <p:par>
                                <p:cTn id="1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55"/>
                            </p:stCondLst>
                            <p:childTnLst>
                              <p:par>
                                <p:cTn id="1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905"/>
                            </p:stCondLst>
                            <p:childTnLst>
                              <p:par>
                                <p:cTn id="15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255"/>
                            </p:stCondLst>
                            <p:childTnLst>
                              <p:par>
                                <p:cTn id="1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605"/>
                            </p:stCondLst>
                            <p:childTnLst>
                              <p:par>
                                <p:cTn id="1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955"/>
                            </p:stCondLst>
                            <p:childTnLst>
                              <p:par>
                                <p:cTn id="17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305"/>
                            </p:stCondLst>
                            <p:childTnLst>
                              <p:par>
                                <p:cTn id="18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655"/>
                            </p:stCondLst>
                            <p:childTnLst>
                              <p:par>
                                <p:cTn id="18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4005"/>
                            </p:stCondLst>
                            <p:childTnLst>
                              <p:par>
                                <p:cTn id="19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4355"/>
                            </p:stCondLst>
                            <p:childTnLst>
                              <p:par>
                                <p:cTn id="20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4705"/>
                            </p:stCondLst>
                            <p:childTnLst>
                              <p:par>
                                <p:cTn id="20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55"/>
                            </p:stCondLst>
                            <p:childTnLst>
                              <p:par>
                                <p:cTn id="2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5464 -0 0.28 0.12536 0.28 0.28 C 0.28 0.43464 0.15464 0.56 0 0.56 C -0.15464 0.56 -0.28 0.43464 -0.28 0.28 C -0.28 0.12536 -0.15464 0 -0 0 E" pathEditMode="relative" rAng="0">
                                      <p:cBhvr>
                                        <p:cTn id="220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5464 -0 0.28 0.12536 0.28 0.28 C 0.28 0.43464 0.15464 0.56 0 0.56 C -0.15464 0.56 -0.28 0.43464 -0.28 0.28 C -0.28 0.12536 -0.15464 0 -0 0 E" pathEditMode="relative" rAng="0">
                                      <p:cBhvr>
                                        <p:cTn id="222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5464 -0 0.28 0.12536 0.28 0.28 C 0.28 0.43464 0.15464 0.56 0 0.56 C -0.15464 0.56 -0.28 0.43464 -0.28 0.28 C -0.28 0.12536 -0.15464 0 -0 0 E" pathEditMode="relative" rAng="0">
                                      <p:cBhvr>
                                        <p:cTn id="224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5464 -0 0.28 0.12536 0.28 0.28 C 0.28 0.43464 0.15464 0.56 0 0.56 C -0.15464 0.56 -0.28 0.43464 -0.28 0.28 C -0.28 0.12536 -0.15464 0 -0 0 E" pathEditMode="relative" rAng="0">
                                      <p:cBhvr>
                                        <p:cTn id="226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732 0.075333 0.078931 0.199082 0.003598 0.276402 C -0.071735 0.353722 -0.195485 0.355333 -0.272805 0.28 C -0.350125 0.204667 -0.351735 0.080918 -0.276402 0.003598 C -0.201069 -0.073722 -0.07732 -0.075333 0 -0 E" pathEditMode="relative" rAng="0">
                                      <p:cBhvr>
                                        <p:cTn id="228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732 0.075333 0.078931 0.199082 0.003598 0.276402 C -0.071735 0.353722 -0.195485 0.355333 -0.272805 0.28 C -0.350125 0.204667 -0.351735 0.080918 -0.276402 0.003598 C -0.201069 -0.073722 -0.07732 -0.075333 0 -0 E" pathEditMode="relative" rAng="0">
                                      <p:cBhvr>
                                        <p:cTn id="230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732 0.075333 0.078931 0.199082 0.003598 0.276402 C -0.071735 0.353722 -0.195485 0.355333 -0.272805 0.28 C -0.350125 0.204667 -0.351735 0.080918 -0.276402 0.003598 C -0.201069 -0.073722 -0.07732 -0.075333 0 -0 E" pathEditMode="relative" rAng="0">
                                      <p:cBhvr>
                                        <p:cTn id="232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732 0.075333 0.078931 0.199082 0.003598 0.276402 C -0.071735 0.353722 -0.195485 0.355333 -0.272805 0.28 C -0.350125 0.204667 -0.351735 0.080918 -0.276402 0.003598 C -0.201069 -0.073722 -0.07732 -0.075333 0 -0 E" pathEditMode="relative" rAng="0">
                                      <p:cBhvr>
                                        <p:cTn id="234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732 0.075333 -0.201069 0.073722 -0.276402 -0.003597 C -0.351735 -0.080917 -0.350125 -0.204667 -0.272805 -0.28 C -0.195485 -0.355333 -0.071735 -0.353722 0.003597 -0.276402 C 0.07893 -0.199082 0.07732 -0.075333 0 -0 E" pathEditMode="relative" rAng="0">
                                      <p:cBhvr>
                                        <p:cTn id="236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732 0.075333 -0.201069 0.073722 -0.276402 -0.003597 C -0.351735 -0.080917 -0.350125 -0.204667 -0.272805 -0.28 C -0.195485 -0.355333 -0.071735 -0.353722 0.003597 -0.276402 C 0.07893 -0.199082 0.07732 -0.075333 0 -0 E" pathEditMode="relative" rAng="0">
                                      <p:cBhvr>
                                        <p:cTn id="238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732 0.075333 -0.201069 0.073722 -0.276402 -0.003597 C -0.351735 -0.080917 -0.350125 -0.204667 -0.272805 -0.28 C -0.195485 -0.355333 -0.071735 -0.353722 0.003597 -0.276402 C 0.07893 -0.199082 0.07732 -0.075333 0 -0 E" pathEditMode="relative" rAng="0">
                                      <p:cBhvr>
                                        <p:cTn id="240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732 0.075333 -0.201069 0.073722 -0.276402 -0.003597 C -0.351735 -0.080917 -0.350125 -0.204667 -0.272805 -0.28 C -0.195485 -0.355333 -0.071735 -0.353722 0.003597 -0.276402 C 0.07893 -0.199082 0.07732 -0.075333 0 -0 E" pathEditMode="relative" rAng="0">
                                      <p:cBhvr>
                                        <p:cTn id="242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15464 -0 -0.28 -0.12536 -0.28 -0.28 C -0.28 -0.43464 -0.15464 -0.56 0 -0.56 C 0.15464 -0.56 0.28 -0.43464 0.28 -0.28 C 0.28 -0.12536 0.15464 0 0 0 E" pathEditMode="relative" rAng="0">
                                      <p:cBhvr>
                                        <p:cTn id="244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15464 -0 -0.28 -0.12536 -0.28 -0.28 C -0.28 -0.43464 -0.15464 -0.56 0 -0.56 C 0.15464 -0.56 0.28 -0.43464 0.28 -0.28 C 0.28 -0.12536 0.15464 0 0 0 E" pathEditMode="relative" rAng="0">
                                      <p:cBhvr>
                                        <p:cTn id="246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7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15464 -0 -0.28 -0.12536 -0.28 -0.28 C -0.28 -0.43464 -0.15464 -0.56 0 -0.56 C 0.15464 -0.56 0.28 -0.43464 0.28 -0.28 C 0.28 -0.12536 0.15464 0 0 0 E" pathEditMode="relative" rAng="0">
                                      <p:cBhvr>
                                        <p:cTn id="248" dur="1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15464 -0 -0.28 -0.12536 -0.28 -0.28 C -0.28 -0.43464 -0.15464 -0.56 0 -0.56 C 0.15464 -0.56 0.28 -0.43464 0.28 -0.28 C 0.28 -0.12536 0.15464 0 0 0 E" pathEditMode="relative" rAng="0">
                                      <p:cBhvr>
                                        <p:cTn id="250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732 -0.075333 -0.078931 -0.199083 -0.003598 -0.276402 C 0.071735 -0.353722 0.195485 -0.355333 0.272805 -0.28 C 0.350125 -0.204667 0.351735 -0.080917 0.276402 -0.003598 C 0.201069 0.073722 0.07732 0.075333 0 0 E" pathEditMode="relative" rAng="0">
                                      <p:cBhvr>
                                        <p:cTn id="252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732 -0.075333 -0.078931 -0.199083 -0.003598 -0.276402 C 0.071735 -0.353722 0.195485 -0.355333 0.272805 -0.28 C 0.350125 -0.204667 0.351735 -0.080917 0.276402 -0.003598 C 0.201069 0.073722 0.07732 0.075333 0 0 E" pathEditMode="relative" rAng="0">
                                      <p:cBhvr>
                                        <p:cTn id="254" dur="1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732 -0.075333 -0.078931 -0.199083 -0.003598 -0.276402 C 0.071735 -0.353722 0.195485 -0.355333 0.272805 -0.28 C 0.350125 -0.204667 0.351735 -0.080917 0.276402 -0.003598 C 0.201069 0.073722 0.07732 0.075333 0 0 E" pathEditMode="relative" rAng="0">
                                      <p:cBhvr>
                                        <p:cTn id="256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732 -0.075333 -0.078931 -0.199083 -0.003598 -0.276402 C 0.071735 -0.353722 0.195485 -0.355333 0.272805 -0.28 C 0.350125 -0.204667 0.351735 -0.080917 0.276402 -0.003598 C 0.201069 0.073722 0.07732 0.075333 0 0 E" pathEditMode="relative" rAng="0">
                                      <p:cBhvr>
                                        <p:cTn id="258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732 -0.075333 0.20107 -0.073722 0.276403 0.003598 C 0.351736 0.080918 0.350125 0.204667 0.272805 0.28 C 0.195485 0.355333 0.071735 0.353723 -0.003598 0.276403 C -0.078931 0.199083 -0.07732 0.075333 0 0 E" pathEditMode="relative" rAng="0">
                                      <p:cBhvr>
                                        <p:cTn id="260" dur="1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732 -0.075333 0.20107 -0.073722 0.276403 0.003598 C 0.351736 0.080918 0.350125 0.204667 0.272805 0.28 C 0.195485 0.355333 0.071735 0.353723 -0.003598 0.276403 C -0.078931 0.199083 -0.07732 0.075333 0 0 E" pathEditMode="relative" rAng="0">
                                      <p:cBhvr>
                                        <p:cTn id="262" dur="1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732 -0.075333 0.20107 -0.073722 0.276403 0.003598 C 0.351736 0.080918 0.350125 0.204667 0.272805 0.28 C 0.195485 0.355333 0.071735 0.353723 -0.003598 0.276403 C -0.078931 0.199083 -0.07732 0.075333 0 0 E" pathEditMode="relative" rAng="0">
                                      <p:cBhvr>
                                        <p:cTn id="264" dur="1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732 -0.075333 0.20107 -0.073722 0.276403 0.003598 C 0.351736 0.080918 0.350125 0.204667 0.272805 0.28 C 0.195485 0.355333 0.071735 0.353723 -0.003598 0.276403 C -0.078931 0.199083 -0.07732 0.075333 0 0 E" pathEditMode="relative" rAng="0">
                                      <p:cBhvr>
                                        <p:cTn id="266" dur="1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268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7" grpId="1" animBg="1"/>
      <p:bldP spid="18" grpId="0" animBg="1"/>
      <p:bldP spid="19" grpId="0" animBg="1"/>
      <p:bldP spid="20" grpId="0" animBg="1"/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2 Kicker"/>
          <p:cNvSpPr txBox="1"/>
          <p:nvPr/>
        </p:nvSpPr>
        <p:spPr>
          <a:xfrm>
            <a:off x="594360" y="292608"/>
            <a:ext cx="77724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DejaVu Sans"/>
              </a:rPr>
              <a:t>3D PERSPECTIVE ELLIPTICAL CAROUSEL · TRANSITIVE VIRTUAL RIGGING</a:t>
            </a:r>
          </a:p>
        </p:txBody>
      </p:sp>
      <p:sp>
        <p:nvSpPr>
          <p:cNvPr id="3" name="S2 Title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DejaVu Sans"/>
              </a:rPr>
              <a:t>Five 6-Part Autonomous Pods Orbiting in Simulated 3D Depth</a:t>
            </a:r>
          </a:p>
        </p:txBody>
      </p:sp>
      <p:sp>
        <p:nvSpPr>
          <p:cNvPr id="4" name="Kernel Hub"/>
          <p:cNvSpPr/>
          <p:nvPr/>
        </p:nvSpPr>
        <p:spPr>
          <a:xfrm>
            <a:off x="5047488" y="3200399"/>
            <a:ext cx="2103120" cy="1554480"/>
          </a:xfrm>
          <a:prstGeom prst="octagon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ernel Badge"/>
          <p:cNvSpPr/>
          <p:nvPr/>
        </p:nvSpPr>
        <p:spPr>
          <a:xfrm>
            <a:off x="5806440" y="3355847"/>
            <a:ext cx="585216" cy="47548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B1120"/>
                </a:solidFill>
                <a:latin typeface="DejaVu Sans"/>
              </a:rPr>
              <a:t>AI</a:t>
            </a:r>
          </a:p>
        </p:txBody>
      </p:sp>
      <p:sp>
        <p:nvSpPr>
          <p:cNvPr id="6" name="Kernel Title"/>
          <p:cNvSpPr txBox="1"/>
          <p:nvPr/>
        </p:nvSpPr>
        <p:spPr>
          <a:xfrm>
            <a:off x="5230368" y="3886200"/>
            <a:ext cx="173736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DejaVu Sans"/>
              </a:rPr>
              <a:t>Policy Kernel</a:t>
            </a:r>
          </a:p>
        </p:txBody>
      </p:sp>
      <p:sp>
        <p:nvSpPr>
          <p:cNvPr id="7" name="Kernel Sub"/>
          <p:cNvSpPr txBox="1"/>
          <p:nvPr/>
        </p:nvSpPr>
        <p:spPr>
          <a:xfrm>
            <a:off x="5230368" y="4251959"/>
            <a:ext cx="173736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06B6D4"/>
                </a:solidFill>
                <a:latin typeface="DejaVu Sans"/>
              </a:rPr>
              <a:t>Global State Loop</a:t>
            </a:r>
          </a:p>
        </p:txBody>
      </p:sp>
      <p:sp>
        <p:nvSpPr>
          <p:cNvPr id="8" name="Pod Telemetry"/>
          <p:cNvSpPr/>
          <p:nvPr/>
        </p:nvSpPr>
        <p:spPr>
          <a:xfrm>
            <a:off x="5020056" y="1728215"/>
            <a:ext cx="2157984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d Telemetry Hdr"/>
          <p:cNvSpPr/>
          <p:nvPr/>
        </p:nvSpPr>
        <p:spPr>
          <a:xfrm>
            <a:off x="5093208" y="1792223"/>
            <a:ext cx="2011679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d Telemetry Icon"/>
          <p:cNvSpPr/>
          <p:nvPr/>
        </p:nvSpPr>
        <p:spPr>
          <a:xfrm>
            <a:off x="5129784" y="1956815"/>
            <a:ext cx="402336" cy="402336"/>
          </a:xfrm>
          <a:prstGeom prst="hexag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S1</a:t>
            </a:r>
          </a:p>
        </p:txBody>
      </p:sp>
      <p:sp>
        <p:nvSpPr>
          <p:cNvPr id="11" name="Pod Telemetry Title"/>
          <p:cNvSpPr txBox="1"/>
          <p:nvPr/>
        </p:nvSpPr>
        <p:spPr>
          <a:xfrm>
            <a:off x="5586984" y="1947672"/>
            <a:ext cx="1499616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Telemetry Fabric</a:t>
            </a:r>
          </a:p>
        </p:txBody>
      </p:sp>
      <p:sp>
        <p:nvSpPr>
          <p:cNvPr id="12" name="Pod Telemetry Spec"/>
          <p:cNvSpPr txBox="1"/>
          <p:nvPr/>
        </p:nvSpPr>
        <p:spPr>
          <a:xfrm>
            <a:off x="5148072" y="2368296"/>
            <a:ext cx="190195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eBPF + Optical Probes</a:t>
            </a:r>
          </a:p>
        </p:txBody>
      </p:sp>
      <p:sp>
        <p:nvSpPr>
          <p:cNvPr id="13" name="Pod Telemetry Pill"/>
          <p:cNvSpPr/>
          <p:nvPr/>
        </p:nvSpPr>
        <p:spPr>
          <a:xfrm>
            <a:off x="5221224" y="2679191"/>
            <a:ext cx="17556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6B6D4"/>
                </a:solidFill>
                <a:latin typeface="DejaVu Sans"/>
              </a:rPr>
              <a:t>4.8M msg/s</a:t>
            </a:r>
          </a:p>
        </p:txBody>
      </p:sp>
      <p:sp>
        <p:nvSpPr>
          <p:cNvPr id="14" name="Pod WorldModel"/>
          <p:cNvSpPr/>
          <p:nvPr/>
        </p:nvSpPr>
        <p:spPr>
          <a:xfrm>
            <a:off x="8629087" y="2833927"/>
            <a:ext cx="2157984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d WorldModel Hdr"/>
          <p:cNvSpPr/>
          <p:nvPr/>
        </p:nvSpPr>
        <p:spPr>
          <a:xfrm>
            <a:off x="8702239" y="2897935"/>
            <a:ext cx="2011679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d WorldModel Icon"/>
          <p:cNvSpPr/>
          <p:nvPr/>
        </p:nvSpPr>
        <p:spPr>
          <a:xfrm>
            <a:off x="8738815" y="3062527"/>
            <a:ext cx="402336" cy="402336"/>
          </a:xfrm>
          <a:prstGeom prst="hexag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S2</a:t>
            </a:r>
          </a:p>
        </p:txBody>
      </p:sp>
      <p:sp>
        <p:nvSpPr>
          <p:cNvPr id="17" name="Pod WorldModel Title"/>
          <p:cNvSpPr txBox="1"/>
          <p:nvPr/>
        </p:nvSpPr>
        <p:spPr>
          <a:xfrm>
            <a:off x="9196015" y="3053383"/>
            <a:ext cx="1499616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World-Model Graph</a:t>
            </a:r>
          </a:p>
        </p:txBody>
      </p:sp>
      <p:sp>
        <p:nvSpPr>
          <p:cNvPr id="18" name="Pod WorldModel Spec"/>
          <p:cNvSpPr txBox="1"/>
          <p:nvPr/>
        </p:nvSpPr>
        <p:spPr>
          <a:xfrm>
            <a:off x="8757103" y="3474007"/>
            <a:ext cx="190195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Causal Topology Twin</a:t>
            </a:r>
          </a:p>
        </p:txBody>
      </p:sp>
      <p:sp>
        <p:nvSpPr>
          <p:cNvPr id="19" name="Pod WorldModel Pill"/>
          <p:cNvSpPr/>
          <p:nvPr/>
        </p:nvSpPr>
        <p:spPr>
          <a:xfrm>
            <a:off x="8830255" y="3784903"/>
            <a:ext cx="17556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8B5CF6"/>
                </a:solidFill>
                <a:latin typeface="DejaVu Sans"/>
              </a:rPr>
              <a:t>120k nodes</a:t>
            </a:r>
          </a:p>
        </p:txBody>
      </p:sp>
      <p:sp>
        <p:nvSpPr>
          <p:cNvPr id="20" name="Pod RiskSolver"/>
          <p:cNvSpPr/>
          <p:nvPr/>
        </p:nvSpPr>
        <p:spPr>
          <a:xfrm>
            <a:off x="7250559" y="4623004"/>
            <a:ext cx="2157984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d RiskSolver Hdr"/>
          <p:cNvSpPr/>
          <p:nvPr/>
        </p:nvSpPr>
        <p:spPr>
          <a:xfrm>
            <a:off x="7323711" y="4687012"/>
            <a:ext cx="2011679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d RiskSolver Icon"/>
          <p:cNvSpPr/>
          <p:nvPr/>
        </p:nvSpPr>
        <p:spPr>
          <a:xfrm>
            <a:off x="7360287" y="4851604"/>
            <a:ext cx="402336" cy="402336"/>
          </a:xfrm>
          <a:prstGeom prst="hexag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S3</a:t>
            </a:r>
          </a:p>
        </p:txBody>
      </p:sp>
      <p:sp>
        <p:nvSpPr>
          <p:cNvPr id="23" name="Pod RiskSolver Title"/>
          <p:cNvSpPr txBox="1"/>
          <p:nvPr/>
        </p:nvSpPr>
        <p:spPr>
          <a:xfrm>
            <a:off x="7817487" y="4842460"/>
            <a:ext cx="1499616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Stochastic Solver</a:t>
            </a:r>
          </a:p>
        </p:txBody>
      </p:sp>
      <p:sp>
        <p:nvSpPr>
          <p:cNvPr id="24" name="Pod RiskSolver Spec"/>
          <p:cNvSpPr txBox="1"/>
          <p:nvPr/>
        </p:nvSpPr>
        <p:spPr>
          <a:xfrm>
            <a:off x="7378575" y="5263084"/>
            <a:ext cx="190195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Counterfactual Rollout</a:t>
            </a:r>
          </a:p>
        </p:txBody>
      </p:sp>
      <p:sp>
        <p:nvSpPr>
          <p:cNvPr id="25" name="Pod RiskSolver Pill"/>
          <p:cNvSpPr/>
          <p:nvPr/>
        </p:nvSpPr>
        <p:spPr>
          <a:xfrm>
            <a:off x="7451727" y="5573980"/>
            <a:ext cx="17556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B981"/>
                </a:solidFill>
                <a:latin typeface="DejaVu Sans"/>
              </a:rPr>
              <a:t>0.4 ms p99</a:t>
            </a:r>
          </a:p>
        </p:txBody>
      </p:sp>
      <p:sp>
        <p:nvSpPr>
          <p:cNvPr id="26" name="Pod Shaper"/>
          <p:cNvSpPr/>
          <p:nvPr/>
        </p:nvSpPr>
        <p:spPr>
          <a:xfrm>
            <a:off x="2789552" y="4623004"/>
            <a:ext cx="2157984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d Shaper Hdr"/>
          <p:cNvSpPr/>
          <p:nvPr/>
        </p:nvSpPr>
        <p:spPr>
          <a:xfrm>
            <a:off x="2862704" y="4687012"/>
            <a:ext cx="2011679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d Shaper Icon"/>
          <p:cNvSpPr/>
          <p:nvPr/>
        </p:nvSpPr>
        <p:spPr>
          <a:xfrm>
            <a:off x="2899280" y="4851604"/>
            <a:ext cx="402336" cy="402336"/>
          </a:xfrm>
          <a:prstGeom prst="hexag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S4</a:t>
            </a:r>
          </a:p>
        </p:txBody>
      </p:sp>
      <p:sp>
        <p:nvSpPr>
          <p:cNvPr id="29" name="Pod Shaper Title"/>
          <p:cNvSpPr txBox="1"/>
          <p:nvPr/>
        </p:nvSpPr>
        <p:spPr>
          <a:xfrm>
            <a:off x="3356480" y="4842460"/>
            <a:ext cx="1499616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Traffic Shaper</a:t>
            </a:r>
          </a:p>
        </p:txBody>
      </p:sp>
      <p:sp>
        <p:nvSpPr>
          <p:cNvPr id="30" name="Pod Shaper Spec"/>
          <p:cNvSpPr txBox="1"/>
          <p:nvPr/>
        </p:nvSpPr>
        <p:spPr>
          <a:xfrm>
            <a:off x="2917568" y="5263084"/>
            <a:ext cx="190195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Dynamic QoS Pacing</a:t>
            </a:r>
          </a:p>
        </p:txBody>
      </p:sp>
      <p:sp>
        <p:nvSpPr>
          <p:cNvPr id="31" name="Pod Shaper Pill"/>
          <p:cNvSpPr/>
          <p:nvPr/>
        </p:nvSpPr>
        <p:spPr>
          <a:xfrm>
            <a:off x="2990720" y="5573980"/>
            <a:ext cx="17556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59E0B"/>
                </a:solidFill>
                <a:latin typeface="DejaVu Sans"/>
              </a:rPr>
              <a:t>Zero Drop</a:t>
            </a:r>
          </a:p>
        </p:txBody>
      </p:sp>
      <p:sp>
        <p:nvSpPr>
          <p:cNvPr id="32" name="Pod SelfHeal"/>
          <p:cNvSpPr/>
          <p:nvPr/>
        </p:nvSpPr>
        <p:spPr>
          <a:xfrm>
            <a:off x="1411024" y="2833927"/>
            <a:ext cx="2157984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d SelfHeal Hdr"/>
          <p:cNvSpPr/>
          <p:nvPr/>
        </p:nvSpPr>
        <p:spPr>
          <a:xfrm>
            <a:off x="1484176" y="2897935"/>
            <a:ext cx="2011679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od SelfHeal Icon"/>
          <p:cNvSpPr/>
          <p:nvPr/>
        </p:nvSpPr>
        <p:spPr>
          <a:xfrm>
            <a:off x="1520752" y="3062527"/>
            <a:ext cx="402336" cy="402336"/>
          </a:xfrm>
          <a:prstGeom prst="hexagon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S5</a:t>
            </a:r>
          </a:p>
        </p:txBody>
      </p:sp>
      <p:sp>
        <p:nvSpPr>
          <p:cNvPr id="35" name="Pod SelfHeal Title"/>
          <p:cNvSpPr txBox="1"/>
          <p:nvPr/>
        </p:nvSpPr>
        <p:spPr>
          <a:xfrm>
            <a:off x="1977952" y="3053383"/>
            <a:ext cx="1499616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Self-Heal Actuator</a:t>
            </a:r>
          </a:p>
        </p:txBody>
      </p:sp>
      <p:sp>
        <p:nvSpPr>
          <p:cNvPr id="36" name="Pod SelfHeal Spec"/>
          <p:cNvSpPr txBox="1"/>
          <p:nvPr/>
        </p:nvSpPr>
        <p:spPr>
          <a:xfrm>
            <a:off x="1539040" y="3474007"/>
            <a:ext cx="190195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Hot-Swap Optical Lane</a:t>
            </a:r>
          </a:p>
        </p:txBody>
      </p:sp>
      <p:sp>
        <p:nvSpPr>
          <p:cNvPr id="37" name="Pod SelfHeal Pill"/>
          <p:cNvSpPr/>
          <p:nvPr/>
        </p:nvSpPr>
        <p:spPr>
          <a:xfrm>
            <a:off x="1612192" y="3784903"/>
            <a:ext cx="17556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E11D48"/>
                </a:solidFill>
                <a:latin typeface="DejaVu Sans"/>
              </a:rPr>
              <a:t>99.999%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0="http://schemas.microsoft.com/office/powerpoint/2010/main" id="28" presetID="0" presetClass="path" presetSubtype="0" decel="60000" fill="hold" grpId="1" nodeType="withEffect" ns0:bounceEnd="3500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 0.233333 L 0 0 E" pathEditMode="relative" rAng="0" ptsTypes="AA">
                                      <p:cBhvr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="http://schemas.microsoft.com/office/powerpoint/2010/main" id="33" presetID="0" presetClass="path" presetSubtype="0" decel="60000" fill="hold" grpId="1" nodeType="withEffect" ns1:bounceEnd="35000">
                                  <p:stCondLst>
                                    <p:cond delay="30"/>
                                  </p:stCondLst>
                                  <p:childTnLst>
                                    <p:animMotion origin="layout" path="M -0 0.233333 L 0 0 E" pathEditMode="relative" rAng="0" ptsTypes="AA">
                                      <p:cBhvr>
                                        <p:cTn id="34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="http://schemas.microsoft.com/office/powerpoint/2010/main" id="38" presetID="0" presetClass="path" presetSubtype="0" decel="60000" fill="hold" grpId="1" nodeType="withEffect" ns2:bounceEnd="35000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-0 0.233333 L 0 0 E" pathEditMode="relative" rAng="0" ptsTypes="AA">
                                      <p:cBhvr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3="http://schemas.microsoft.com/office/powerpoint/2010/main" id="43" presetID="0" presetClass="path" presetSubtype="0" decel="60000" fill="hold" grpId="1" nodeType="withEffect" ns3:bounceEnd="35000">
                                  <p:stCondLst>
                                    <p:cond delay="90"/>
                                  </p:stCondLst>
                                  <p:childTnLst>
                                    <p:animMotion origin="layout" path="M -0 0.233333 L 0 0 E" pathEditMode="relative" rAng="0" ptsTypes="AA">
                                      <p:cBhvr>
                                        <p:cTn id="44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4="http://schemas.microsoft.com/office/powerpoint/2010/main" id="48" presetID="0" presetClass="path" presetSubtype="0" decel="60000" fill="hold" grpId="1" nodeType="withEffect" ns4:bounceEnd="35000">
                                  <p:stCondLst>
                                    <p:cond delay="110"/>
                                  </p:stCondLst>
                                  <p:childTnLst>
                                    <p:animMotion origin="layout" path="M -0.296024 0.072104 L 0 0 E" pathEditMode="relative" rAng="0" ptsTypes="AA">
                                      <p:cBhvr>
                                        <p:cTn id="4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5="http://schemas.microsoft.com/office/powerpoint/2010/main" id="53" presetID="0" presetClass="path" presetSubtype="0" decel="60000" fill="hold" grpId="1" nodeType="withEffect" ns5:bounceEnd="35000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-0 0.233333 L 0 0 E" pathEditMode="relative" rAng="0" ptsTypes="AA">
                                      <p:cBhvr>
                                        <p:cTn id="5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6="http://schemas.microsoft.com/office/powerpoint/2010/main" id="58" presetID="0" presetClass="path" presetSubtype="0" decel="60000" fill="hold" grpId="1" nodeType="withEffect" ns6:bounceEnd="35000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296024 0.072104 L 0 0 E" pathEditMode="relative" rAng="0" ptsTypes="AA">
                                      <p:cBhvr>
                                        <p:cTn id="5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7="http://schemas.microsoft.com/office/powerpoint/2010/main" id="63" presetID="0" presetClass="path" presetSubtype="0" decel="60000" fill="hold" grpId="1" nodeType="withEffect" ns7:bounceEnd="35000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-0 0.233333 L 0 0 E" pathEditMode="relative" rAng="0" ptsTypes="AA">
                                      <p:cBhvr>
                                        <p:cTn id="6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8="http://schemas.microsoft.com/office/powerpoint/2010/main" id="68" presetID="0" presetClass="path" presetSubtype="0" decel="60000" fill="hold" grpId="1" nodeType="withEffect" ns8:bounceEnd="35000">
                                  <p:stCondLst>
                                    <p:cond delay="170"/>
                                  </p:stCondLst>
                                  <p:childTnLst>
                                    <p:animMotion origin="layout" path="M -0.296024 0.072104 L 0 0 E" pathEditMode="relative" rAng="0" ptsTypes="AA">
                                      <p:cBhvr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9="http://schemas.microsoft.com/office/powerpoint/2010/main" id="73" presetID="0" presetClass="path" presetSubtype="0" decel="60000" fill="hold" grpId="1" nodeType="withEffect" ns9:bounceEnd="35000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0.296024 0.072104 L 0 0 E" pathEditMode="relative" rAng="0" ptsTypes="AA">
                                      <p:cBhvr>
                                        <p:cTn id="74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0="http://schemas.microsoft.com/office/powerpoint/2010/main" id="78" presetID="0" presetClass="path" presetSubtype="0" decel="60000" fill="hold" grpId="1" nodeType="withEffect" ns10:bounceEnd="35000">
                                  <p:stCondLst>
                                    <p:cond delay="220"/>
                                  </p:stCondLst>
                                  <p:childTnLst>
                                    <p:animMotion origin="layout" path="M -0.182953 -0.188771 L 0 0 E" pathEditMode="relative" rAng="0" ptsTypes="AA">
                                      <p:cBhvr>
                                        <p:cTn id="7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1="http://schemas.microsoft.com/office/powerpoint/2010/main" id="83" presetID="0" presetClass="path" presetSubtype="0" decel="60000" fill="hold" grpId="1" nodeType="withEffect" ns11:bounceEnd="35000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-0.296024 0.072104 L 0 0 E" pathEditMode="relative" rAng="0" ptsTypes="AA">
                                      <p:cBhvr>
                                        <p:cTn id="8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2="http://schemas.microsoft.com/office/powerpoint/2010/main" id="88" presetID="0" presetClass="path" presetSubtype="0" decel="60000" fill="hold" grpId="1" nodeType="withEffect" ns12:bounceEnd="35000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182953 -0.188771 L 0 0 E" pathEditMode="relative" rAng="0" ptsTypes="AA">
                                      <p:cBhvr>
                                        <p:cTn id="89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3="http://schemas.microsoft.com/office/powerpoint/2010/main" id="93" presetID="0" presetClass="path" presetSubtype="0" decel="60000" fill="hold" grpId="1" nodeType="withEffect" ns13:bounceEnd="35000">
                                  <p:stCondLst>
                                    <p:cond delay="260"/>
                                  </p:stCondLst>
                                  <p:childTnLst>
                                    <p:animMotion origin="layout" path="M -0.296024 0.072104 L 0 0 E" pathEditMode="relative" rAng="0" ptsTypes="AA">
                                      <p:cBhvr>
                                        <p:cTn id="94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4="http://schemas.microsoft.com/office/powerpoint/2010/main" id="98" presetID="0" presetClass="path" presetSubtype="0" decel="60000" fill="hold" grpId="1" nodeType="withEffect" ns14:bounceEnd="35000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-0.182953 -0.188771 L 0 0 E" pathEditMode="relative" rAng="0" ptsTypes="AA">
                                      <p:cBhvr>
                                        <p:cTn id="9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5="http://schemas.microsoft.com/office/powerpoint/2010/main" id="103" presetID="0" presetClass="path" presetSubtype="0" decel="60000" fill="hold" grpId="1" nodeType="withEffect" ns15:bounceEnd="35000">
                                  <p:stCondLst>
                                    <p:cond delay="310"/>
                                  </p:stCondLst>
                                  <p:childTnLst>
                                    <p:animMotion origin="layout" path="M -0.182953 -0.188771 L 0 0 E" pathEditMode="relative" rAng="0" ptsTypes="AA">
                                      <p:cBhvr>
                                        <p:cTn id="104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6="http://schemas.microsoft.com/office/powerpoint/2010/main" id="108" presetID="0" presetClass="path" presetSubtype="0" decel="60000" fill="hold" grpId="1" nodeType="withEffect" ns16:bounceEnd="35000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.182953 -0.188771 L 0 0 E" pathEditMode="relative" rAng="0" ptsTypes="AA">
                                      <p:cBhvr>
                                        <p:cTn id="10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7="http://schemas.microsoft.com/office/powerpoint/2010/main" id="113" presetID="0" presetClass="path" presetSubtype="0" decel="60000" fill="hold" grpId="1" nodeType="withEffect" ns17:bounceEnd="35000">
                                  <p:stCondLst>
                                    <p:cond delay="340"/>
                                  </p:stCondLst>
                                  <p:childTnLst>
                                    <p:animMotion origin="layout" path="M -0.182953 -0.188771 L 0 0 E" pathEditMode="relative" rAng="0" ptsTypes="AA">
                                      <p:cBhvr>
                                        <p:cTn id="114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8="http://schemas.microsoft.com/office/powerpoint/2010/main" id="118" presetID="0" presetClass="path" presetSubtype="0" decel="60000" fill="hold" grpId="1" nodeType="withEffect" ns18:bounceEnd="35000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182953 -0.188771 L 0 0 E" pathEditMode="relative" rAng="0" ptsTypes="AA">
                                      <p:cBhvr>
                                        <p:cTn id="11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9="http://schemas.microsoft.com/office/powerpoint/2010/main" id="123" presetID="0" presetClass="path" presetSubtype="0" decel="60000" fill="hold" grpId="1" nodeType="withEffect" ns19:bounceEnd="35000">
                                  <p:stCondLst>
                                    <p:cond delay="370"/>
                                  </p:stCondLst>
                                  <p:childTnLst>
                                    <p:animMotion origin="layout" path="M -0.182953 -0.188771 L 0 0 E" pathEditMode="relative" rAng="0" ptsTypes="AA">
                                      <p:cBhvr>
                                        <p:cTn id="124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0="http://schemas.microsoft.com/office/powerpoint/2010/main" id="128" presetID="0" presetClass="path" presetSubtype="0" decel="60000" fill="hold" grpId="1" nodeType="withEffect" ns20:bounceEnd="35000">
                                  <p:stCondLst>
                                    <p:cond delay="390"/>
                                  </p:stCondLst>
                                  <p:childTnLst>
                                    <p:animMotion origin="layout" path="M 0.182953 -0.188771 L 0 0 E" pathEditMode="relative" rAng="0" ptsTypes="AA">
                                      <p:cBhvr>
                                        <p:cTn id="129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1="http://schemas.microsoft.com/office/powerpoint/2010/main" id="133" presetID="0" presetClass="path" presetSubtype="0" decel="60000" fill="hold" grpId="1" nodeType="withEffect" ns21:bounceEnd="35000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82953 -0.188771 L 0 0 E" pathEditMode="relative" rAng="0" ptsTypes="AA">
                                      <p:cBhvr>
                                        <p:cTn id="134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2="http://schemas.microsoft.com/office/powerpoint/2010/main" id="138" presetID="0" presetClass="path" presetSubtype="0" decel="60000" fill="hold" grpId="1" nodeType="withEffect" ns22:bounceEnd="35000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296024 0.072104 L 0 0 E" pathEditMode="relative" rAng="0" ptsTypes="AA">
                                      <p:cBhvr>
                                        <p:cTn id="13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3="http://schemas.microsoft.com/office/powerpoint/2010/main" id="143" presetID="0" presetClass="path" presetSubtype="0" decel="60000" fill="hold" grpId="1" nodeType="withEffect" ns23:bounceEnd="35000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.182953 -0.188771 L 0 0 E" pathEditMode="relative" rAng="0" ptsTypes="AA">
                                      <p:cBhvr>
                                        <p:cTn id="144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4="http://schemas.microsoft.com/office/powerpoint/2010/main" id="148" presetID="0" presetClass="path" presetSubtype="0" decel="60000" fill="hold" grpId="1" nodeType="withEffect" ns24:bounceEnd="35000">
                                  <p:stCondLst>
                                    <p:cond delay="470"/>
                                  </p:stCondLst>
                                  <p:childTnLst>
                                    <p:animMotion origin="layout" path="M 0.296024 0.072104 L 0 0 E" pathEditMode="relative" rAng="0" ptsTypes="AA">
                                      <p:cBhvr>
                                        <p:cTn id="149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5="http://schemas.microsoft.com/office/powerpoint/2010/main" id="153" presetID="0" presetClass="path" presetSubtype="0" decel="60000" fill="hold" grpId="1" nodeType="withEffect" ns25:bounceEnd="35000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182953 -0.188771 L 0 0 E" pathEditMode="relative" rAng="0" ptsTypes="AA">
                                      <p:cBhvr>
                                        <p:cTn id="15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6="http://schemas.microsoft.com/office/powerpoint/2010/main" id="158" presetID="0" presetClass="path" presetSubtype="0" decel="60000" fill="hold" grpId="1" nodeType="withEffect" ns26:bounceEnd="35000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296024 0.072104 L 0 0 E" pathEditMode="relative" rAng="0" ptsTypes="AA">
                                      <p:cBhvr>
                                        <p:cTn id="159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7="http://schemas.microsoft.com/office/powerpoint/2010/main" id="163" presetID="0" presetClass="path" presetSubtype="0" decel="60000" fill="hold" grpId="1" nodeType="withEffect" ns27:bounceEnd="35000">
                                  <p:stCondLst>
                                    <p:cond delay="530"/>
                                  </p:stCondLst>
                                  <p:childTnLst>
                                    <p:animMotion origin="layout" path="M 0.296024 0.072104 L 0 0 E" pathEditMode="relative" rAng="0" ptsTypes="AA">
                                      <p:cBhvr>
                                        <p:cTn id="164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8="http://schemas.microsoft.com/office/powerpoint/2010/main" id="168" presetID="0" presetClass="path" presetSubtype="0" decel="60000" fill="hold" grpId="1" nodeType="withEffect" ns28:bounceEnd="35000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296024 0.072104 L 0 0 E" pathEditMode="relative" rAng="0" ptsTypes="AA">
                                      <p:cBhvr>
                                        <p:cTn id="16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9="http://schemas.microsoft.com/office/powerpoint/2010/main" id="173" presetID="0" presetClass="path" presetSubtype="0" decel="60000" fill="hold" grpId="1" nodeType="withEffect" ns29:bounceEnd="35000">
                                  <p:stCondLst>
                                    <p:cond delay="590"/>
                                  </p:stCondLst>
                                  <p:childTnLst>
                                    <p:animMotion origin="layout" path="M 0.296024 0.072104 L 0 0 E" pathEditMode="relative" rAng="0" ptsTypes="AA">
                                      <p:cBhvr>
                                        <p:cTn id="174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179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36505 0 0.263719 0.05669 0.296024 0.16123 E" pathEditMode="relative" rAng="0">
                                      <p:cBhvr>
                                        <p:cTn id="181" dur="9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2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3" dur="950" fill="hold"/>
                                        <p:tgtEl>
                                          <p:spTgt spid="8"/>
                                        </p:tgtEl>
                                      </p:cBhvr>
                                      <p:by x="95270" y="95270"/>
                                    </p:animScale>
                                  </p:childTnLst>
                                </p:cTn>
                              </p:par>
                              <p:par>
                                <p:cTn id="184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186" dur="indefinite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36505 -0.000946 0.263719 0.055744 0.296024 0.160284 E" pathEditMode="relative" rAng="0">
                                      <p:cBhvr>
                                        <p:cTn id="188" dur="9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0" dur="950" fill="hold"/>
                                        <p:tgtEl>
                                          <p:spTgt spid="12"/>
                                        </p:tgtEl>
                                      </p:cBhvr>
                                      <p:by x="95270" y="95270"/>
                                    </p:animScale>
                                  </p:childTnLst>
                                </p:cTn>
                              </p:par>
                              <p:par>
                                <p:cTn id="191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indefinite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193" dur="indefinite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35582 0.001766 0.262797 0.058456 0.295101 0.162995 E" pathEditMode="relative" rAng="0">
                                      <p:cBhvr>
                                        <p:cTn id="195" dur="9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6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7" dur="950" fill="hold"/>
                                        <p:tgtEl>
                                          <p:spTgt spid="11"/>
                                        </p:tgtEl>
                                      </p:cBhvr>
                                      <p:by x="95270" y="95270"/>
                                    </p:animScale>
                                  </p:childTnLst>
                                </p:cTn>
                              </p:par>
                              <p:par>
                                <p:cTn id="198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indefinite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200" dur="indefinite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36505 -0.002964 0.263719 0.053726 0.296024 0.158265 E" pathEditMode="relative" rAng="0">
                                      <p:cBhvr>
                                        <p:cTn id="202" dur="9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3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4" dur="950" fill="hold"/>
                                        <p:tgtEl>
                                          <p:spTgt spid="13"/>
                                        </p:tgtEl>
                                      </p:cBhvr>
                                      <p:by x="95270" y="95270"/>
                                    </p:animScale>
                                  </p:childTnLst>
                                </p:cTn>
                              </p:par>
                              <p:par>
                                <p:cTn id="205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207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36505 0.003721 0.263719 0.060411 0.296024 0.16495 E" pathEditMode="relative" rAng="0">
                                      <p:cBhvr>
                                        <p:cTn id="209" dur="9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1" dur="950" fill="hold"/>
                                        <p:tgtEl>
                                          <p:spTgt spid="9"/>
                                        </p:tgtEl>
                                      </p:cBhvr>
                                      <p:by x="95270" y="95270"/>
                                    </p:animScale>
                                  </p:childTnLst>
                                </p:cTn>
                              </p:par>
                              <p:par>
                                <p:cTn id="212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indefinite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214" dur="indefinite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39484 0.001514 0.266699 0.058203 0.299004 0.162743 E" pathEditMode="relative" rAng="0">
                                      <p:cBhvr>
                                        <p:cTn id="216" dur="9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8" dur="950" fill="hold"/>
                                        <p:tgtEl>
                                          <p:spTgt spid="10"/>
                                        </p:tgtEl>
                                      </p:cBhvr>
                                      <p:by x="95270" y="95270"/>
                                    </p:animScale>
                                  </p:childTnLst>
                                </p:cTn>
                              </p:par>
                              <p:par>
                                <p:cTn id="21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4848 0.080409 -0.037676 0.203277 -0.113071 0.260874 E" pathEditMode="relative" rAng="0">
                                      <p:cBhvr>
                                        <p:cTn id="220" dur="9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2" dur="950" fill="hold"/>
                                        <p:tgtEl>
                                          <p:spTgt spid="14"/>
                                        </p:tgtEl>
                                      </p:cBhvr>
                                      <p:by x="114360" y="114360"/>
                                    </p:animScale>
                                  </p:childTnLst>
                                </p:cTn>
                              </p:par>
                              <p:par>
                                <p:cTn id="22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4848 0.083281 -0.037676 0.206149 -0.113071 0.263746 E" pathEditMode="relative" rAng="0">
                                      <p:cBhvr>
                                        <p:cTn id="224" dur="9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6" dur="950" fill="hold"/>
                                        <p:tgtEl>
                                          <p:spTgt spid="18"/>
                                        </p:tgtEl>
                                      </p:cBhvr>
                                      <p:by x="114360" y="114360"/>
                                    </p:animScale>
                                  </p:childTnLst>
                                </p:cTn>
                              </p:par>
                              <p:par>
                                <p:cTn id="227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7648 0.075048 -0.034875 0.197916 -0.110271 0.255513 E" pathEditMode="relative" rAng="0">
                                      <p:cBhvr>
                                        <p:cTn id="228" dur="9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0" dur="950" fill="hold"/>
                                        <p:tgtEl>
                                          <p:spTgt spid="17"/>
                                        </p:tgtEl>
                                      </p:cBhvr>
                                      <p:by x="114360" y="114360"/>
                                    </p:animScale>
                                  </p:childTnLst>
                                </p:cTn>
                              </p:par>
                              <p:par>
                                <p:cTn id="23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4848 0.089408 -0.037676 0.212276 -0.113071 0.269873 E" pathEditMode="relative" rAng="0">
                                      <p:cBhvr>
                                        <p:cTn id="232" dur="9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4" dur="950" fill="hold"/>
                                        <p:tgtEl>
                                          <p:spTgt spid="19"/>
                                        </p:tgtEl>
                                      </p:cBhvr>
                                      <p:by x="114360" y="114360"/>
                                    </p:animScale>
                                  </p:childTnLst>
                                </p:cTn>
                              </p:par>
                              <p:par>
                                <p:cTn id="235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4848 0.069112 -0.037676 0.191981 -0.113071 0.249578 E" pathEditMode="relative" rAng="0">
                                      <p:cBhvr>
                                        <p:cTn id="236" dur="9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8" dur="950" fill="hold"/>
                                        <p:tgtEl>
                                          <p:spTgt spid="15"/>
                                        </p:tgtEl>
                                      </p:cBhvr>
                                      <p:by x="114360" y="114360"/>
                                    </p:animScale>
                                  </p:childTnLst>
                                </p:cTn>
                              </p:par>
                              <p:par>
                                <p:cTn id="23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5801 0.075814 -0.046723 0.198682 -0.122118 0.256279 E" pathEditMode="relative" rAng="0">
                                      <p:cBhvr>
                                        <p:cTn id="240" dur="9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1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2" dur="950" fill="hold"/>
                                        <p:tgtEl>
                                          <p:spTgt spid="16"/>
                                        </p:tgtEl>
                                      </p:cBhvr>
                                      <p:by x="114360" y="114360"/>
                                    </p:animScale>
                                  </p:childTnLst>
                                </p:cTn>
                              </p:par>
                              <p:par>
                                <p:cTn id="24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114809 0.087707 -0.251096 0.087707 -0.365905 0 E" pathEditMode="relative" rAng="0">
                                      <p:cBhvr>
                                        <p:cTn id="244" dur="9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6" dur="950" fill="hold"/>
                                        <p:tgtEl>
                                          <p:spTgt spid="20"/>
                                        </p:tgtEl>
                                      </p:cBhvr>
                                      <p:by x="114360" y="114360"/>
                                    </p:animScale>
                                  </p:childTnLst>
                                </p:cTn>
                              </p:par>
                              <p:par>
                                <p:cTn id="247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114809 0.090579 -0.251096 0.090579 -0.365905 0.002872 E" pathEditMode="relative" rAng="0">
                                      <p:cBhvr>
                                        <p:cTn id="248" dur="9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9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0" dur="950" fill="hold"/>
                                        <p:tgtEl>
                                          <p:spTgt spid="24"/>
                                        </p:tgtEl>
                                      </p:cBhvr>
                                      <p:by x="114360" y="114360"/>
                                    </p:animScale>
                                  </p:childTnLst>
                                </p:cTn>
                              </p:par>
                              <p:par>
                                <p:cTn id="25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112009 0.082346 -0.248296 0.082346 -0.363105 -0.005361 E" pathEditMode="relative" rAng="0">
                                      <p:cBhvr>
                                        <p:cTn id="252" dur="9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4" dur="950" fill="hold"/>
                                        <p:tgtEl>
                                          <p:spTgt spid="23"/>
                                        </p:tgtEl>
                                      </p:cBhvr>
                                      <p:by x="114360" y="114360"/>
                                    </p:animScale>
                                  </p:childTnLst>
                                </p:cTn>
                              </p:par>
                              <p:par>
                                <p:cTn id="255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114809 0.096706 -0.251096 0.096706 -0.365905 0.008999 E" pathEditMode="relative" rAng="0">
                                      <p:cBhvr>
                                        <p:cTn id="256" dur="9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8" dur="950" fill="hold"/>
                                        <p:tgtEl>
                                          <p:spTgt spid="25"/>
                                        </p:tgtEl>
                                      </p:cBhvr>
                                      <p:by x="114360" y="114360"/>
                                    </p:animScale>
                                  </p:childTnLst>
                                </p:cTn>
                              </p:par>
                              <p:par>
                                <p:cTn id="25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114809 0.07641 -0.251096 0.07641 -0.365905 -0.011297 E" pathEditMode="relative" rAng="0">
                                      <p:cBhvr>
                                        <p:cTn id="260" dur="9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2" dur="950" fill="hold"/>
                                        <p:tgtEl>
                                          <p:spTgt spid="21"/>
                                        </p:tgtEl>
                                      </p:cBhvr>
                                      <p:by x="114360" y="114360"/>
                                    </p:animScale>
                                  </p:childTnLst>
                                </p:cTn>
                              </p:par>
                              <p:par>
                                <p:cTn id="26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123857 0.083111 -0.260143 0.083111 -0.374952 -0.004595 E" pathEditMode="relative" rAng="0">
                                      <p:cBhvr>
                                        <p:cTn id="264" dur="9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6" dur="950" fill="hold"/>
                                        <p:tgtEl>
                                          <p:spTgt spid="22"/>
                                        </p:tgtEl>
                                      </p:cBhvr>
                                      <p:by x="114360" y="114360"/>
                                    </p:animScale>
                                  </p:childTnLst>
                                </p:cTn>
                              </p:par>
                              <p:par>
                                <p:cTn id="267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269" dur="indefinite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5396 -0.057597 -0.137919 -0.180466 -0.113071 -0.260874 E" pathEditMode="relative" rAng="0">
                                      <p:cBhvr>
                                        <p:cTn id="271" dur="9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2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3" dur="950" fill="hold"/>
                                        <p:tgtEl>
                                          <p:spTgt spid="26"/>
                                        </p:tgtEl>
                                      </p:cBhvr>
                                      <p:by x="95270" y="95270"/>
                                    </p:animScale>
                                  </p:childTnLst>
                                </p:cTn>
                              </p:par>
                              <p:par>
                                <p:cTn id="274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indefinite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276" dur="indefinite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5396 -0.058543 -0.137919 -0.181412 -0.113071 -0.26182 E" pathEditMode="relative" rAng="0">
                                      <p:cBhvr>
                                        <p:cTn id="278" dur="9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9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0" dur="950" fill="hold"/>
                                        <p:tgtEl>
                                          <p:spTgt spid="30"/>
                                        </p:tgtEl>
                                      </p:cBhvr>
                                      <p:by x="95270" y="95270"/>
                                    </p:animScale>
                                  </p:childTnLst>
                                </p:cTn>
                              </p:par>
                              <p:par>
                                <p:cTn id="281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indefinite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283" dur="indefinite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6318 -0.055831 -0.138841 -0.1787 -0.113993 -0.259109 E" pathEditMode="relative" rAng="0">
                                      <p:cBhvr>
                                        <p:cTn id="285" dur="9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6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7" dur="950" fill="hold"/>
                                        <p:tgtEl>
                                          <p:spTgt spid="29"/>
                                        </p:tgtEl>
                                      </p:cBhvr>
                                      <p:by x="95270" y="95270"/>
                                    </p:animScale>
                                  </p:childTnLst>
                                </p:cTn>
                              </p:par>
                              <p:par>
                                <p:cTn id="288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indefinite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290" dur="indefinite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5396 -0.060561 -0.137919 -0.18343 -0.113071 -0.263839 E" pathEditMode="relative" rAng="0">
                                      <p:cBhvr>
                                        <p:cTn id="292" dur="9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3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4" dur="950" fill="hold"/>
                                        <p:tgtEl>
                                          <p:spTgt spid="31"/>
                                        </p:tgtEl>
                                      </p:cBhvr>
                                      <p:by x="95270" y="95270"/>
                                    </p:animScale>
                                  </p:childTnLst>
                                </p:cTn>
                              </p:par>
                              <p:par>
                                <p:cTn id="295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indefinite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297" dur="indefinite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5396 -0.053876 -0.137919 -0.176745 -0.113071 -0.257154 E" pathEditMode="relative" rAng="0">
                                      <p:cBhvr>
                                        <p:cTn id="299" dur="9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0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1" dur="950" fill="hold"/>
                                        <p:tgtEl>
                                          <p:spTgt spid="27"/>
                                        </p:tgtEl>
                                      </p:cBhvr>
                                      <p:by x="95270" y="95270"/>
                                    </p:animScale>
                                  </p:childTnLst>
                                </p:cTn>
                              </p:par>
                              <p:par>
                                <p:cTn id="302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indefinite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304" dur="indefinite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2416 -0.056083 -0.134939 -0.178952 -0.110091 -0.259361 E" pathEditMode="relative" rAng="0">
                                      <p:cBhvr>
                                        <p:cTn id="306" dur="9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7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8" dur="950" fill="hold"/>
                                        <p:tgtEl>
                                          <p:spTgt spid="28"/>
                                        </p:tgtEl>
                                      </p:cBhvr>
                                      <p:by x="95270" y="95270"/>
                                    </p:animScale>
                                  </p:childTnLst>
                                </p:cTn>
                              </p:par>
                              <p:par>
                                <p:cTn id="309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indefinite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48"/>
                                      </p:to>
                                    </p:set>
                                    <p:animEffect filter="image" prLst="opacity: 0.48">
                                      <p:cBhvr rctx="IE">
                                        <p:cTn id="311" dur="indefinite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2305 -0.10454 0.159519 -0.16123 0.296024 -0.16123 E" pathEditMode="relative" rAng="0">
                                      <p:cBhvr>
                                        <p:cTn id="313" dur="9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4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5" dur="950" fill="hold"/>
                                        <p:tgtEl>
                                          <p:spTgt spid="32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316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indefinite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48"/>
                                      </p:to>
                                    </p:set>
                                    <p:animEffect filter="image" prLst="opacity: 0.48">
                                      <p:cBhvr rctx="IE">
                                        <p:cTn id="318" dur="indefinite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2305 -0.10854 0.159519 -0.16523 0.296024 -0.16523 E" pathEditMode="relative" rAng="0">
                                      <p:cBhvr>
                                        <p:cTn id="320" dur="9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1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2" dur="950" fill="hold"/>
                                        <p:tgtEl>
                                          <p:spTgt spid="36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323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indefinite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48"/>
                                      </p:to>
                                    </p:set>
                                    <p:animEffect filter="image" prLst="opacity: 0.48">
                                      <p:cBhvr rctx="IE">
                                        <p:cTn id="325" dur="indefinite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8404 -0.097073 0.155619 -0.153763 0.292124 -0.153763 E" pathEditMode="relative" rAng="0">
                                      <p:cBhvr>
                                        <p:cTn id="327" dur="9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8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9" dur="950" fill="hold"/>
                                        <p:tgtEl>
                                          <p:spTgt spid="35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330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indefinite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48"/>
                                      </p:to>
                                    </p:set>
                                    <p:animEffect filter="image" prLst="opacity: 0.48">
                                      <p:cBhvr rctx="IE">
                                        <p:cTn id="332" dur="indefinite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2305 -0.117073 0.159519 -0.173763 0.296024 -0.173763 E" pathEditMode="relative" rAng="0">
                                      <p:cBhvr>
                                        <p:cTn id="334" dur="9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5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6" dur="950" fill="hold"/>
                                        <p:tgtEl>
                                          <p:spTgt spid="37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337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indefinite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48"/>
                                      </p:to>
                                    </p:set>
                                    <p:animEffect filter="image" prLst="opacity: 0.48">
                                      <p:cBhvr rctx="IE">
                                        <p:cTn id="339" dur="indefinite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2305 -0.088807 0.159519 -0.145496 0.296024 -0.145496 E" pathEditMode="relative" rAng="0">
                                      <p:cBhvr>
                                        <p:cTn id="341" dur="9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2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3" dur="950" fill="hold"/>
                                        <p:tgtEl>
                                          <p:spTgt spid="3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344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indefinite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48"/>
                                      </p:to>
                                    </p:set>
                                    <p:animEffect filter="image" prLst="opacity: 0.48">
                                      <p:cBhvr rctx="IE">
                                        <p:cTn id="346" dur="indefinite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4905 -0.09814 0.17212 -0.15483 0.308624 -0.15483 E" pathEditMode="relative" rAng="0">
                                      <p:cBhvr>
                                        <p:cTn id="348" dur="9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9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0" dur="950" fill="hold"/>
                                        <p:tgtEl>
                                          <p:spTgt spid="34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9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55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6024 0.16123 C 0.320871 0.241638 0.258348 0.364507 0.182953 0.422104 E" pathEditMode="relative" rAng="0">
                                      <p:cBhvr>
                                        <p:cTn id="357" dur="9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8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9" dur="950" fill="hold"/>
                                        <p:tgtEl>
                                          <p:spTgt spid="8"/>
                                        </p:tgtEl>
                                      </p:cBhvr>
                                      <p:by x="120038" y="120038"/>
                                    </p:animScale>
                                  </p:childTnLst>
                                </p:cTn>
                              </p:par>
                              <p:par>
                                <p:cTn id="360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62" dur="indefinite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6024 0.160284 C 0.320871 0.24451 0.258348 0.367379 0.182953 0.424976 E" pathEditMode="relative" rAng="0">
                                      <p:cBhvr>
                                        <p:cTn id="364" dur="9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5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6" dur="950" fill="hold"/>
                                        <p:tgtEl>
                                          <p:spTgt spid="12"/>
                                        </p:tgtEl>
                                      </p:cBhvr>
                                      <p:by x="120038" y="120038"/>
                                    </p:animScale>
                                  </p:childTnLst>
                                </p:cTn>
                              </p:par>
                              <p:par>
                                <p:cTn id="367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indefinite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69" dur="indefinite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5101 0.162995 C 0.323672 0.236277 0.261148 0.359146 0.185753 0.416743 E" pathEditMode="relative" rAng="0">
                                      <p:cBhvr>
                                        <p:cTn id="371" dur="9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2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3" dur="950" fill="hold"/>
                                        <p:tgtEl>
                                          <p:spTgt spid="11"/>
                                        </p:tgtEl>
                                      </p:cBhvr>
                                      <p:by x="120038" y="120038"/>
                                    </p:animScale>
                                  </p:childTnLst>
                                </p:cTn>
                              </p:par>
                              <p:par>
                                <p:cTn id="374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indefinite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76" dur="indefinite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6024 0.158265 C 0.320871 0.250637 0.258348 0.373506 0.182953 0.431103 E" pathEditMode="relative" rAng="0">
                                      <p:cBhvr>
                                        <p:cTn id="378" dur="9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9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0" dur="950" fill="hold"/>
                                        <p:tgtEl>
                                          <p:spTgt spid="13"/>
                                        </p:tgtEl>
                                      </p:cBhvr>
                                      <p:by x="120038" y="120038"/>
                                    </p:animScale>
                                  </p:childTnLst>
                                </p:cTn>
                              </p:par>
                              <p:par>
                                <p:cTn id="381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83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6024 0.16495 C 0.320871 0.230342 0.258348 0.35321 0.182953 0.410807 E" pathEditMode="relative" rAng="0">
                                      <p:cBhvr>
                                        <p:cTn id="385" dur="9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6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7" dur="950" fill="hold"/>
                                        <p:tgtEl>
                                          <p:spTgt spid="9"/>
                                        </p:tgtEl>
                                      </p:cBhvr>
                                      <p:by x="120038" y="120038"/>
                                    </p:animScale>
                                  </p:childTnLst>
                                </p:cTn>
                              </p:par>
                              <p:par>
                                <p:cTn id="388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indefinite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90" dur="indefinite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9004 0.162743 C 0.311824 0.237043 0.249301 0.359912 0.173906 0.417509 E" pathEditMode="relative" rAng="0">
                                      <p:cBhvr>
                                        <p:cTn id="392" dur="9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3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4" dur="950" fill="hold"/>
                                        <p:tgtEl>
                                          <p:spTgt spid="10"/>
                                        </p:tgtEl>
                                      </p:cBhvr>
                                      <p:by x="120038" y="120038"/>
                                    </p:animScale>
                                  </p:childTnLst>
                                </p:cTn>
                              </p:par>
                              <p:par>
                                <p:cTn id="395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3071 0.260874 C -0.227881 0.348581 -0.364167 0.348581 -0.478976 0.260874 E" pathEditMode="relative" rAng="0">
                                      <p:cBhvr>
                                        <p:cTn id="396" dur="9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7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3071 0.263746 C -0.227881 0.351453 -0.364167 0.351453 -0.478976 0.263746 E" pathEditMode="relative" rAng="0">
                                      <p:cBhvr>
                                        <p:cTn id="398" dur="9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9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0271 0.255513 C -0.22508 0.34322 -0.361367 0.34322 -0.476176 0.255513 E" pathEditMode="relative" rAng="0">
                                      <p:cBhvr>
                                        <p:cTn id="400" dur="9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1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3071 0.269873 C -0.227881 0.35758 -0.364167 0.35758 -0.478976 0.269873 E" pathEditMode="relative" rAng="0">
                                      <p:cBhvr>
                                        <p:cTn id="402" dur="9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3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3071 0.249578 C -0.227881 0.337285 -0.364167 0.337285 -0.478976 0.249578 E" pathEditMode="relative" rAng="0">
                                      <p:cBhvr>
                                        <p:cTn id="404" dur="9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5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2118 0.256279 C -0.236928 0.343986 -0.373214 0.343986 -0.488023 0.256279 E" pathEditMode="relative" rAng="0">
                                      <p:cBhvr>
                                        <p:cTn id="406" dur="9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7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indefinite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409" dur="indefinite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0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5905 0 C -0.441301 -0.057597 -0.503824 -0.180466 -0.478976 -0.260874 E" pathEditMode="relative" rAng="0">
                                      <p:cBhvr>
                                        <p:cTn id="411" dur="9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2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3" dur="950" fill="hold"/>
                                        <p:tgtEl>
                                          <p:spTgt spid="20"/>
                                        </p:tgtEl>
                                      </p:cBhvr>
                                      <p:by x="83307" y="83307"/>
                                    </p:animScale>
                                  </p:childTnLst>
                                </p:cTn>
                              </p:par>
                              <p:par>
                                <p:cTn id="414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indefinite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416" dur="indefinite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0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5905 0.002872 C -0.441301 -0.058543 -0.503824 -0.181412 -0.478976 -0.26182 E" pathEditMode="relative" rAng="0">
                                      <p:cBhvr>
                                        <p:cTn id="418" dur="9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9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0" dur="950" fill="hold"/>
                                        <p:tgtEl>
                                          <p:spTgt spid="24"/>
                                        </p:tgtEl>
                                      </p:cBhvr>
                                      <p:by x="83307" y="83307"/>
                                    </p:animScale>
                                  </p:childTnLst>
                                </p:cTn>
                              </p:par>
                              <p:par>
                                <p:cTn id="421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indefinite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423" dur="indefinite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0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3105 -0.005361 C -0.442223 -0.055831 -0.504746 -0.1787 -0.479899 -0.259109 E" pathEditMode="relative" rAng="0">
                                      <p:cBhvr>
                                        <p:cTn id="425" dur="9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6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7" dur="950" fill="hold"/>
                                        <p:tgtEl>
                                          <p:spTgt spid="23"/>
                                        </p:tgtEl>
                                      </p:cBhvr>
                                      <p:by x="83307" y="83307"/>
                                    </p:animScale>
                                  </p:childTnLst>
                                </p:cTn>
                              </p:par>
                              <p:par>
                                <p:cTn id="428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indefinite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430" dur="indefinite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0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5905 0.008999 C -0.441301 -0.060561 -0.503824 -0.18343 -0.478976 -0.263839 E" pathEditMode="relative" rAng="0">
                                      <p:cBhvr>
                                        <p:cTn id="432" dur="9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3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4" dur="950" fill="hold"/>
                                        <p:tgtEl>
                                          <p:spTgt spid="25"/>
                                        </p:tgtEl>
                                      </p:cBhvr>
                                      <p:by x="83307" y="83307"/>
                                    </p:animScale>
                                  </p:childTnLst>
                                </p:cTn>
                              </p:par>
                              <p:par>
                                <p:cTn id="435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indefinite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437" dur="indefinite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presetID="0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5905 -0.011297 C -0.441301 -0.053876 -0.503824 -0.176745 -0.478976 -0.257154 E" pathEditMode="relative" rAng="0">
                                      <p:cBhvr>
                                        <p:cTn id="439" dur="9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0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1" dur="950" fill="hold"/>
                                        <p:tgtEl>
                                          <p:spTgt spid="21"/>
                                        </p:tgtEl>
                                      </p:cBhvr>
                                      <p:by x="83307" y="83307"/>
                                    </p:animScale>
                                  </p:childTnLst>
                                </p:cTn>
                              </p:par>
                              <p:par>
                                <p:cTn id="442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indefinite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444" dur="indefinite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presetID="0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4952 -0.004595 C -0.438321 -0.056083 -0.500844 -0.178952 -0.475996 -0.259361 E" pathEditMode="relative" rAng="0">
                                      <p:cBhvr>
                                        <p:cTn id="446" dur="9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7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8" dur="950" fill="hold"/>
                                        <p:tgtEl>
                                          <p:spTgt spid="22"/>
                                        </p:tgtEl>
                                      </p:cBhvr>
                                      <p:by x="83307" y="83307"/>
                                    </p:animScale>
                                  </p:childTnLst>
                                </p:cTn>
                              </p:par>
                              <p:par>
                                <p:cTn id="449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48"/>
                                      </p:to>
                                    </p:set>
                                    <p:animEffect filter="image" prLst="opacity: 0.48">
                                      <p:cBhvr rctx="IE">
                                        <p:cTn id="451" dur="indefinite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3071 -0.260874 C -0.080767 -0.365414 0.046448 -0.422104 0.182953 -0.422104 E" pathEditMode="relative" rAng="0">
                                      <p:cBhvr>
                                        <p:cTn id="453" dur="9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4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55" dur="950" fill="hold"/>
                                        <p:tgtEl>
                                          <p:spTgt spid="26"/>
                                        </p:tgtEl>
                                      </p:cBhvr>
                                      <p:by x="83972" y="83972"/>
                                    </p:animScale>
                                  </p:childTnLst>
                                </p:cTn>
                              </p:par>
                              <p:par>
                                <p:cTn id="456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indefinite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48"/>
                                      </p:to>
                                    </p:set>
                                    <p:animEffect filter="image" prLst="opacity: 0.48">
                                      <p:cBhvr rctx="IE">
                                        <p:cTn id="458" dur="indefinite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3071 -0.26182 C -0.080767 -0.369414 0.046448 -0.426104 0.182953 -0.426104 E" pathEditMode="relative" rAng="0">
                                      <p:cBhvr>
                                        <p:cTn id="460" dur="9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1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2" dur="950" fill="hold"/>
                                        <p:tgtEl>
                                          <p:spTgt spid="30"/>
                                        </p:tgtEl>
                                      </p:cBhvr>
                                      <p:by x="83972" y="83972"/>
                                    </p:animScale>
                                  </p:childTnLst>
                                </p:cTn>
                              </p:par>
                              <p:par>
                                <p:cTn id="463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indefinite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48"/>
                                      </p:to>
                                    </p:set>
                                    <p:animEffect filter="image" prLst="opacity: 0.48">
                                      <p:cBhvr rctx="IE">
                                        <p:cTn id="465" dur="indefinite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3993 -0.259109 C -0.084667 -0.357948 0.042548 -0.414637 0.179053 -0.414637 E" pathEditMode="relative" rAng="0">
                                      <p:cBhvr>
                                        <p:cTn id="467" dur="9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8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9" dur="950" fill="hold"/>
                                        <p:tgtEl>
                                          <p:spTgt spid="29"/>
                                        </p:tgtEl>
                                      </p:cBhvr>
                                      <p:by x="83972" y="83972"/>
                                    </p:animScale>
                                  </p:childTnLst>
                                </p:cTn>
                              </p:par>
                              <p:par>
                                <p:cTn id="470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indefinite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48"/>
                                      </p:to>
                                    </p:set>
                                    <p:animEffect filter="image" prLst="opacity: 0.48">
                                      <p:cBhvr rctx="IE">
                                        <p:cTn id="472" dur="indefinite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3071 -0.263839 C -0.080767 -0.377948 0.046448 -0.434637 0.182953 -0.434637 E" pathEditMode="relative" rAng="0">
                                      <p:cBhvr>
                                        <p:cTn id="474" dur="9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5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76" dur="950" fill="hold"/>
                                        <p:tgtEl>
                                          <p:spTgt spid="31"/>
                                        </p:tgtEl>
                                      </p:cBhvr>
                                      <p:by x="83972" y="83972"/>
                                    </p:animScale>
                                  </p:childTnLst>
                                </p:cTn>
                              </p:par>
                              <p:par>
                                <p:cTn id="477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indefinite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48"/>
                                      </p:to>
                                    </p:set>
                                    <p:animEffect filter="image" prLst="opacity: 0.48">
                                      <p:cBhvr rctx="IE">
                                        <p:cTn id="479" dur="indefinite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0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3071 -0.257154 C -0.080767 -0.349681 0.046448 -0.406371 0.182953 -0.406371 E" pathEditMode="relative" rAng="0">
                                      <p:cBhvr>
                                        <p:cTn id="481" dur="9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2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3" dur="950" fill="hold"/>
                                        <p:tgtEl>
                                          <p:spTgt spid="27"/>
                                        </p:tgtEl>
                                      </p:cBhvr>
                                      <p:by x="83972" y="83972"/>
                                    </p:animScale>
                                  </p:childTnLst>
                                </p:cTn>
                              </p:par>
                              <p:par>
                                <p:cTn id="484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indefinite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48"/>
                                      </p:to>
                                    </p:set>
                                    <p:animEffect filter="image" prLst="opacity: 0.48">
                                      <p:cBhvr rctx="IE">
                                        <p:cTn id="486" dur="indefinite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0091 -0.259361 C -0.068166 -0.359014 0.059049 -0.415704 0.195553 -0.415704 E" pathEditMode="relative" rAng="0">
                                      <p:cBhvr>
                                        <p:cTn id="488" dur="9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9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0" dur="950" fill="hold"/>
                                        <p:tgtEl>
                                          <p:spTgt spid="28"/>
                                        </p:tgtEl>
                                      </p:cBhvr>
                                      <p:by x="83972" y="83972"/>
                                    </p:animScale>
                                  </p:childTnLst>
                                </p:cTn>
                              </p:par>
                              <p:par>
                                <p:cTn id="491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indefinite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493" dur="indefinite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6024 -0.16123 C 0.432528 -0.16123 0.559743 -0.10454 0.592048 0 E" pathEditMode="relative" rAng="0">
                                      <p:cBhvr>
                                        <p:cTn id="495" dur="9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6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7" dur="950" fill="hold"/>
                                        <p:tgtEl>
                                          <p:spTgt spid="32"/>
                                        </p:tgtEl>
                                      </p:cBhvr>
                                      <p:by x="119087" y="119087"/>
                                    </p:animScale>
                                  </p:childTnLst>
                                </p:cTn>
                              </p:par>
                              <p:par>
                                <p:cTn id="498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indefinite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500" dur="indefinite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1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6024 -0.16523 C 0.432528 -0.162176 0.559743 -0.105486 0.592048 -0.000946 E" pathEditMode="relative" rAng="0">
                                      <p:cBhvr>
                                        <p:cTn id="502" dur="9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3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04" dur="950" fill="hold"/>
                                        <p:tgtEl>
                                          <p:spTgt spid="36"/>
                                        </p:tgtEl>
                                      </p:cBhvr>
                                      <p:by x="119087" y="119087"/>
                                    </p:animScale>
                                  </p:childTnLst>
                                </p:cTn>
                              </p:par>
                              <p:par>
                                <p:cTn id="505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indefinite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507" dur="indefinite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2124 -0.153763 C 0.431606 -0.159464 0.558821 -0.102774 0.591125 0.001766 E" pathEditMode="relative" rAng="0">
                                      <p:cBhvr>
                                        <p:cTn id="509" dur="9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0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11" dur="950" fill="hold"/>
                                        <p:tgtEl>
                                          <p:spTgt spid="35"/>
                                        </p:tgtEl>
                                      </p:cBhvr>
                                      <p:by x="119087" y="119087"/>
                                    </p:animScale>
                                  </p:childTnLst>
                                </p:cTn>
                              </p:par>
                              <p:par>
                                <p:cTn id="512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indefinite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514" dur="indefinite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6024 -0.173763 C 0.432528 -0.164194 0.559743 -0.107504 0.592048 -0.002964 E" pathEditMode="relative" rAng="0">
                                      <p:cBhvr>
                                        <p:cTn id="516" dur="9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7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18" dur="950" fill="hold"/>
                                        <p:tgtEl>
                                          <p:spTgt spid="37"/>
                                        </p:tgtEl>
                                      </p:cBhvr>
                                      <p:by x="119087" y="119087"/>
                                    </p:animScale>
                                  </p:childTnLst>
                                </p:cTn>
                              </p:par>
                              <p:par>
                                <p:cTn id="519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indefinite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521" dur="indefinite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6024 -0.145496 C 0.432528 -0.157509 0.559743 -0.100819 0.592048 0.003721 E" pathEditMode="relative" rAng="0">
                                      <p:cBhvr>
                                        <p:cTn id="523" dur="9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4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25" dur="950" fill="hold"/>
                                        <p:tgtEl>
                                          <p:spTgt spid="33"/>
                                        </p:tgtEl>
                                      </p:cBhvr>
                                      <p:by x="119087" y="119087"/>
                                    </p:animScale>
                                  </p:childTnLst>
                                </p:cTn>
                              </p:par>
                              <p:par>
                                <p:cTn id="526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indefinite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95"/>
                                      </p:to>
                                    </p:set>
                                    <p:animEffect filter="image" prLst="opacity: 0.95">
                                      <p:cBhvr rctx="IE">
                                        <p:cTn id="528" dur="indefinite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9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8624 -0.15483 C 0.435508 -0.159716 0.562723 -0.103026 0.595028 0.001514 E" pathEditMode="relative" rAng="0">
                                      <p:cBhvr>
                                        <p:cTn id="530" dur="9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1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32" dur="950" fill="hold"/>
                                        <p:tgtEl>
                                          <p:spTgt spid="34"/>
                                        </p:tgtEl>
                                      </p:cBhvr>
                                      <p:by x="119087" y="119087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indefinite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9" presetClass="emph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indefinite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37" dur="indefinite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6" presetClass="emp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39" dur="550" fill="hold"/>
                                        <p:tgtEl>
                                          <p:spTgt spid="2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540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indefinite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42" dur="indefinite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3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-0.26182 L -0.478976 -0.258391 E" pathEditMode="relative" rAng="0" ptsTypes="AA">
                                      <p:cBhvr>
                                        <p:cTn id="54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5" presetID="6" presetClass="emp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46" dur="550" fill="hold"/>
                                        <p:tgtEl>
                                          <p:spTgt spid="24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547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indefinite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49" dur="indefinite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9899 -0.259109 L -0.476555 -0.265511 E" pathEditMode="relative" rAng="0" ptsTypes="AA">
                                      <p:cBhvr>
                                        <p:cTn id="551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2" presetID="6" presetClass="emp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53" dur="550" fill="hold"/>
                                        <p:tgtEl>
                                          <p:spTgt spid="2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554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indefinite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56" dur="indefinite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7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-0.263839 L -0.478976 -0.253092 E" pathEditMode="relative" rAng="0" ptsTypes="AA">
                                      <p:cBhvr>
                                        <p:cTn id="558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9" presetID="6" presetClass="emp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60" dur="550" fill="hold"/>
                                        <p:tgtEl>
                                          <p:spTgt spid="25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561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indefinite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63" dur="indefinite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-0.257154 L -0.478976 -0.270644 E" pathEditMode="relative" rAng="0" ptsTypes="AA">
                                      <p:cBhvr>
                                        <p:cTn id="565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6" presetID="6" presetClass="emp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67" dur="550" fill="hold"/>
                                        <p:tgtEl>
                                          <p:spTgt spid="2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568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indefinite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70" dur="indefinite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1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996 -0.259361 L -0.4868 -0.264848 E" pathEditMode="relative" rAng="0" ptsTypes="AA">
                                      <p:cBhvr>
                                        <p:cTn id="572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3" presetID="6" presetClass="emp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74" dur="550" fill="hold"/>
                                        <p:tgtEl>
                                          <p:spTgt spid="2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575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577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8" presetID="6" presetClass="emp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79" dur="550" fill="hold"/>
                                        <p:tgtEl>
                                          <p:spTgt spid="8"/>
                                        </p:tgtEl>
                                      </p:cBhvr>
                                      <p:by x="87443" y="87443"/>
                                    </p:animScale>
                                  </p:childTnLst>
                                </p:cTn>
                              </p:par>
                              <p:par>
                                <p:cTn id="580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582" dur="indefinite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3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953 0.424976 L 0.182953 0.422104 E" pathEditMode="relative" rAng="0" ptsTypes="AA">
                                      <p:cBhvr>
                                        <p:cTn id="58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5" presetID="6" presetClass="emp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6" dur="550" fill="hold"/>
                                        <p:tgtEl>
                                          <p:spTgt spid="12"/>
                                        </p:tgtEl>
                                      </p:cBhvr>
                                      <p:by x="87443" y="87443"/>
                                    </p:animScale>
                                  </p:childTnLst>
                                </p:cTn>
                              </p:par>
                              <p:par>
                                <p:cTn id="587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indefinite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589" dur="indefinite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5753 0.416743 L 0.182953 0.422104 E" pathEditMode="relative" rAng="0" ptsTypes="AA">
                                      <p:cBhvr>
                                        <p:cTn id="59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2" presetID="6" presetClass="emp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93" dur="550" fill="hold"/>
                                        <p:tgtEl>
                                          <p:spTgt spid="11"/>
                                        </p:tgtEl>
                                      </p:cBhvr>
                                      <p:by x="87443" y="87443"/>
                                    </p:animScale>
                                  </p:childTnLst>
                                </p:cTn>
                              </p:par>
                              <p:par>
                                <p:cTn id="594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indefinite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596" dur="indefinite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953 0.431103 L 0.182953 0.422104 E" pathEditMode="relative" rAng="0" ptsTypes="AA">
                                      <p:cBhvr>
                                        <p:cTn id="59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9" presetID="6" presetClass="emp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0" dur="550" fill="hold"/>
                                        <p:tgtEl>
                                          <p:spTgt spid="13"/>
                                        </p:tgtEl>
                                      </p:cBhvr>
                                      <p:by x="87443" y="87443"/>
                                    </p:animScale>
                                  </p:childTnLst>
                                </p:cTn>
                              </p:par>
                              <p:par>
                                <p:cTn id="601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03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953 0.410807 L 0.182953 0.422104 E" pathEditMode="relative" rAng="0" ptsTypes="AA">
                                      <p:cBhvr>
                                        <p:cTn id="605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6" presetID="6" presetClass="emp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7" dur="550" fill="hold"/>
                                        <p:tgtEl>
                                          <p:spTgt spid="9"/>
                                        </p:tgtEl>
                                      </p:cBhvr>
                                      <p:by x="87443" y="87443"/>
                                    </p:animScale>
                                  </p:childTnLst>
                                </p:cTn>
                              </p:par>
                              <p:par>
                                <p:cTn id="608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indefinite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10" dur="indefinite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1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3906 0.417509 L 0.182953 0.422104 E" pathEditMode="relative" rAng="0" ptsTypes="AA">
                                      <p:cBhvr>
                                        <p:cTn id="61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3" presetID="6" presetClass="emp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14" dur="550" fill="hold"/>
                                        <p:tgtEl>
                                          <p:spTgt spid="10"/>
                                        </p:tgtEl>
                                      </p:cBhvr>
                                      <p:by x="87443" y="87443"/>
                                    </p:animScale>
                                  </p:childTnLst>
                                </p:cTn>
                              </p:par>
                              <p:par>
                                <p:cTn id="615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indefinite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17" dur="indefinite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8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19" dur="550" fill="hold"/>
                                        <p:tgtEl>
                                          <p:spTgt spid="14"/>
                                        </p:tgtEl>
                                      </p:cBhvr>
                                      <p:by x="87443" y="87443"/>
                                    </p:animScale>
                                  </p:childTnLst>
                                </p:cTn>
                              </p:par>
                              <p:par>
                                <p:cTn id="620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indefinite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22" dur="indefinite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0.263746 L -0.478976 0.260874 E" pathEditMode="relative" rAng="0" ptsTypes="AA">
                                      <p:cBhvr>
                                        <p:cTn id="62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5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26" dur="550" fill="hold"/>
                                        <p:tgtEl>
                                          <p:spTgt spid="18"/>
                                        </p:tgtEl>
                                      </p:cBhvr>
                                      <p:by x="87443" y="87443"/>
                                    </p:animScale>
                                  </p:childTnLst>
                                </p:cTn>
                              </p:par>
                              <p:par>
                                <p:cTn id="627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indefinite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29" dur="indefinite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0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6176 0.255513 L -0.478976 0.260874 E" pathEditMode="relative" rAng="0" ptsTypes="AA">
                                      <p:cBhvr>
                                        <p:cTn id="63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2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3" dur="550" fill="hold"/>
                                        <p:tgtEl>
                                          <p:spTgt spid="17"/>
                                        </p:tgtEl>
                                      </p:cBhvr>
                                      <p:by x="87443" y="87443"/>
                                    </p:animScale>
                                  </p:childTnLst>
                                </p:cTn>
                              </p:par>
                              <p:par>
                                <p:cTn id="634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indefinite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36" dur="indefinite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7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0.269873 L -0.478976 0.260874 E" pathEditMode="relative" rAng="0" ptsTypes="AA">
                                      <p:cBhvr>
                                        <p:cTn id="63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9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40" dur="550" fill="hold"/>
                                        <p:tgtEl>
                                          <p:spTgt spid="19"/>
                                        </p:tgtEl>
                                      </p:cBhvr>
                                      <p:by x="87443" y="87443"/>
                                    </p:animScale>
                                  </p:childTnLst>
                                </p:cTn>
                              </p:par>
                              <p:par>
                                <p:cTn id="641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indefinite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43" dur="indefinite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0.249578 L -0.478976 0.260874 E" pathEditMode="relative" rAng="0" ptsTypes="AA">
                                      <p:cBhvr>
                                        <p:cTn id="645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6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47" dur="550" fill="hold"/>
                                        <p:tgtEl>
                                          <p:spTgt spid="15"/>
                                        </p:tgtEl>
                                      </p:cBhvr>
                                      <p:by x="87443" y="87443"/>
                                    </p:animScale>
                                  </p:childTnLst>
                                </p:cTn>
                              </p:par>
                              <p:par>
                                <p:cTn id="648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indefinite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50" dur="indefinite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1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88023 0.256279 L -0.478976 0.260874 E" pathEditMode="relative" rAng="0" ptsTypes="AA">
                                      <p:cBhvr>
                                        <p:cTn id="65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3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54" dur="550" fill="hold"/>
                                        <p:tgtEl>
                                          <p:spTgt spid="16"/>
                                        </p:tgtEl>
                                      </p:cBhvr>
                                      <p:by x="87443" y="87443"/>
                                    </p:animScale>
                                  </p:childTnLst>
                                </p:cTn>
                              </p:par>
                              <p:par>
                                <p:cTn id="655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57" dur="indefinite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indefinite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60" dur="indefinite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1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indefinite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63" dur="indefinite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indefinite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66" dur="indefinite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7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indefinite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69" dur="indefinite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indefinite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72" dur="indefinite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3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indefinite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75" dur="indefinite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indefinite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78" dur="indefinite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9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indefinite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81" dur="indefinite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3" dur="indefinite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84" dur="indefinite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5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indefinite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87" dur="indefinite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indefinite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2"/>
                                      </p:to>
                                    </p:set>
                                    <p:animEffect filter="image" prLst="opacity: 0.32">
                                      <p:cBhvr rctx="IE">
                                        <p:cTn id="690" dur="indefinite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1" presetID="7" presetClass="emph" presetSubtype="0" fill="hold" grpId="9" nodeType="withEffect">
                                  <p:stCondLst>
                                    <p:cond delay="550"/>
                                  </p:stCondLst>
                                  <p:childTnLst>
                                    <p:animClr clrSpc="rgb">
                                      <p:cBhvr>
                                        <p:cTn id="69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11D4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3" fill="hold">
                      <p:stCondLst>
                        <p:cond delay="indefinite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presetID="9" presetClass="emph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697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8" presetID="0" presetClass="pat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953 0.422104 L 0 0 E" pathEditMode="relative" rAng="0" ptsTypes="AA">
                                      <p:cBhvr>
                                        <p:cTn id="699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0" presetID="9" presetClass="emph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02" dur="indefinite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3" presetID="0" presetClass="path" presetSubtype="0" accel="50000" decel="5000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953 0.422104 L 0 0 E" pathEditMode="relative" rAng="0" ptsTypes="AA">
                                      <p:cBhvr>
                                        <p:cTn id="70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5" presetID="9" presetClass="emph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indefinite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07" dur="indefinite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8" presetID="0" presetClass="path" presetSubtype="0" accel="50000" decel="5000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953 0.422104 L 0 0 E" pathEditMode="relative" rAng="0" ptsTypes="AA">
                                      <p:cBhvr>
                                        <p:cTn id="70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0" presetID="9" presetClass="emph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indefinite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12" dur="indefinite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3" presetID="0" presetClass="path" presetSubtype="0" accel="50000" decel="5000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953 0.422104 L 0 0 E" pathEditMode="relative" rAng="0" ptsTypes="AA">
                                      <p:cBhvr>
                                        <p:cTn id="714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5" presetID="9" presetClass="emph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6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17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8" presetID="0" presetClass="path" presetSubtype="0" accel="50000" decel="5000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953 0.422104 L 0 0 E" pathEditMode="relative" rAng="0" ptsTypes="AA">
                                      <p:cBhvr>
                                        <p:cTn id="71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0" presetID="9" presetClass="emph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indefinite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22" dur="indefinite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3" presetID="0" presetClass="path" presetSubtype="0" accel="50000" decel="5000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953 0.422104 L 0 0 E" pathEditMode="relative" rAng="0" ptsTypes="AA">
                                      <p:cBhvr>
                                        <p:cTn id="72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5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indefinite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27" dur="indefinite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8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0.260874 L 0 0 E" pathEditMode="relative" rAng="0" ptsTypes="AA">
                                      <p:cBhvr>
                                        <p:cTn id="729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0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indefinite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32" dur="indefinite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3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0.260874 L 0 0 E" pathEditMode="relative" rAng="0" ptsTypes="AA">
                                      <p:cBhvr>
                                        <p:cTn id="73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5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indefinite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37" dur="indefinite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8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0.260874 L 0 0 E" pathEditMode="relative" rAng="0" ptsTypes="AA">
                                      <p:cBhvr>
                                        <p:cTn id="739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0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indefinite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42" dur="indefinite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3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0.260874 L 0 0 E" pathEditMode="relative" rAng="0" ptsTypes="AA">
                                      <p:cBhvr>
                                        <p:cTn id="74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5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6" dur="indefinite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47" dur="indefinite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0.260874 L 0 0 E" pathEditMode="relative" rAng="0" ptsTypes="AA">
                                      <p:cBhvr>
                                        <p:cTn id="749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0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indefinite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52" dur="indefinite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3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0.260874 L 0 0 E" pathEditMode="relative" rAng="0" ptsTypes="AA">
                                      <p:cBhvr>
                                        <p:cTn id="75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5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-0.260874 L 0 0 E" pathEditMode="relative" rAng="0" ptsTypes="AA">
                                      <p:cBhvr>
                                        <p:cTn id="75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7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58" dur="600" fill="hold"/>
                                        <p:tgtEl>
                                          <p:spTgt spid="20"/>
                                        </p:tgtEl>
                                      </p:cBhvr>
                                      <p:by x="88953" y="88953"/>
                                    </p:animScale>
                                  </p:childTnLst>
                                </p:cTn>
                              </p:par>
                              <p:par>
                                <p:cTn id="759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-0.258391 L 0 0 E" pathEditMode="relative" rAng="0" ptsTypes="AA">
                                      <p:cBhvr>
                                        <p:cTn id="760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1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62" dur="600" fill="hold"/>
                                        <p:tgtEl>
                                          <p:spTgt spid="24"/>
                                        </p:tgtEl>
                                      </p:cBhvr>
                                      <p:by x="88953" y="88953"/>
                                    </p:animScale>
                                  </p:childTnLst>
                                </p:cTn>
                              </p:par>
                              <p:par>
                                <p:cTn id="763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6555 -0.265511 L 0 0 E" pathEditMode="relative" rAng="0" ptsTypes="AA">
                                      <p:cBhvr>
                                        <p:cTn id="764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5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66" dur="600" fill="hold"/>
                                        <p:tgtEl>
                                          <p:spTgt spid="23"/>
                                        </p:tgtEl>
                                      </p:cBhvr>
                                      <p:by x="88953" y="88953"/>
                                    </p:animScale>
                                  </p:childTnLst>
                                </p:cTn>
                              </p:par>
                              <p:par>
                                <p:cTn id="767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-0.253092 L 0 0 E" pathEditMode="relative" rAng="0" ptsTypes="AA">
                                      <p:cBhvr>
                                        <p:cTn id="7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9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70" dur="600" fill="hold"/>
                                        <p:tgtEl>
                                          <p:spTgt spid="25"/>
                                        </p:tgtEl>
                                      </p:cBhvr>
                                      <p:by x="88953" y="88953"/>
                                    </p:animScale>
                                  </p:childTnLst>
                                </p:cTn>
                              </p:par>
                              <p:par>
                                <p:cTn id="771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8976 -0.270644 L 0 0 E" pathEditMode="relative" rAng="0" ptsTypes="AA">
                                      <p:cBhvr>
                                        <p:cTn id="77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3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74" dur="600" fill="hold"/>
                                        <p:tgtEl>
                                          <p:spTgt spid="21"/>
                                        </p:tgtEl>
                                      </p:cBhvr>
                                      <p:by x="88953" y="88953"/>
                                    </p:animScale>
                                  </p:childTnLst>
                                </p:cTn>
                              </p:par>
                              <p:par>
                                <p:cTn id="775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868 -0.264848 L 0 0 E" pathEditMode="relative" rAng="0" ptsTypes="AA">
                                      <p:cBhvr>
                                        <p:cTn id="77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7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78" dur="600" fill="hold"/>
                                        <p:tgtEl>
                                          <p:spTgt spid="22"/>
                                        </p:tgtEl>
                                      </p:cBhvr>
                                      <p:by x="88953" y="88953"/>
                                    </p:animScale>
                                  </p:childTnLst>
                                </p:cTn>
                              </p:par>
                              <p:par>
                                <p:cTn id="779" presetID="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81" dur="indefinite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2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953 -0.422104 L 0 0 E" pathEditMode="relative" rAng="0" ptsTypes="AA">
                                      <p:cBhvr>
                                        <p:cTn id="78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4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5" dur="600" fill="hold"/>
                                        <p:tgtEl>
                                          <p:spTgt spid="26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786" presetID="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indefinite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88" dur="indefinite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9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953 -0.426104 L 0 0 E" pathEditMode="relative" rAng="0" ptsTypes="AA">
                                      <p:cBhvr>
                                        <p:cTn id="790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1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92" dur="600" fill="hold"/>
                                        <p:tgtEl>
                                          <p:spTgt spid="30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793" presetID="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indefinite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95" dur="indefinite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053 -0.414637 L 0 0 E" pathEditMode="relative" rAng="0" ptsTypes="AA">
                                      <p:cBhvr>
                                        <p:cTn id="797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8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99" dur="600" fill="hold"/>
                                        <p:tgtEl>
                                          <p:spTgt spid="29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00" presetID="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indefinite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02" dur="indefinite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3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953 -0.434637 L 0 0 E" pathEditMode="relative" rAng="0" ptsTypes="AA">
                                      <p:cBhvr>
                                        <p:cTn id="804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5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06" dur="600" fill="hold"/>
                                        <p:tgtEl>
                                          <p:spTgt spid="3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07" presetID="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indefinite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09" dur="indefinite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0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953 -0.406371 L 0 0 E" pathEditMode="relative" rAng="0" ptsTypes="AA">
                                      <p:cBhvr>
                                        <p:cTn id="811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2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13" dur="600" fill="hold"/>
                                        <p:tgtEl>
                                          <p:spTgt spid="27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14" presetID="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5" dur="indefinite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16" dur="indefinite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7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553 -0.415704 L 0 0 E" pathEditMode="relative" rAng="0" ptsTypes="AA">
                                      <p:cBhvr>
                                        <p:cTn id="818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9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20" dur="600" fill="hold"/>
                                        <p:tgtEl>
                                          <p:spTgt spid="28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21" presetID="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indefinite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23" dur="indefinite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2048 0 L 0 0 E" pathEditMode="relative" rAng="0" ptsTypes="AA">
                                      <p:cBhvr>
                                        <p:cTn id="825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6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27" dur="600" fill="hold"/>
                                        <p:tgtEl>
                                          <p:spTgt spid="32"/>
                                        </p:tgtEl>
                                      </p:cBhvr>
                                      <p:by x="104965" y="104965"/>
                                    </p:animScale>
                                  </p:childTnLst>
                                </p:cTn>
                              </p:par>
                              <p:par>
                                <p:cTn id="828" presetID="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indefinite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30" dur="indefinite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1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2048 -0.000946 L 0 0 E" pathEditMode="relative" rAng="0" ptsTypes="AA">
                                      <p:cBhvr>
                                        <p:cTn id="832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3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34" dur="600" fill="hold"/>
                                        <p:tgtEl>
                                          <p:spTgt spid="36"/>
                                        </p:tgtEl>
                                      </p:cBhvr>
                                      <p:by x="104965" y="104965"/>
                                    </p:animScale>
                                  </p:childTnLst>
                                </p:cTn>
                              </p:par>
                              <p:par>
                                <p:cTn id="835" presetID="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6" dur="indefinite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37" dur="indefinite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1125 0.001766 L 0 0 E" pathEditMode="relative" rAng="0" ptsTypes="AA">
                                      <p:cBhvr>
                                        <p:cTn id="839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0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41" dur="600" fill="hold"/>
                                        <p:tgtEl>
                                          <p:spTgt spid="35"/>
                                        </p:tgtEl>
                                      </p:cBhvr>
                                      <p:by x="104965" y="104965"/>
                                    </p:animScale>
                                  </p:childTnLst>
                                </p:cTn>
                              </p:par>
                              <p:par>
                                <p:cTn id="842" presetID="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indefinite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44" dur="indefinite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5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2048 -0.002964 L 0 0 E" pathEditMode="relative" rAng="0" ptsTypes="AA">
                                      <p:cBhvr>
                                        <p:cTn id="846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7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48" dur="600" fill="hold"/>
                                        <p:tgtEl>
                                          <p:spTgt spid="37"/>
                                        </p:tgtEl>
                                      </p:cBhvr>
                                      <p:by x="104965" y="104965"/>
                                    </p:animScale>
                                  </p:childTnLst>
                                </p:cTn>
                              </p:par>
                              <p:par>
                                <p:cTn id="849" presetID="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0" dur="indefinite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51" dur="indefinite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2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2048 0.003721 L 0 0 E" pathEditMode="relative" rAng="0" ptsTypes="AA">
                                      <p:cBhvr>
                                        <p:cTn id="853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4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55" dur="600" fill="hold"/>
                                        <p:tgtEl>
                                          <p:spTgt spid="33"/>
                                        </p:tgtEl>
                                      </p:cBhvr>
                                      <p:by x="104965" y="104965"/>
                                    </p:animScale>
                                  </p:childTnLst>
                                </p:cTn>
                              </p:par>
                              <p:par>
                                <p:cTn id="856" presetID="9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7" dur="indefinite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58" dur="indefinite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9" presetID="0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5028 0.001514 L 0 0 E" pathEditMode="relative" rAng="0" ptsTypes="AA">
                                      <p:cBhvr>
                                        <p:cTn id="860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1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62" dur="600" fill="hold"/>
                                        <p:tgtEl>
                                          <p:spTgt spid="34"/>
                                        </p:tgtEl>
                                      </p:cBhvr>
                                      <p:by x="104965" y="104965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8" grpId="6" animBg="1"/>
      <p:bldP spid="8" grpId="7" animBg="1"/>
      <p:bldP spid="8" grpId="8" animBg="1"/>
      <p:bldP spid="8" grpId="9" animBg="1"/>
      <p:bldP spid="8" grpId="10" animBg="1"/>
      <p:bldP spid="8" grpId="11" animBg="1"/>
      <p:bldP spid="9" grpId="0" animBg="1"/>
      <p:bldP spid="9" grpId="1" animBg="1"/>
      <p:bldP spid="9" grpId="2" animBg="1"/>
      <p:bldP spid="9" grpId="3" animBg="1"/>
      <p:bldP spid="9" grpId="4" animBg="1"/>
      <p:bldP spid="9" grpId="5" animBg="1"/>
      <p:bldP spid="9" grpId="6" animBg="1"/>
      <p:bldP spid="9" grpId="7" animBg="1"/>
      <p:bldP spid="9" grpId="8" animBg="1"/>
      <p:bldP spid="9" grpId="9" animBg="1"/>
      <p:bldP spid="9" grpId="10" animBg="1"/>
      <p:bldP spid="9" grpId="11" animBg="1"/>
      <p:bldP spid="9" grpId="12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4" grpId="0" animBg="1"/>
      <p:bldP spid="14" grpId="1" animBg="1"/>
      <p:bldP spid="14" grpId="2" animBg="1"/>
      <p:bldP spid="14" grpId="3" animBg="1"/>
      <p:bldP spid="14" grpId="4" animBg="1"/>
      <p:bldP spid="14" grpId="5" animBg="1"/>
      <p:bldP spid="14" grpId="6" animBg="1"/>
      <p:bldP spid="14" grpId="7" animBg="1"/>
      <p:bldP spid="14" grpId="8" animBg="1"/>
      <p:bldP spid="15" grpId="0" animBg="1"/>
      <p:bldP spid="15" grpId="1" animBg="1"/>
      <p:bldP spid="15" grpId="2" animBg="1"/>
      <p:bldP spid="15" grpId="3" animBg="1"/>
      <p:bldP spid="15" grpId="4" animBg="1"/>
      <p:bldP spid="15" grpId="5" animBg="1"/>
      <p:bldP spid="15" grpId="6" animBg="1"/>
      <p:bldP spid="15" grpId="7" animBg="1"/>
      <p:bldP spid="15" grpId="8" animBg="1"/>
      <p:bldP spid="15" grpId="9" animBg="1"/>
      <p:bldP spid="16" grpId="0" animBg="1"/>
      <p:bldP spid="16" grpId="1" animBg="1"/>
      <p:bldP spid="16" grpId="2" animBg="1"/>
      <p:bldP spid="16" grpId="3" animBg="1"/>
      <p:bldP spid="16" grpId="4" animBg="1"/>
      <p:bldP spid="16" grpId="5" animBg="1"/>
      <p:bldP spid="16" grpId="6" animBg="1"/>
      <p:bldP spid="16" grpId="7" animBg="1"/>
      <p:bldP spid="16" grpId="8" animBg="1"/>
      <p:bldP spid="16" grpId="9" animBg="1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7" grpId="6" animBg="1"/>
      <p:bldP spid="17" grpId="7" animBg="1"/>
      <p:bldP spid="17" grpId="8" animBg="1"/>
      <p:bldP spid="17" grpId="9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21" grpId="11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2" grpId="6" animBg="1"/>
      <p:bldP spid="22" grpId="7" animBg="1"/>
      <p:bldP spid="22" grpId="8" animBg="1"/>
      <p:bldP spid="22" grpId="9" animBg="1"/>
      <p:bldP spid="22" grpId="10" animBg="1"/>
      <p:bldP spid="22" grpId="11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3" grpId="6" animBg="1"/>
      <p:bldP spid="23" grpId="7" animBg="1"/>
      <p:bldP spid="23" grpId="8" animBg="1"/>
      <p:bldP spid="23" grpId="9" animBg="1"/>
      <p:bldP spid="23" grpId="10" animBg="1"/>
      <p:bldP spid="23" grpId="11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8" grpId="0" animBg="1"/>
      <p:bldP spid="28" grpId="1" animBg="1"/>
      <p:bldP spid="28" grpId="2" animBg="1"/>
      <p:bldP spid="28" grpId="3" animBg="1"/>
      <p:bldP spid="28" grpId="4" animBg="1"/>
      <p:bldP spid="28" grpId="5" animBg="1"/>
      <p:bldP spid="28" grpId="6" animBg="1"/>
      <p:bldP spid="28" grpId="7" animBg="1"/>
      <p:bldP spid="28" grpId="8" animBg="1"/>
      <p:bldP spid="28" grpId="9" animBg="1"/>
      <p:bldP spid="28" grpId="10" animBg="1"/>
      <p:bldP spid="28" grpId="11" animBg="1"/>
      <p:bldP spid="29" grpId="0" animBg="1"/>
      <p:bldP spid="29" grpId="1" animBg="1"/>
      <p:bldP spid="29" grpId="2" animBg="1"/>
      <p:bldP spid="29" grpId="3" animBg="1"/>
      <p:bldP spid="29" grpId="4" animBg="1"/>
      <p:bldP spid="29" grpId="5" animBg="1"/>
      <p:bldP spid="29" grpId="6" animBg="1"/>
      <p:bldP spid="29" grpId="7" animBg="1"/>
      <p:bldP spid="29" grpId="8" animBg="1"/>
      <p:bldP spid="29" grpId="9" animBg="1"/>
      <p:bldP spid="29" grpId="10" animBg="1"/>
      <p:bldP spid="29" grpId="11" animBg="1"/>
      <p:bldP spid="30" grpId="0" animBg="1"/>
      <p:bldP spid="30" grpId="1" animBg="1"/>
      <p:bldP spid="30" grpId="2" animBg="1"/>
      <p:bldP spid="30" grpId="3" animBg="1"/>
      <p:bldP spid="30" grpId="4" animBg="1"/>
      <p:bldP spid="30" grpId="5" animBg="1"/>
      <p:bldP spid="30" grpId="6" animBg="1"/>
      <p:bldP spid="30" grpId="7" animBg="1"/>
      <p:bldP spid="30" grpId="8" animBg="1"/>
      <p:bldP spid="30" grpId="9" animBg="1"/>
      <p:bldP spid="30" grpId="10" animBg="1"/>
      <p:bldP spid="30" grpId="11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5" grpId="0" animBg="1"/>
      <p:bldP spid="35" grpId="1" animBg="1"/>
      <p:bldP spid="35" grpId="2" animBg="1"/>
      <p:bldP spid="35" grpId="3" animBg="1"/>
      <p:bldP spid="35" grpId="4" animBg="1"/>
      <p:bldP spid="35" grpId="5" animBg="1"/>
      <p:bldP spid="35" grpId="6" animBg="1"/>
      <p:bldP spid="35" grpId="7" animBg="1"/>
      <p:bldP spid="35" grpId="8" animBg="1"/>
      <p:bldP spid="35" grpId="9" animBg="1"/>
      <p:bldP spid="35" grpId="10" animBg="1"/>
      <p:bldP spid="35" grpId="11" animBg="1"/>
      <p:bldP spid="36" grpId="0" animBg="1"/>
      <p:bldP spid="36" grpId="1" animBg="1"/>
      <p:bldP spid="36" grpId="2" animBg="1"/>
      <p:bldP spid="36" grpId="3" animBg="1"/>
      <p:bldP spid="36" grpId="4" animBg="1"/>
      <p:bldP spid="36" grpId="5" animBg="1"/>
      <p:bldP spid="36" grpId="6" animBg="1"/>
      <p:bldP spid="36" grpId="7" animBg="1"/>
      <p:bldP spid="36" grpId="8" animBg="1"/>
      <p:bldP spid="36" grpId="9" animBg="1"/>
      <p:bldP spid="36" grpId="10" animBg="1"/>
      <p:bldP spid="36" grpId="11" animBg="1"/>
      <p:bldP spid="37" grpId="0" animBg="1"/>
      <p:bldP spid="37" grpId="1" animBg="1"/>
      <p:bldP spid="37" grpId="2" animBg="1"/>
      <p:bldP spid="37" grpId="3" animBg="1"/>
      <p:bldP spid="37" grpId="4" animBg="1"/>
      <p:bldP spid="37" grpId="5" animBg="1"/>
      <p:bldP spid="37" grpId="6" animBg="1"/>
      <p:bldP spid="37" grpId="7" animBg="1"/>
      <p:bldP spid="37" grpId="8" animBg="1"/>
      <p:bldP spid="37" grpId="9" animBg="1"/>
      <p:bldP spid="37" grpId="10" animBg="1"/>
      <p:bldP spid="37" grpId="11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3 Kicker"/>
          <p:cNvSpPr txBox="1"/>
          <p:nvPr/>
        </p:nvSpPr>
        <p:spPr>
          <a:xfrm>
            <a:off x="594360" y="292608"/>
            <a:ext cx="77724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DejaVu Sans"/>
              </a:rPr>
              <a:t>EXPLODED STRATA · CONCURRENT SWARM · AUTO-ARC OBSTACLE SOLVER</a:t>
            </a:r>
          </a:p>
        </p:txBody>
      </p:sp>
      <p:sp>
        <p:nvSpPr>
          <p:cNvPr id="3" name="S3 Title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DejaVu Sans"/>
              </a:rPr>
              <a:t>5-Layer Silicon-to-Cloud Stack &amp; 4-Packet Braided Telemetry Flow</a:t>
            </a:r>
          </a:p>
        </p:txBody>
      </p:sp>
      <p:sp>
        <p:nvSpPr>
          <p:cNvPr id="4" name="Layer L1"/>
          <p:cNvSpPr/>
          <p:nvPr/>
        </p:nvSpPr>
        <p:spPr>
          <a:xfrm>
            <a:off x="594360" y="2148840"/>
            <a:ext cx="493776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yer L1 Tag"/>
          <p:cNvSpPr/>
          <p:nvPr/>
        </p:nvSpPr>
        <p:spPr>
          <a:xfrm>
            <a:off x="685800" y="2240280"/>
            <a:ext cx="530352" cy="384048"/>
          </a:xfrm>
          <a:prstGeom prst="chevr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L1</a:t>
            </a:r>
          </a:p>
        </p:txBody>
      </p:sp>
      <p:sp>
        <p:nvSpPr>
          <p:cNvPr id="6" name="Layer L1 Title"/>
          <p:cNvSpPr txBox="1"/>
          <p:nvPr/>
        </p:nvSpPr>
        <p:spPr>
          <a:xfrm>
            <a:off x="1289304" y="2203704"/>
            <a:ext cx="2331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Optical PHY Interconnect</a:t>
            </a:r>
          </a:p>
        </p:txBody>
      </p:sp>
      <p:sp>
        <p:nvSpPr>
          <p:cNvPr id="7" name="Layer L1 Sub"/>
          <p:cNvSpPr txBox="1"/>
          <p:nvPr/>
        </p:nvSpPr>
        <p:spPr>
          <a:xfrm>
            <a:off x="1289304" y="2441448"/>
            <a:ext cx="23317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800G Co-Packaged Silicon Photonics</a:t>
            </a:r>
          </a:p>
        </p:txBody>
      </p:sp>
      <p:sp>
        <p:nvSpPr>
          <p:cNvPr id="8" name="Layer L1 TileA"/>
          <p:cNvSpPr/>
          <p:nvPr/>
        </p:nvSpPr>
        <p:spPr>
          <a:xfrm>
            <a:off x="3703320" y="2258568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6B6D4"/>
                </a:solidFill>
                <a:latin typeface="DejaVu Sans"/>
              </a:rPr>
              <a:t>Bank A</a:t>
            </a:r>
          </a:p>
        </p:txBody>
      </p:sp>
      <p:sp>
        <p:nvSpPr>
          <p:cNvPr id="9" name="Layer L1 TileB"/>
          <p:cNvSpPr/>
          <p:nvPr/>
        </p:nvSpPr>
        <p:spPr>
          <a:xfrm>
            <a:off x="4599432" y="2258568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8FAFC"/>
                </a:solidFill>
                <a:latin typeface="DejaVu Sans"/>
              </a:rPr>
              <a:t>1.6 Tbps/lane</a:t>
            </a:r>
          </a:p>
        </p:txBody>
      </p:sp>
      <p:sp>
        <p:nvSpPr>
          <p:cNvPr id="10" name="Layer L2"/>
          <p:cNvSpPr/>
          <p:nvPr/>
        </p:nvSpPr>
        <p:spPr>
          <a:xfrm>
            <a:off x="594360" y="2807208"/>
            <a:ext cx="493776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yer L2 Tag"/>
          <p:cNvSpPr/>
          <p:nvPr/>
        </p:nvSpPr>
        <p:spPr>
          <a:xfrm>
            <a:off x="685800" y="2898648"/>
            <a:ext cx="530352" cy="384048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L2</a:t>
            </a:r>
          </a:p>
        </p:txBody>
      </p:sp>
      <p:sp>
        <p:nvSpPr>
          <p:cNvPr id="12" name="Layer L2 Title"/>
          <p:cNvSpPr txBox="1"/>
          <p:nvPr/>
        </p:nvSpPr>
        <p:spPr>
          <a:xfrm>
            <a:off x="1289304" y="2862072"/>
            <a:ext cx="2331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HBM3e Crossbar Fabric</a:t>
            </a:r>
          </a:p>
        </p:txBody>
      </p:sp>
      <p:sp>
        <p:nvSpPr>
          <p:cNvPr id="13" name="Layer L2 Sub"/>
          <p:cNvSpPr txBox="1"/>
          <p:nvPr/>
        </p:nvSpPr>
        <p:spPr>
          <a:xfrm>
            <a:off x="1289304" y="3099816"/>
            <a:ext cx="23317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Non-Blocking 3D Mesh Switch</a:t>
            </a:r>
          </a:p>
        </p:txBody>
      </p:sp>
      <p:sp>
        <p:nvSpPr>
          <p:cNvPr id="14" name="Layer L2 TileA"/>
          <p:cNvSpPr/>
          <p:nvPr/>
        </p:nvSpPr>
        <p:spPr>
          <a:xfrm>
            <a:off x="3703320" y="2916936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D9488"/>
                </a:solidFill>
                <a:latin typeface="DejaVu Sans"/>
              </a:rPr>
              <a:t>Bank A</a:t>
            </a:r>
          </a:p>
        </p:txBody>
      </p:sp>
      <p:sp>
        <p:nvSpPr>
          <p:cNvPr id="15" name="Layer L2 TileB"/>
          <p:cNvSpPr/>
          <p:nvPr/>
        </p:nvSpPr>
        <p:spPr>
          <a:xfrm>
            <a:off x="4599432" y="2916936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8FAFC"/>
                </a:solidFill>
                <a:latin typeface="DejaVu Sans"/>
              </a:rPr>
              <a:t>14.4 TB/s</a:t>
            </a:r>
          </a:p>
        </p:txBody>
      </p:sp>
      <p:sp>
        <p:nvSpPr>
          <p:cNvPr id="16" name="Layer L3"/>
          <p:cNvSpPr/>
          <p:nvPr/>
        </p:nvSpPr>
        <p:spPr>
          <a:xfrm>
            <a:off x="594360" y="3465576"/>
            <a:ext cx="493776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ayer L3 Tag"/>
          <p:cNvSpPr/>
          <p:nvPr/>
        </p:nvSpPr>
        <p:spPr>
          <a:xfrm>
            <a:off x="685800" y="3557016"/>
            <a:ext cx="530352" cy="384048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L3</a:t>
            </a:r>
          </a:p>
        </p:txBody>
      </p:sp>
      <p:sp>
        <p:nvSpPr>
          <p:cNvPr id="18" name="Layer L3 Title"/>
          <p:cNvSpPr txBox="1"/>
          <p:nvPr/>
        </p:nvSpPr>
        <p:spPr>
          <a:xfrm>
            <a:off x="1289304" y="3520440"/>
            <a:ext cx="2331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Systolic Tensor Array</a:t>
            </a:r>
          </a:p>
        </p:txBody>
      </p:sp>
      <p:sp>
        <p:nvSpPr>
          <p:cNvPr id="19" name="Layer L3 Sub"/>
          <p:cNvSpPr txBox="1"/>
          <p:nvPr/>
        </p:nvSpPr>
        <p:spPr>
          <a:xfrm>
            <a:off x="1289304" y="3758184"/>
            <a:ext cx="23317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FP8 / INT4 Sparse Matrix Units</a:t>
            </a:r>
          </a:p>
        </p:txBody>
      </p:sp>
      <p:sp>
        <p:nvSpPr>
          <p:cNvPr id="20" name="Layer L3 TileA"/>
          <p:cNvSpPr/>
          <p:nvPr/>
        </p:nvSpPr>
        <p:spPr>
          <a:xfrm>
            <a:off x="3703320" y="3575304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8B5CF6"/>
                </a:solidFill>
                <a:latin typeface="DejaVu Sans"/>
              </a:rPr>
              <a:t>Bank A</a:t>
            </a:r>
          </a:p>
        </p:txBody>
      </p:sp>
      <p:sp>
        <p:nvSpPr>
          <p:cNvPr id="21" name="Layer L3 TileB"/>
          <p:cNvSpPr/>
          <p:nvPr/>
        </p:nvSpPr>
        <p:spPr>
          <a:xfrm>
            <a:off x="4599432" y="3575304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8FAFC"/>
                </a:solidFill>
                <a:latin typeface="DejaVu Sans"/>
              </a:rPr>
              <a:t>4.8 PFLOPS</a:t>
            </a:r>
          </a:p>
        </p:txBody>
      </p:sp>
      <p:sp>
        <p:nvSpPr>
          <p:cNvPr id="22" name="Layer L4"/>
          <p:cNvSpPr/>
          <p:nvPr/>
        </p:nvSpPr>
        <p:spPr>
          <a:xfrm>
            <a:off x="594360" y="4123944"/>
            <a:ext cx="493776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ayer L4 Tag"/>
          <p:cNvSpPr/>
          <p:nvPr/>
        </p:nvSpPr>
        <p:spPr>
          <a:xfrm>
            <a:off x="685800" y="4215383"/>
            <a:ext cx="530352" cy="384048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L4</a:t>
            </a:r>
          </a:p>
        </p:txBody>
      </p:sp>
      <p:sp>
        <p:nvSpPr>
          <p:cNvPr id="24" name="Layer L4 Title"/>
          <p:cNvSpPr txBox="1"/>
          <p:nvPr/>
        </p:nvSpPr>
        <p:spPr>
          <a:xfrm>
            <a:off x="1289304" y="4178807"/>
            <a:ext cx="2331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Zero-Trust DPI Guardrail</a:t>
            </a:r>
          </a:p>
        </p:txBody>
      </p:sp>
      <p:sp>
        <p:nvSpPr>
          <p:cNvPr id="25" name="Layer L4 Sub"/>
          <p:cNvSpPr txBox="1"/>
          <p:nvPr/>
        </p:nvSpPr>
        <p:spPr>
          <a:xfrm>
            <a:off x="1289304" y="4416552"/>
            <a:ext cx="23317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Inline Cryptographic Attestation</a:t>
            </a:r>
          </a:p>
        </p:txBody>
      </p:sp>
      <p:sp>
        <p:nvSpPr>
          <p:cNvPr id="26" name="Layer L4 TileA"/>
          <p:cNvSpPr/>
          <p:nvPr/>
        </p:nvSpPr>
        <p:spPr>
          <a:xfrm>
            <a:off x="3703320" y="4233672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59E0B"/>
                </a:solidFill>
                <a:latin typeface="DejaVu Sans"/>
              </a:rPr>
              <a:t>Bank A</a:t>
            </a:r>
          </a:p>
        </p:txBody>
      </p:sp>
      <p:sp>
        <p:nvSpPr>
          <p:cNvPr id="27" name="Layer L4 TileB"/>
          <p:cNvSpPr/>
          <p:nvPr/>
        </p:nvSpPr>
        <p:spPr>
          <a:xfrm>
            <a:off x="4599432" y="4233672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8FAFC"/>
                </a:solidFill>
                <a:latin typeface="DejaVu Sans"/>
              </a:rPr>
              <a:t>0.15 ms</a:t>
            </a:r>
          </a:p>
        </p:txBody>
      </p:sp>
      <p:sp>
        <p:nvSpPr>
          <p:cNvPr id="28" name="Layer L5"/>
          <p:cNvSpPr/>
          <p:nvPr/>
        </p:nvSpPr>
        <p:spPr>
          <a:xfrm>
            <a:off x="594360" y="4782312"/>
            <a:ext cx="493776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ayer L5 Tag"/>
          <p:cNvSpPr/>
          <p:nvPr/>
        </p:nvSpPr>
        <p:spPr>
          <a:xfrm>
            <a:off x="685800" y="4873752"/>
            <a:ext cx="530352" cy="384048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L5</a:t>
            </a:r>
          </a:p>
        </p:txBody>
      </p:sp>
      <p:sp>
        <p:nvSpPr>
          <p:cNvPr id="30" name="Layer L5 Title"/>
          <p:cNvSpPr txBox="1"/>
          <p:nvPr/>
        </p:nvSpPr>
        <p:spPr>
          <a:xfrm>
            <a:off x="1289304" y="4837176"/>
            <a:ext cx="2331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Speculative Token Router</a:t>
            </a:r>
          </a:p>
        </p:txBody>
      </p:sp>
      <p:sp>
        <p:nvSpPr>
          <p:cNvPr id="31" name="Layer L5 Sub"/>
          <p:cNvSpPr txBox="1"/>
          <p:nvPr/>
        </p:nvSpPr>
        <p:spPr>
          <a:xfrm>
            <a:off x="1289304" y="5074920"/>
            <a:ext cx="23317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Multi-Draft Verification Engine</a:t>
            </a:r>
          </a:p>
        </p:txBody>
      </p:sp>
      <p:sp>
        <p:nvSpPr>
          <p:cNvPr id="32" name="Layer L5 TileA"/>
          <p:cNvSpPr/>
          <p:nvPr/>
        </p:nvSpPr>
        <p:spPr>
          <a:xfrm>
            <a:off x="3703320" y="4892040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10B981"/>
                </a:solidFill>
                <a:latin typeface="DejaVu Sans"/>
              </a:rPr>
              <a:t>Bank A</a:t>
            </a:r>
          </a:p>
        </p:txBody>
      </p:sp>
      <p:sp>
        <p:nvSpPr>
          <p:cNvPr id="33" name="Layer L5 TileB"/>
          <p:cNvSpPr/>
          <p:nvPr/>
        </p:nvSpPr>
        <p:spPr>
          <a:xfrm>
            <a:off x="4599432" y="4892040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8FAFC"/>
                </a:solidFill>
                <a:latin typeface="DejaVu Sans"/>
              </a:rPr>
              <a:t>3.4x Speedup</a:t>
            </a:r>
          </a:p>
        </p:txBody>
      </p:sp>
      <p:sp>
        <p:nvSpPr>
          <p:cNvPr id="34" name="Relay R1"/>
          <p:cNvSpPr/>
          <p:nvPr/>
        </p:nvSpPr>
        <p:spPr>
          <a:xfrm>
            <a:off x="6537960" y="1691640"/>
            <a:ext cx="1691640" cy="585216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PHY Ingress</a:t>
            </a:r>
          </a:p>
        </p:txBody>
      </p:sp>
      <p:sp>
        <p:nvSpPr>
          <p:cNvPr id="35" name="Relay R2"/>
          <p:cNvSpPr/>
          <p:nvPr/>
        </p:nvSpPr>
        <p:spPr>
          <a:xfrm>
            <a:off x="6537960" y="2788920"/>
            <a:ext cx="1691640" cy="585216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HBM Crossbar</a:t>
            </a:r>
          </a:p>
        </p:txBody>
      </p:sp>
      <p:sp>
        <p:nvSpPr>
          <p:cNvPr id="36" name="Relay R3"/>
          <p:cNvSpPr/>
          <p:nvPr/>
        </p:nvSpPr>
        <p:spPr>
          <a:xfrm>
            <a:off x="6537960" y="3886200"/>
            <a:ext cx="1691640" cy="585216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Tensor Queue</a:t>
            </a:r>
          </a:p>
        </p:txBody>
      </p:sp>
      <p:sp>
        <p:nvSpPr>
          <p:cNvPr id="37" name="Relay R4"/>
          <p:cNvSpPr/>
          <p:nvPr/>
        </p:nvSpPr>
        <p:spPr>
          <a:xfrm>
            <a:off x="6537960" y="4983480"/>
            <a:ext cx="1691640" cy="585216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Token Egress</a:t>
            </a:r>
          </a:p>
        </p:txBody>
      </p:sp>
      <p:sp>
        <p:nvSpPr>
          <p:cNvPr id="38" name="Swarm PKT-1"/>
          <p:cNvSpPr/>
          <p:nvPr/>
        </p:nvSpPr>
        <p:spPr>
          <a:xfrm>
            <a:off x="6583680" y="1143000"/>
            <a:ext cx="347472" cy="292608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P1</a:t>
            </a:r>
          </a:p>
        </p:txBody>
      </p:sp>
      <p:sp>
        <p:nvSpPr>
          <p:cNvPr id="39" name="Swarm PKT-2"/>
          <p:cNvSpPr/>
          <p:nvPr/>
        </p:nvSpPr>
        <p:spPr>
          <a:xfrm>
            <a:off x="7022592" y="1143000"/>
            <a:ext cx="347472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P2</a:t>
            </a:r>
          </a:p>
        </p:txBody>
      </p:sp>
      <p:sp>
        <p:nvSpPr>
          <p:cNvPr id="40" name="Swarm PKT-3"/>
          <p:cNvSpPr/>
          <p:nvPr/>
        </p:nvSpPr>
        <p:spPr>
          <a:xfrm>
            <a:off x="7461504" y="1143000"/>
            <a:ext cx="347472" cy="29260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P3</a:t>
            </a:r>
          </a:p>
        </p:txBody>
      </p:sp>
      <p:sp>
        <p:nvSpPr>
          <p:cNvPr id="41" name="Swarm PKT-4"/>
          <p:cNvSpPr/>
          <p:nvPr/>
        </p:nvSpPr>
        <p:spPr>
          <a:xfrm>
            <a:off x="7900416" y="1143000"/>
            <a:ext cx="347472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P4</a:t>
            </a:r>
          </a:p>
        </p:txBody>
      </p:sp>
      <p:sp>
        <p:nvSpPr>
          <p:cNvPr id="42" name="Audit Probe"/>
          <p:cNvSpPr/>
          <p:nvPr/>
        </p:nvSpPr>
        <p:spPr>
          <a:xfrm>
            <a:off x="8458200" y="3108960"/>
            <a:ext cx="475488" cy="475488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8FAFC"/>
                </a:solidFill>
                <a:latin typeface="DejaVu Sans"/>
              </a:rPr>
              <a:t>PRB</a:t>
            </a:r>
          </a:p>
        </p:txBody>
      </p:sp>
      <p:sp>
        <p:nvSpPr>
          <p:cNvPr id="43" name="Thermal Obstacle"/>
          <p:cNvSpPr/>
          <p:nvPr/>
        </p:nvSpPr>
        <p:spPr>
          <a:xfrm>
            <a:off x="9281160" y="2788920"/>
            <a:ext cx="1078992" cy="1115568"/>
          </a:xfrm>
          <a:prstGeom prst="octagon">
            <a:avLst/>
          </a:prstGeom>
          <a:solidFill>
            <a:srgbClr val="33415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59E0B"/>
                </a:solidFill>
                <a:latin typeface="DejaVu Sans"/>
              </a:rPr>
              <a:t>Thermal</a:t>
            </a:r>
          </a:p>
          <a:p>
            <a:pPr algn="ctr"/>
            <a:r>
              <a:rPr sz="1100" b="1">
                <a:solidFill>
                  <a:srgbClr val="F59E0B"/>
                </a:solidFill>
                <a:latin typeface="DejaVu Sans"/>
              </a:rPr>
              <a:t>Gate</a:t>
            </a:r>
          </a:p>
        </p:txBody>
      </p:sp>
      <p:sp>
        <p:nvSpPr>
          <p:cNvPr id="44" name="Telemetry Sink"/>
          <p:cNvSpPr/>
          <p:nvPr/>
        </p:nvSpPr>
        <p:spPr>
          <a:xfrm>
            <a:off x="10680192" y="2971800"/>
            <a:ext cx="1078992" cy="7498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6B6D4"/>
                </a:solidFill>
                <a:latin typeface="DejaVu Sans"/>
              </a:rPr>
              <a:t>Audit Sink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ns0="http://schemas.microsoft.com/office/powerpoint/2010/main" id="5" presetID="0" presetClass="path" presetSubtype="0" decel="60000" fill="hold" grpId="0" nodeType="clickEffect" ns0:bounceEnd="3000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94 -0.07 E" pathEditMode="relative" rAng="0" ptsTypes="AA">
                                      <p:cBhvr>
                                        <p:cTn id="6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1="http://schemas.microsoft.com/office/powerpoint/2010/main" id="7" presetID="0" presetClass="path" presetSubtype="0" decel="60000" fill="hold" grpId="0" nodeType="withEffect" ns1:bounceEnd="30000">
                                  <p:stCondLst>
                                    <p:cond delay="25"/>
                                  </p:stCondLst>
                                  <p:childTnLst>
                                    <p:animMotion origin="layout" path="M 0 0 L -0.0294 -0.07 E" pathEditMode="relative" rAng="0" ptsTypes="AA">
                                      <p:cBhvr>
                                        <p:cTn id="8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2="http://schemas.microsoft.com/office/powerpoint/2010/main" id="9" presetID="0" presetClass="path" presetSubtype="0" decel="60000" fill="hold" grpId="0" nodeType="withEffect" ns2:bounceEnd="30000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0 0 L -0.0294 -0.07 E" pathEditMode="relative" rAng="0" ptsTypes="AA">
                                      <p:cBhvr>
                                        <p:cTn id="10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3="http://schemas.microsoft.com/office/powerpoint/2010/main" id="11" presetID="0" presetClass="path" presetSubtype="0" decel="60000" fill="hold" grpId="0" nodeType="withEffect" ns3:bounceEnd="30000">
                                  <p:stCondLst>
                                    <p:cond delay="75"/>
                                  </p:stCondLst>
                                  <p:childTnLst>
                                    <p:animMotion origin="layout" path="M 0 0 L -0.0294 -0.07 E" pathEditMode="relative" rAng="0" ptsTypes="AA">
                                      <p:cBhvr>
                                        <p:cTn id="12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4="http://schemas.microsoft.com/office/powerpoint/2010/main" id="13" presetID="0" presetClass="path" presetSubtype="0" decel="60000" fill="hold" grpId="0" nodeType="withEffect" ns4:bounceEnd="30000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 0 L -0.0147 -0.035 E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5="http://schemas.microsoft.com/office/powerpoint/2010/main" id="15" presetID="0" presetClass="path" presetSubtype="0" decel="60000" fill="hold" grpId="0" nodeType="withEffect" ns5:bounceEnd="30000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-0.0294 -0.07 E" pathEditMode="relative" rAng="0" ptsTypes="AA">
                                      <p:cBhvr>
                                        <p:cTn id="16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6="http://schemas.microsoft.com/office/powerpoint/2010/main" id="17" presetID="0" presetClass="path" presetSubtype="0" decel="60000" fill="hold" grpId="0" nodeType="withEffect" ns6:bounceEnd="30000">
                                  <p:stCondLst>
                                    <p:cond delay="105"/>
                                  </p:stCondLst>
                                  <p:childTnLst>
                                    <p:animMotion origin="layout" path="M 0 0 L -0.0147 -0.035 E" pathEditMode="relative" rAng="0" ptsTypes="AA">
                                      <p:cBhvr>
                                        <p:cTn id="18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7="http://schemas.microsoft.com/office/powerpoint/2010/main" id="19" presetID="0" presetClass="path" presetSubtype="0" decel="60000" fill="hold" grpId="0" nodeType="withEffect" ns7:bounceEnd="30000">
                                  <p:stCondLst>
                                    <p:cond delay="125"/>
                                  </p:stCondLst>
                                  <p:childTnLst>
                                    <p:animMotion origin="layout" path="M 0 0 L -0.0294 -0.07 E" pathEditMode="relative" rAng="0" ptsTypes="AA">
                                      <p:cBhvr>
                                        <p:cTn id="2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8="http://schemas.microsoft.com/office/powerpoint/2010/main" id="21" presetID="0" presetClass="path" presetSubtype="0" decel="60000" fill="hold" grpId="0" nodeType="withEffect" ns8:bounceEnd="30000">
                                  <p:stCondLst>
                                    <p:cond delay="130"/>
                                  </p:stCondLst>
                                  <p:childTnLst>
                                    <p:animMotion origin="layout" path="M 0 0 L -0.0147 -0.035 E" pathEditMode="relative" rAng="0" ptsTypes="AA">
                                      <p:cBhvr>
                                        <p:cTn id="22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9="http://schemas.microsoft.com/office/powerpoint/2010/main" id="23" presetID="0" presetClass="path" presetSubtype="0" decel="60000" fill="hold" grpId="0" nodeType="withEffect" ns9:bounceEnd="30000">
                                  <p:stCondLst>
                                    <p:cond delay="155"/>
                                  </p:stCondLst>
                                  <p:childTnLst>
                                    <p:animMotion origin="layout" path="M 0 0 L -0.0147 -0.035 E" pathEditMode="relative" rAng="0" ptsTypes="AA">
                                      <p:cBhvr>
                                        <p:cTn id="24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10="http://schemas.microsoft.com/office/powerpoint/2010/main" id="25" presetID="0" presetClass="path" presetSubtype="0" decel="60000" fill="hold" grpId="0" nodeType="withEffect" ns10:bounceEnd="30000">
                                  <p:stCondLst>
                                    <p:cond delay="180"/>
                                  </p:stCondLst>
                                  <p:childTnLst>
                                    <p:animMotion origin="layout" path="M 0 0 L -0.0147 -0.035 E" pathEditMode="relative" rAng="0" ptsTypes="AA">
                                      <p:cBhvr>
                                        <p:cTn id="2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11="http://schemas.microsoft.com/office/powerpoint/2010/main" id="27" presetID="0" presetClass="path" presetSubtype="0" decel="60000" fill="hold" grpId="0" nodeType="withEffect" ns11:bounceEnd="30000">
                                  <p:stCondLst>
                                    <p:cond delay="205"/>
                                  </p:stCondLst>
                                  <p:childTnLst>
                                    <p:animMotion origin="layout" path="M 0 0 L -0.0147 -0.035 E" pathEditMode="relative" rAng="0" ptsTypes="AA">
                                      <p:cBhvr>
                                        <p:cTn id="28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12="http://schemas.microsoft.com/office/powerpoint/2010/main" id="29" presetID="0" presetClass="path" presetSubtype="0" decel="60000" fill="hold" grpId="0" nodeType="withEffect" ns12:bounceEnd="30000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 0 L 0.0147 0.035 E" pathEditMode="relative" rAng="0" ptsTypes="AA">
                                      <p:cBhvr>
                                        <p:cTn id="30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13="http://schemas.microsoft.com/office/powerpoint/2010/main" id="31" presetID="0" presetClass="path" presetSubtype="0" decel="60000" fill="hold" grpId="0" nodeType="withEffect" ns13:bounceEnd="30000">
                                  <p:stCondLst>
                                    <p:cond delay="265"/>
                                  </p:stCondLst>
                                  <p:childTnLst>
                                    <p:animMotion origin="layout" path="M 0 0 L 0.0147 0.035 E" pathEditMode="relative" rAng="0" ptsTypes="AA">
                                      <p:cBhvr>
                                        <p:cTn id="32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14="http://schemas.microsoft.com/office/powerpoint/2010/main" id="33" presetID="0" presetClass="path" presetSubtype="0" decel="60000" fill="hold" grpId="0" nodeType="withEffect" ns14:bounceEnd="30000">
                                  <p:stCondLst>
                                    <p:cond delay="290"/>
                                  </p:stCondLst>
                                  <p:childTnLst>
                                    <p:animMotion origin="layout" path="M 0 0 L 0.0147 0.035 E" pathEditMode="relative" rAng="0" ptsTypes="AA">
                                      <p:cBhvr>
                                        <p:cTn id="34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15="http://schemas.microsoft.com/office/powerpoint/2010/main" id="35" presetID="0" presetClass="path" presetSubtype="0" decel="60000" fill="hold" grpId="0" nodeType="withEffect" ns15:bounceEnd="30000">
                                  <p:stCondLst>
                                    <p:cond delay="315"/>
                                  </p:stCondLst>
                                  <p:childTnLst>
                                    <p:animMotion origin="layout" path="M 0 0 L 0.0147 0.035 E" pathEditMode="relative" rAng="0" ptsTypes="AA">
                                      <p:cBhvr>
                                        <p:cTn id="36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16="http://schemas.microsoft.com/office/powerpoint/2010/main" id="37" presetID="0" presetClass="path" presetSubtype="0" decel="60000" fill="hold" grpId="0" nodeType="withEffect" ns16:bounceEnd="30000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 0 L 0.0294 0.07 E" pathEditMode="relative" rAng="0" ptsTypes="AA">
                                      <p:cBhvr>
                                        <p:cTn id="38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17="http://schemas.microsoft.com/office/powerpoint/2010/main" id="39" presetID="0" presetClass="path" presetSubtype="0" decel="60000" fill="hold" grpId="0" nodeType="withEffect" ns17:bounceEnd="30000">
                                  <p:stCondLst>
                                    <p:cond delay="340"/>
                                  </p:stCondLst>
                                  <p:childTnLst>
                                    <p:animMotion origin="layout" path="M 0 0 L 0.0147 0.035 E" pathEditMode="relative" rAng="0" ptsTypes="AA">
                                      <p:cBhvr>
                                        <p:cTn id="40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18="http://schemas.microsoft.com/office/powerpoint/2010/main" id="41" presetID="0" presetClass="path" presetSubtype="0" decel="60000" fill="hold" grpId="0" nodeType="withEffect" ns18:bounceEnd="30000">
                                  <p:stCondLst>
                                    <p:cond delay="345"/>
                                  </p:stCondLst>
                                  <p:childTnLst>
                                    <p:animMotion origin="layout" path="M 0 0 L 0.0294 0.07 E" pathEditMode="relative" rAng="0" ptsTypes="AA">
                                      <p:cBhvr>
                                        <p:cTn id="42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19="http://schemas.microsoft.com/office/powerpoint/2010/main" id="43" presetID="0" presetClass="path" presetSubtype="0" decel="60000" fill="hold" grpId="0" nodeType="withEffect" ns19:bounceEnd="30000">
                                  <p:stCondLst>
                                    <p:cond delay="365"/>
                                  </p:stCondLst>
                                  <p:childTnLst>
                                    <p:animMotion origin="layout" path="M 0 0 L 0.0147 0.035 E" pathEditMode="relative" rAng="0" ptsTypes="AA">
                                      <p:cBhvr>
                                        <p:cTn id="44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20="http://schemas.microsoft.com/office/powerpoint/2010/main" id="45" presetID="0" presetClass="path" presetSubtype="0" decel="60000" fill="hold" grpId="0" nodeType="withEffect" ns20:bounceEnd="30000">
                                  <p:stCondLst>
                                    <p:cond delay="370"/>
                                  </p:stCondLst>
                                  <p:childTnLst>
                                    <p:animMotion origin="layout" path="M 0 0 L 0.0294 0.07 E" pathEditMode="relative" rAng="0" ptsTypes="AA">
                                      <p:cBhvr>
                                        <p:cTn id="46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21="http://schemas.microsoft.com/office/powerpoint/2010/main" id="47" presetID="0" presetClass="path" presetSubtype="0" decel="60000" fill="hold" grpId="0" nodeType="withEffect" ns21:bounceEnd="30000">
                                  <p:stCondLst>
                                    <p:cond delay="395"/>
                                  </p:stCondLst>
                                  <p:childTnLst>
                                    <p:animMotion origin="layout" path="M 0 0 L 0.0294 0.07 E" pathEditMode="relative" rAng="0" ptsTypes="AA">
                                      <p:cBhvr>
                                        <p:cTn id="48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22="http://schemas.microsoft.com/office/powerpoint/2010/main" id="49" presetID="0" presetClass="path" presetSubtype="0" decel="60000" fill="hold" grpId="0" nodeType="withEffect" ns22:bounceEnd="30000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 0 L 0.0294 0.07 E" pathEditMode="relative" rAng="0" ptsTypes="AA">
                                      <p:cBhvr>
                                        <p:cTn id="50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xmlns:ns23="http://schemas.microsoft.com/office/powerpoint/2010/main" id="51" presetID="0" presetClass="path" presetSubtype="0" decel="60000" fill="hold" grpId="0" nodeType="withEffect" ns23:bounceEnd="30000">
                                  <p:stCondLst>
                                    <p:cond delay="445"/>
                                  </p:stCondLst>
                                  <p:childTnLst>
                                    <p:animMotion origin="layout" path="M 0 0 L 0.0294 0.07 E" pathEditMode="relative" rAng="0" ptsTypes="AA">
                                      <p:cBhvr>
                                        <p:cTn id="52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2254 0.010058 0.00138 0.019835 -0.002624 0.029333 C -0.01969 0.082667 -0.01969 0.136 -0.002624 0.189333 C 0.014443 0.242667 0.014443 0.296 -0.002624 0.349333 C -0.01969 0.402667 -0.01969 0.456 -0.002624 0.509333 E" pathEditMode="relative" rAng="0">
                                      <p:cBhvr>
                                        <p:cTn id="56" dur="15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animMotion origin="layout" path="M 0 0 C -0.004004 0.009498 -0.004879 0.019276 -0.002625 0.029333 C 0.014442 0.082667 0.014442 0.136 -0.002625 0.189333 C -0.019691 0.242667 -0.019691 0.296 -0.002625 0.349333 C 0.014442 0.402667 0.014442 0.456 -0.002625 0.509333 E" pathEditMode="relative" rAng="0">
                                      <p:cBhvr>
                                        <p:cTn id="58" dur="15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animMotion origin="layout" path="M 0 0 C 0.002254 0.010058 0.001379 0.019836 -0.002626 0.029333 C -0.019692 0.082667 -0.019692 0.136 -0.002626 0.189333 C 0.014441 0.242667 0.014441 0.296 -0.002626 0.349333 C -0.019692 0.402667 -0.019692 0.456 -0.002626 0.509333 E" pathEditMode="relative" rAng="0">
                                      <p:cBhvr>
                                        <p:cTn id="60" dur="15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 C -0.004004 0.009498 -0.00488 0.019275 -0.002626 0.029333 C 0.01444 0.082667 0.01444 0.136 -0.002626 0.189333 C -0.019693 0.242667 -0.019693 0.296 -0.002626 0.349333 C 0.01444 0.402667 0.01444 0.456 -0.002626 0.509333 E" pathEditMode="relative" rAng="0">
                                      <p:cBhvr>
                                        <p:cTn id="62" dur="15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" presetClass="emph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animScale>
                                      <p:cBhvr>
                                        <p:cTn id="64" dur="200" fill="hold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7" presetClass="emph" presetSubtype="0" fill="hold" grpId="1" nodeType="withEffect">
                                  <p:stCondLst>
                                    <p:cond delay="380"/>
                                  </p:stCondLst>
                                  <p:childTnLst>
                                    <p:animClr clrSpc="rgb">
                                      <p:cBhvr>
                                        <p:cTn id="66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6B6D4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6" presetClass="emph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animScale>
                                      <p:cBhvr>
                                        <p:cTn id="68" dur="200" fill="hold" autoRev="1"/>
                                        <p:tgtEl>
                                          <p:spTgt spid="3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7" presetClass="emph" presetSubtype="0" fill="hold" grpId="1" nodeType="withEffect">
                                  <p:stCondLst>
                                    <p:cond delay="760"/>
                                  </p:stCondLst>
                                  <p:childTnLst>
                                    <p:animClr clrSpc="rgb">
                                      <p:cBhvr>
                                        <p:cTn id="70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6B6D4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6" presetClass="emph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animScale>
                                      <p:cBhvr>
                                        <p:cTn id="72" dur="200" fill="hold" autoRev="1"/>
                                        <p:tgtEl>
                                          <p:spTgt spid="3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7" presetClass="emph" presetSubtype="0" fill="hold" grpId="1" nodeType="withEffect">
                                  <p:stCondLst>
                                    <p:cond delay="1140"/>
                                  </p:stCondLst>
                                  <p:childTnLst>
                                    <p:animClr clrSpc="rgb">
                                      <p:cBhvr>
                                        <p:cTn id="74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6B6D4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6" presetClass="emph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animScale>
                                      <p:cBhvr>
                                        <p:cTn id="76" dur="200" fill="hold" autoRev="1"/>
                                        <p:tgtEl>
                                          <p:spTgt spid="3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7" presetClass="emph" presetSubtype="0" fill="hold" grpId="1" nodeType="withEffect">
                                  <p:stCondLst>
                                    <p:cond delay="1520"/>
                                  </p:stCondLst>
                                  <p:childTnLst>
                                    <p:animClr clrSpc="rgb">
                                      <p:cBhvr>
                                        <p:cTn id="78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6B6D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0868 -0.108428 0.09987 -0.145095 0.207005 -0.11 E" pathEditMode="relative" rAng="0">
                                      <p:cBhvr>
                                        <p:cTn id="82" dur="8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6" presetClass="emph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animScale>
                                      <p:cBhvr>
                                        <p:cTn id="84" dur="200" fill="hold" autoRev="1"/>
                                        <p:tgtEl>
                                          <p:spTgt spid="4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86" dur="300" fill="hold" autoRev="1" repeatCount="2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94 -0.07 L 0 0 E" pathEditMode="relative" rAng="0" ptsTypes="AA">
                                      <p:cBhvr>
                                        <p:cTn id="9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94 -0.07 L 0 0 E" pathEditMode="relative" rAng="0" ptsTypes="AA">
                                      <p:cBhvr>
                                        <p:cTn id="9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94 -0.07 L 0 0 E" pathEditMode="relative" rAng="0" ptsTypes="AA">
                                      <p:cBhvr>
                                        <p:cTn id="9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94 -0.07 L 0 0 E" pathEditMode="relative" rAng="0" ptsTypes="AA">
                                      <p:cBhvr>
                                        <p:cTn id="9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94 -0.07 L 0 0 E" pathEditMode="relative" rAng="0" ptsTypes="AA">
                                      <p:cBhvr>
                                        <p:cTn id="9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94 -0.07 L 0 0 E" pathEditMode="relative" rAng="0" ptsTypes="AA">
                                      <p:cBhvr>
                                        <p:cTn id="10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7 -0.035 L 0 0 E" pathEditMode="relative" rAng="0" ptsTypes="AA">
                                      <p:cBhvr>
                                        <p:cTn id="102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7 -0.035 L 0 0 E" pathEditMode="relative" rAng="0" ptsTypes="AA">
                                      <p:cBhvr>
                                        <p:cTn id="10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7 -0.035 L 0 0 E" pathEditMode="relative" rAng="0" ptsTypes="AA">
                                      <p:cBhvr>
                                        <p:cTn id="10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7 -0.035 L 0 0 E" pathEditMode="relative" rAng="0" ptsTypes="AA">
                                      <p:cBhvr>
                                        <p:cTn id="10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7 -0.035 L 0 0 E" pathEditMode="relative" rAng="0" ptsTypes="AA">
                                      <p:cBhvr>
                                        <p:cTn id="11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7 -0.035 L 0 0 E" pathEditMode="relative" rAng="0" ptsTypes="AA">
                                      <p:cBhvr>
                                        <p:cTn id="11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7 0.035 L 0 0 E" pathEditMode="relative" rAng="0" ptsTypes="AA">
                                      <p:cBhvr>
                                        <p:cTn id="11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7 0.035 L 0 0 E" pathEditMode="relative" rAng="0" ptsTypes="AA">
                                      <p:cBhvr>
                                        <p:cTn id="116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7 0.035 L 0 0 E" pathEditMode="relative" rAng="0" ptsTypes="AA">
                                      <p:cBhvr>
                                        <p:cTn id="11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7 0.035 L 0 0 E" pathEditMode="relative" rAng="0" ptsTypes="AA">
                                      <p:cBhvr>
                                        <p:cTn id="120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7 0.035 L 0 0 E" pathEditMode="relative" rAng="0" ptsTypes="AA">
                                      <p:cBhvr>
                                        <p:cTn id="122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7 0.035 L 0 0 E" pathEditMode="relative" rAng="0" ptsTypes="AA">
                                      <p:cBhvr>
                                        <p:cTn id="124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4 0.07 L 0 0 E" pathEditMode="relative" rAng="0" ptsTypes="AA">
                                      <p:cBhvr>
                                        <p:cTn id="126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4 0.07 L 0 0 E" pathEditMode="relative" rAng="0" ptsTypes="AA">
                                      <p:cBhvr>
                                        <p:cTn id="128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4 0.07 L 0 0 E" pathEditMode="relative" rAng="0" ptsTypes="AA">
                                      <p:cBhvr>
                                        <p:cTn id="130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4 0.07 L 0 0 E" pathEditMode="relative" rAng="0" ptsTypes="AA">
                                      <p:cBhvr>
                                        <p:cTn id="132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4 0.07 L 0 0 E" pathEditMode="relative" rAng="0" ptsTypes="AA">
                                      <p:cBhvr>
                                        <p:cTn id="134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4 0.07 L 0 0 E" pathEditMode="relative" rAng="0" ptsTypes="AA">
                                      <p:cBhvr>
                                        <p:cTn id="136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624 0.509333 L 0 0 E" pathEditMode="relative" rAng="0" ptsTypes="AA">
                                      <p:cBhvr>
                                        <p:cTn id="138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625 0.509333 L 0 0 E" pathEditMode="relative" rAng="0" ptsTypes="AA">
                                      <p:cBhvr>
                                        <p:cTn id="140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626 0.509333 L 0 0 E" pathEditMode="relative" rAng="0" ptsTypes="AA">
                                      <p:cBhvr>
                                        <p:cTn id="142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626 0.509333 L 0 0 E" pathEditMode="relative" rAng="0" ptsTypes="AA">
                                      <p:cBhvr>
                                        <p:cTn id="144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7005 -0.11 L 0 0 E" pathEditMode="relative" rAng="0" ptsTypes="AA">
                                      <p:cBhvr>
                                        <p:cTn id="146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4 Kicker"/>
          <p:cNvSpPr txBox="1"/>
          <p:nvPr/>
        </p:nvSpPr>
        <p:spPr>
          <a:xfrm>
            <a:off x="594360" y="292608"/>
            <a:ext cx="77724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DejaVu Sans"/>
              </a:rPr>
              <a:t>SPATIAL TOPOLOGY MESH · DETERMINISTIC !! MORPH PAIRING (SLIDE 4 → 5)</a:t>
            </a:r>
          </a:p>
        </p:txBody>
      </p:sp>
      <p:sp>
        <p:nvSpPr>
          <p:cNvPr id="3" name="S4 Title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DejaVu Sans"/>
              </a:rPr>
              <a:t>Six Regional AI Clusters Re-Rank Failover Priority Before Morphing</a:t>
            </a:r>
          </a:p>
        </p:txBody>
      </p:sp>
      <p:sp>
        <p:nvSpPr>
          <p:cNvPr id="4" name="Anycast Core"/>
          <p:cNvSpPr/>
          <p:nvPr/>
        </p:nvSpPr>
        <p:spPr>
          <a:xfrm>
            <a:off x="5074920" y="3154680"/>
            <a:ext cx="2011680" cy="1417320"/>
          </a:xfrm>
          <a:prstGeom prst="hexagon">
            <a:avLst/>
          </a:prstGeom>
          <a:solidFill>
            <a:srgbClr val="2563E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8FAFC"/>
                </a:solidFill>
                <a:latin typeface="DejaVu Sans"/>
              </a:rPr>
              <a:t>Anycast Mesh</a:t>
            </a:r>
          </a:p>
          <a:p>
            <a:pPr algn="ctr"/>
            <a:r>
              <a:rPr sz="1400" b="1">
                <a:solidFill>
                  <a:srgbClr val="F8FAFC"/>
                </a:solidFill>
                <a:latin typeface="DejaVu Sans"/>
              </a:rPr>
              <a:t>Router</a:t>
            </a:r>
          </a:p>
        </p:txBody>
      </p:sp>
      <p:sp>
        <p:nvSpPr>
          <p:cNvPr id="5" name="!!cluster-1"/>
          <p:cNvSpPr/>
          <p:nvPr/>
        </p:nvSpPr>
        <p:spPr>
          <a:xfrm>
            <a:off x="777240" y="150876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uster Name 1"/>
          <p:cNvSpPr txBox="1"/>
          <p:nvPr/>
        </p:nvSpPr>
        <p:spPr>
          <a:xfrm>
            <a:off x="923544" y="160020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US-West (Oregon)</a:t>
            </a:r>
          </a:p>
        </p:txBody>
      </p:sp>
      <p:sp>
        <p:nvSpPr>
          <p:cNvPr id="7" name="!!lat-1"/>
          <p:cNvSpPr/>
          <p:nvPr/>
        </p:nvSpPr>
        <p:spPr>
          <a:xfrm>
            <a:off x="2990088" y="161848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6B6D4"/>
                </a:solidFill>
                <a:latin typeface="DejaVu Sans"/>
              </a:rPr>
              <a:t>1.2 ms</a:t>
            </a:r>
          </a:p>
        </p:txBody>
      </p:sp>
      <p:sp>
        <p:nvSpPr>
          <p:cNvPr id="8" name="!!bar-1"/>
          <p:cNvSpPr/>
          <p:nvPr/>
        </p:nvSpPr>
        <p:spPr>
          <a:xfrm>
            <a:off x="923544" y="2130552"/>
            <a:ext cx="2999232" cy="38404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1</a:t>
            </a:r>
          </a:p>
        </p:txBody>
      </p:sp>
      <p:sp>
        <p:nvSpPr>
          <p:cNvPr id="9" name="!!cluster-2"/>
          <p:cNvSpPr/>
          <p:nvPr/>
        </p:nvSpPr>
        <p:spPr>
          <a:xfrm>
            <a:off x="777240" y="324612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uster Name 2"/>
          <p:cNvSpPr txBox="1"/>
          <p:nvPr/>
        </p:nvSpPr>
        <p:spPr>
          <a:xfrm>
            <a:off x="923544" y="333756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US-East (Virginia)</a:t>
            </a:r>
          </a:p>
        </p:txBody>
      </p:sp>
      <p:sp>
        <p:nvSpPr>
          <p:cNvPr id="11" name="!!lat-2"/>
          <p:cNvSpPr/>
          <p:nvPr/>
        </p:nvSpPr>
        <p:spPr>
          <a:xfrm>
            <a:off x="2990088" y="335584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D9488"/>
                </a:solidFill>
                <a:latin typeface="DejaVu Sans"/>
              </a:rPr>
              <a:t>1.8 ms</a:t>
            </a:r>
          </a:p>
        </p:txBody>
      </p:sp>
      <p:sp>
        <p:nvSpPr>
          <p:cNvPr id="12" name="!!bar-2"/>
          <p:cNvSpPr/>
          <p:nvPr/>
        </p:nvSpPr>
        <p:spPr>
          <a:xfrm>
            <a:off x="923544" y="3867911"/>
            <a:ext cx="2999232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2</a:t>
            </a:r>
          </a:p>
        </p:txBody>
      </p:sp>
      <p:sp>
        <p:nvSpPr>
          <p:cNvPr id="13" name="!!cluster-3"/>
          <p:cNvSpPr/>
          <p:nvPr/>
        </p:nvSpPr>
        <p:spPr>
          <a:xfrm>
            <a:off x="777240" y="498348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luster Name 3"/>
          <p:cNvSpPr txBox="1"/>
          <p:nvPr/>
        </p:nvSpPr>
        <p:spPr>
          <a:xfrm>
            <a:off x="923544" y="507492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EU-Central (Frankfurt)</a:t>
            </a:r>
          </a:p>
        </p:txBody>
      </p:sp>
      <p:sp>
        <p:nvSpPr>
          <p:cNvPr id="15" name="!!lat-3"/>
          <p:cNvSpPr/>
          <p:nvPr/>
        </p:nvSpPr>
        <p:spPr>
          <a:xfrm>
            <a:off x="2990088" y="509320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59E0B"/>
                </a:solidFill>
                <a:latin typeface="DejaVu Sans"/>
              </a:rPr>
              <a:t>2.4 ms</a:t>
            </a:r>
          </a:p>
        </p:txBody>
      </p:sp>
      <p:sp>
        <p:nvSpPr>
          <p:cNvPr id="16" name="!!bar-3"/>
          <p:cNvSpPr/>
          <p:nvPr/>
        </p:nvSpPr>
        <p:spPr>
          <a:xfrm>
            <a:off x="923544" y="5605272"/>
            <a:ext cx="2999232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3</a:t>
            </a:r>
          </a:p>
        </p:txBody>
      </p:sp>
      <p:sp>
        <p:nvSpPr>
          <p:cNvPr id="17" name="!!cluster-4"/>
          <p:cNvSpPr/>
          <p:nvPr/>
        </p:nvSpPr>
        <p:spPr>
          <a:xfrm>
            <a:off x="8092440" y="150876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luster Name 4"/>
          <p:cNvSpPr txBox="1"/>
          <p:nvPr/>
        </p:nvSpPr>
        <p:spPr>
          <a:xfrm>
            <a:off x="8238744" y="160020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AP-North (Tokyo)</a:t>
            </a:r>
          </a:p>
        </p:txBody>
      </p:sp>
      <p:sp>
        <p:nvSpPr>
          <p:cNvPr id="19" name="!!lat-4"/>
          <p:cNvSpPr/>
          <p:nvPr/>
        </p:nvSpPr>
        <p:spPr>
          <a:xfrm>
            <a:off x="10305288" y="161848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0B981"/>
                </a:solidFill>
                <a:latin typeface="DejaVu Sans"/>
              </a:rPr>
              <a:t>1.5 ms</a:t>
            </a:r>
          </a:p>
        </p:txBody>
      </p:sp>
      <p:sp>
        <p:nvSpPr>
          <p:cNvPr id="20" name="!!bar-4"/>
          <p:cNvSpPr/>
          <p:nvPr/>
        </p:nvSpPr>
        <p:spPr>
          <a:xfrm>
            <a:off x="8238744" y="2130552"/>
            <a:ext cx="2999232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4</a:t>
            </a:r>
          </a:p>
        </p:txBody>
      </p:sp>
      <p:sp>
        <p:nvSpPr>
          <p:cNvPr id="21" name="!!cluster-5"/>
          <p:cNvSpPr/>
          <p:nvPr/>
        </p:nvSpPr>
        <p:spPr>
          <a:xfrm>
            <a:off x="8092440" y="324612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luster Name 5"/>
          <p:cNvSpPr txBox="1"/>
          <p:nvPr/>
        </p:nvSpPr>
        <p:spPr>
          <a:xfrm>
            <a:off x="8238744" y="333756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AP-South (Singapore)</a:t>
            </a:r>
          </a:p>
        </p:txBody>
      </p:sp>
      <p:sp>
        <p:nvSpPr>
          <p:cNvPr id="23" name="!!lat-5"/>
          <p:cNvSpPr/>
          <p:nvPr/>
        </p:nvSpPr>
        <p:spPr>
          <a:xfrm>
            <a:off x="10305288" y="335584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8B5CF6"/>
                </a:solidFill>
                <a:latin typeface="DejaVu Sans"/>
              </a:rPr>
              <a:t>2.1 ms</a:t>
            </a:r>
          </a:p>
        </p:txBody>
      </p:sp>
      <p:sp>
        <p:nvSpPr>
          <p:cNvPr id="24" name="!!bar-5"/>
          <p:cNvSpPr/>
          <p:nvPr/>
        </p:nvSpPr>
        <p:spPr>
          <a:xfrm>
            <a:off x="8238744" y="3867911"/>
            <a:ext cx="2999232" cy="38404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5</a:t>
            </a:r>
          </a:p>
        </p:txBody>
      </p:sp>
      <p:sp>
        <p:nvSpPr>
          <p:cNvPr id="25" name="!!cluster-6"/>
          <p:cNvSpPr/>
          <p:nvPr/>
        </p:nvSpPr>
        <p:spPr>
          <a:xfrm>
            <a:off x="8092440" y="498348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luster Name 6"/>
          <p:cNvSpPr txBox="1"/>
          <p:nvPr/>
        </p:nvSpPr>
        <p:spPr>
          <a:xfrm>
            <a:off x="8238744" y="507492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SA-East (Sao Paulo)</a:t>
            </a:r>
          </a:p>
        </p:txBody>
      </p:sp>
      <p:sp>
        <p:nvSpPr>
          <p:cNvPr id="27" name="!!lat-6"/>
          <p:cNvSpPr/>
          <p:nvPr/>
        </p:nvSpPr>
        <p:spPr>
          <a:xfrm>
            <a:off x="10305288" y="509320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E11D48"/>
                </a:solidFill>
                <a:latin typeface="DejaVu Sans"/>
              </a:rPr>
              <a:t>2.9 ms</a:t>
            </a:r>
          </a:p>
        </p:txBody>
      </p:sp>
      <p:sp>
        <p:nvSpPr>
          <p:cNvPr id="28" name="!!bar-6"/>
          <p:cNvSpPr/>
          <p:nvPr/>
        </p:nvSpPr>
        <p:spPr>
          <a:xfrm>
            <a:off x="8238744" y="5605272"/>
            <a:ext cx="2999232" cy="38404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0="http://schemas.microsoft.com/office/powerpoint/2010/main" id="8" presetID="0" presetClass="path" presetSubtype="0" decel="60000" fill="hold" grpId="1" nodeType="withEffect" ns0:bounceEnd="3000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1245 0.192 L 0 0 E" pathEditMode="relative" rAng="0" ptsTypes="AA">
                                      <p:cBhvr>
                                        <p:cTn id="9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="http://schemas.microsoft.com/office/powerpoint/2010/main" id="13" presetID="0" presetClass="path" presetSubtype="0" decel="60000" fill="hold" grpId="1" nodeType="withEffect" ns1:bounceEnd="30000">
                                  <p:stCondLst>
                                    <p:cond delay="25"/>
                                  </p:stCondLst>
                                  <p:childTnLst>
                                    <p:animMotion origin="layout" path="M 0.301245 0.192 L 0 0 E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="http://schemas.microsoft.com/office/powerpoint/2010/main" id="18" presetID="0" presetClass="path" presetSubtype="0" decel="60000" fill="hold" grpId="1" nodeType="withEffect" ns2:bounceEnd="30000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0.301245 0.192 L 0 0 E" pathEditMode="relative" rAng="0" ptsTypes="AA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3="http://schemas.microsoft.com/office/powerpoint/2010/main" id="23" presetID="0" presetClass="path" presetSubtype="0" decel="60000" fill="hold" grpId="1" nodeType="withEffect" ns3:bounceEnd="30000">
                                  <p:stCondLst>
                                    <p:cond delay="75"/>
                                  </p:stCondLst>
                                  <p:childTnLst>
                                    <p:animMotion origin="layout" path="M 0.301245 0.192 L 0 0 E" pathEditMode="relative" rAng="0" ptsTypes="AA">
                                      <p:cBhvr>
                                        <p:cTn id="2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4="http://schemas.microsoft.com/office/powerpoint/2010/main" id="28" presetID="0" presetClass="path" presetSubtype="0" decel="60000" fill="hold" grpId="1" nodeType="withEffect" ns4:bounceEnd="30000">
                                  <p:stCondLst>
                                    <p:cond delay="90"/>
                                  </p:stCondLst>
                                  <p:childTnLst>
                                    <p:animMotion origin="layout" path="M 0.301245 -0.061333 L 0 0 E" pathEditMode="relative" rAng="0" ptsTypes="AA">
                                      <p:cBhvr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5="http://schemas.microsoft.com/office/powerpoint/2010/main" id="33" presetID="0" presetClass="path" presetSubtype="0" decel="60000" fill="hold" grpId="1" nodeType="withEffect" ns5:bounceEnd="30000">
                                  <p:stCondLst>
                                    <p:cond delay="115"/>
                                  </p:stCondLst>
                                  <p:childTnLst>
                                    <p:animMotion origin="layout" path="M 0.301245 -0.061333 L 0 0 E" pathEditMode="relative" rAng="0" ptsTypes="AA">
                                      <p:cBhvr>
                                        <p:cTn id="34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6="http://schemas.microsoft.com/office/powerpoint/2010/main" id="38" presetID="0" presetClass="path" presetSubtype="0" decel="60000" fill="hold" grpId="1" nodeType="withEffect" ns6:bounceEnd="30000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0.301245 -0.061333 L 0 0 E" pathEditMode="relative" rAng="0" ptsTypes="AA">
                                      <p:cBhvr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7="http://schemas.microsoft.com/office/powerpoint/2010/main" id="43" presetID="0" presetClass="path" presetSubtype="0" decel="60000" fill="hold" grpId="1" nodeType="withEffect" ns7:bounceEnd="30000">
                                  <p:stCondLst>
                                    <p:cond delay="165"/>
                                  </p:stCondLst>
                                  <p:childTnLst>
                                    <p:animMotion origin="layout" path="M 0.301245 -0.061333 L 0 0 E" pathEditMode="relative" rAng="0" ptsTypes="AA">
                                      <p:cBhvr>
                                        <p:cTn id="4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8="http://schemas.microsoft.com/office/powerpoint/2010/main" id="48" presetID="0" presetClass="path" presetSubtype="0" decel="60000" fill="hold" grpId="1" nodeType="withEffect" ns8:bounceEnd="30000">
                                  <p:stCondLst>
                                    <p:cond delay="180"/>
                                  </p:stCondLst>
                                  <p:childTnLst>
                                    <p:animMotion origin="layout" path="M 0.301245 -0.314667 L 0 0 E" pathEditMode="relative" rAng="0" ptsTypes="AA">
                                      <p:cBhvr>
                                        <p:cTn id="4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0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9="http://schemas.microsoft.com/office/powerpoint/2010/main" id="53" presetID="0" presetClass="path" presetSubtype="0" decel="60000" fill="hold" grpId="1" nodeType="withEffect" ns9:bounceEnd="30000">
                                  <p:stCondLst>
                                    <p:cond delay="205"/>
                                  </p:stCondLst>
                                  <p:childTnLst>
                                    <p:animMotion origin="layout" path="M 0.301245 -0.314667 L 0 0 E" pathEditMode="relative" rAng="0" ptsTypes="AA">
                                      <p:cBhvr>
                                        <p:cTn id="54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0="http://schemas.microsoft.com/office/powerpoint/2010/main" id="58" presetID="0" presetClass="path" presetSubtype="0" decel="60000" fill="hold" grpId="1" nodeType="withEffect" ns10:bounceEnd="30000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0.301245 -0.314667 L 0 0 E" pathEditMode="relative" rAng="0" ptsTypes="AA">
                                      <p:cBhvr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1="http://schemas.microsoft.com/office/powerpoint/2010/main" id="63" presetID="0" presetClass="path" presetSubtype="0" decel="60000" fill="hold" grpId="1" nodeType="withEffect" ns11:bounceEnd="30000">
                                  <p:stCondLst>
                                    <p:cond delay="255"/>
                                  </p:stCondLst>
                                  <p:childTnLst>
                                    <p:animMotion origin="layout" path="M 0.301245 -0.314667 L 0 0 E" pathEditMode="relative" rAng="0" ptsTypes="AA">
                                      <p:cBhvr>
                                        <p:cTn id="6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2="http://schemas.microsoft.com/office/powerpoint/2010/main" id="68" presetID="0" presetClass="path" presetSubtype="0" decel="60000" fill="hold" grpId="1" nodeType="withEffect" ns12:bounceEnd="30000">
                                  <p:stCondLst>
                                    <p:cond delay="270"/>
                                  </p:stCondLst>
                                  <p:childTnLst>
                                    <p:animMotion origin="layout" path="M -0.29877 0.192 L 0 0 E" pathEditMode="relative" rAng="0" ptsTypes="AA">
                                      <p:cBhvr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9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3="http://schemas.microsoft.com/office/powerpoint/2010/main" id="73" presetID="0" presetClass="path" presetSubtype="0" decel="60000" fill="hold" grpId="1" nodeType="withEffect" ns13:bounceEnd="30000">
                                  <p:stCondLst>
                                    <p:cond delay="295"/>
                                  </p:stCondLst>
                                  <p:childTnLst>
                                    <p:animMotion origin="layout" path="M -0.29877 0.192 L 0 0 E" pathEditMode="relative" rAng="0" ptsTypes="AA">
                                      <p:cBhvr>
                                        <p:cTn id="74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4="http://schemas.microsoft.com/office/powerpoint/2010/main" id="78" presetID="0" presetClass="path" presetSubtype="0" decel="60000" fill="hold" grpId="1" nodeType="withEffect" ns14:bounceEnd="30000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-0.29877 0.192 L 0 0 E" pathEditMode="relative" rAng="0" ptsTypes="AA">
                                      <p:cBhvr>
                                        <p:cTn id="7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5="http://schemas.microsoft.com/office/powerpoint/2010/main" id="83" presetID="0" presetClass="path" presetSubtype="0" decel="60000" fill="hold" grpId="1" nodeType="withEffect" ns15:bounceEnd="30000">
                                  <p:stCondLst>
                                    <p:cond delay="345"/>
                                  </p:stCondLst>
                                  <p:childTnLst>
                                    <p:animMotion origin="layout" path="M -0.29877 0.192 L 0 0 E" pathEditMode="relative" rAng="0" ptsTypes="AA">
                                      <p:cBhvr>
                                        <p:cTn id="84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6="http://schemas.microsoft.com/office/powerpoint/2010/main" id="88" presetID="0" presetClass="path" presetSubtype="0" decel="60000" fill="hold" grpId="1" nodeType="withEffect" ns16:bounceEnd="30000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-0.29877 -0.061333 L 0 0 E" pathEditMode="relative" rAng="0" ptsTypes="AA">
                                      <p:cBhvr>
                                        <p:cTn id="8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7="http://schemas.microsoft.com/office/powerpoint/2010/main" id="93" presetID="0" presetClass="path" presetSubtype="0" decel="60000" fill="hold" grpId="1" nodeType="withEffect" ns17:bounceEnd="30000">
                                  <p:stCondLst>
                                    <p:cond delay="385"/>
                                  </p:stCondLst>
                                  <p:childTnLst>
                                    <p:animMotion origin="layout" path="M -0.29877 -0.061333 L 0 0 E" pathEditMode="relative" rAng="0" ptsTypes="AA">
                                      <p:cBhvr>
                                        <p:cTn id="94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8="http://schemas.microsoft.com/office/powerpoint/2010/main" id="98" presetID="0" presetClass="path" presetSubtype="0" decel="60000" fill="hold" grpId="1" nodeType="withEffect" ns18:bounceEnd="30000">
                                  <p:stCondLst>
                                    <p:cond delay="410"/>
                                  </p:stCondLst>
                                  <p:childTnLst>
                                    <p:animMotion origin="layout" path="M -0.29877 -0.061333 L 0 0 E" pathEditMode="relative" rAng="0" ptsTypes="AA">
                                      <p:cBhvr>
                                        <p:cTn id="9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43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19="http://schemas.microsoft.com/office/powerpoint/2010/main" id="103" presetID="0" presetClass="path" presetSubtype="0" decel="60000" fill="hold" grpId="1" nodeType="withEffect" ns19:bounceEnd="30000">
                                  <p:stCondLst>
                                    <p:cond delay="435"/>
                                  </p:stCondLst>
                                  <p:childTnLst>
                                    <p:animMotion origin="layout" path="M -0.29877 -0.061333 L 0 0 E" pathEditMode="relative" rAng="0" ptsTypes="AA">
                                      <p:cBhvr>
                                        <p:cTn id="104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0="http://schemas.microsoft.com/office/powerpoint/2010/main" id="108" presetID="0" presetClass="path" presetSubtype="0" decel="60000" fill="hold" grpId="1" nodeType="withEffect" ns20:bounceEnd="30000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-0.29877 -0.314667 L 0 0 E" pathEditMode="relative" rAng="0" ptsTypes="AA">
                                      <p:cBhvr>
                                        <p:cTn id="10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1="http://schemas.microsoft.com/office/powerpoint/2010/main" id="113" presetID="0" presetClass="path" presetSubtype="0" decel="60000" fill="hold" grpId="1" nodeType="withEffect" ns21:bounceEnd="30000">
                                  <p:stCondLst>
                                    <p:cond delay="475"/>
                                  </p:stCondLst>
                                  <p:childTnLst>
                                    <p:animMotion origin="layout" path="M -0.29877 -0.314667 L 0 0 E" pathEditMode="relative" rAng="0" ptsTypes="AA">
                                      <p:cBhvr>
                                        <p:cTn id="1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2="http://schemas.microsoft.com/office/powerpoint/2010/main" id="118" presetID="0" presetClass="path" presetSubtype="0" decel="60000" fill="hold" grpId="1" nodeType="withEffect" ns22:bounceEnd="30000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29877 -0.314667 L 0 0 E" pathEditMode="relative" rAng="0" ptsTypes="AA">
                                      <p:cBhvr>
                                        <p:cTn id="11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ns23="http://schemas.microsoft.com/office/powerpoint/2010/main" id="123" presetID="0" presetClass="path" presetSubtype="0" decel="60000" fill="hold" grpId="1" nodeType="withEffect" ns23:bounceEnd="30000">
                                  <p:stCondLst>
                                    <p:cond delay="525"/>
                                  </p:stCondLst>
                                  <p:childTnLst>
                                    <p:animMotion origin="layout" path="M -0.29877 -0.314667 L 0 0 E" pathEditMode="relative" rAng="0" ptsTypes="AA">
                                      <p:cBhvr>
                                        <p:cTn id="124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2222 0.084444 0.042222 0.168889 0 0.253333 E" pathEditMode="relative" rAng="0">
                                      <p:cBhvr>
                                        <p:cTn id="12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2222 0.084444 0.042222 0.168889 0 0.253333 E" pathEditMode="relative" rAng="0">
                                      <p:cBhvr>
                                        <p:cTn id="13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2222 0.084444 0.042222 0.168889 0 0.253333 E" pathEditMode="relative" rAng="0">
                                      <p:cBhvr>
                                        <p:cTn id="13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2222 0.084444 0.042222 0.168889 0 0.253333 E" pathEditMode="relative" rAng="0">
                                      <p:cBhvr>
                                        <p:cTn id="134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2222 -0.084444 -0.042222 -0.168889 0 -0.253333 E" pathEditMode="relative" rAng="0">
                                      <p:cBhvr>
                                        <p:cTn id="13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2222 -0.084444 -0.042222 -0.168889 0 -0.253333 E" pathEditMode="relative" rAng="0">
                                      <p:cBhvr>
                                        <p:cTn id="13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2222 -0.084444 -0.042222 -0.168889 0 -0.253333 E" pathEditMode="relative" rAng="0">
                                      <p:cBhvr>
                                        <p:cTn id="14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2222 -0.084444 -0.042222 -0.168889 0 -0.253333 E" pathEditMode="relative" rAng="0">
                                      <p:cBhvr>
                                        <p:cTn id="14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  <p:bldP spid="16" grpId="0" animBg="1"/>
      <p:bldP spid="16" grpId="1" animBg="1"/>
      <p:bldP spid="16" grpId="2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5 Kicker"/>
          <p:cNvSpPr txBox="1"/>
          <p:nvPr/>
        </p:nvSpPr>
        <p:spPr>
          <a:xfrm>
            <a:off x="594360" y="292608"/>
            <a:ext cx="77724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DejaVu Sans"/>
              </a:rPr>
              <a:t>MORPHED SWIMLANE CONSOLE · NATIVE CHART BUILD · DUAL INTERACTIVESEQ</a:t>
            </a:r>
          </a:p>
        </p:txBody>
      </p:sp>
      <p:sp>
        <p:nvSpPr>
          <p:cNvPr id="3" name="S5 Title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DejaVu Sans"/>
              </a:rPr>
              <a:t>Regional Mesh Morphs Into Swimlanes Alongside Live Telemetry &amp; Triggers</a:t>
            </a:r>
          </a:p>
        </p:txBody>
      </p:sp>
      <p:sp>
        <p:nvSpPr>
          <p:cNvPr id="4" name="!!cluster-1"/>
          <p:cNvSpPr/>
          <p:nvPr/>
        </p:nvSpPr>
        <p:spPr>
          <a:xfrm>
            <a:off x="594360" y="1353312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US-West</a:t>
            </a:r>
          </a:p>
        </p:txBody>
      </p:sp>
      <p:sp>
        <p:nvSpPr>
          <p:cNvPr id="5" name="!!bar-1"/>
          <p:cNvSpPr/>
          <p:nvPr/>
        </p:nvSpPr>
        <p:spPr>
          <a:xfrm>
            <a:off x="2651760" y="1481328"/>
            <a:ext cx="2148840" cy="40233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1 Throughput</a:t>
            </a:r>
          </a:p>
        </p:txBody>
      </p:sp>
      <p:sp>
        <p:nvSpPr>
          <p:cNvPr id="6" name="!!lat-1"/>
          <p:cNvSpPr/>
          <p:nvPr/>
        </p:nvSpPr>
        <p:spPr>
          <a:xfrm>
            <a:off x="5166360" y="1481328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6B6D4"/>
                </a:solidFill>
                <a:latin typeface="DejaVu Sans"/>
              </a:rPr>
              <a:t>1.2 ms</a:t>
            </a:r>
          </a:p>
        </p:txBody>
      </p:sp>
      <p:sp>
        <p:nvSpPr>
          <p:cNvPr id="7" name="!!cluster-2"/>
          <p:cNvSpPr/>
          <p:nvPr/>
        </p:nvSpPr>
        <p:spPr>
          <a:xfrm>
            <a:off x="594360" y="2157984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US-East</a:t>
            </a:r>
          </a:p>
        </p:txBody>
      </p:sp>
      <p:sp>
        <p:nvSpPr>
          <p:cNvPr id="8" name="!!bar-2"/>
          <p:cNvSpPr/>
          <p:nvPr/>
        </p:nvSpPr>
        <p:spPr>
          <a:xfrm>
            <a:off x="2651760" y="2286000"/>
            <a:ext cx="1920240" cy="40233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2 Throughput</a:t>
            </a:r>
          </a:p>
        </p:txBody>
      </p:sp>
      <p:sp>
        <p:nvSpPr>
          <p:cNvPr id="9" name="!!lat-2"/>
          <p:cNvSpPr/>
          <p:nvPr/>
        </p:nvSpPr>
        <p:spPr>
          <a:xfrm>
            <a:off x="5166360" y="2286000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D9488"/>
                </a:solidFill>
                <a:latin typeface="DejaVu Sans"/>
              </a:rPr>
              <a:t>1.8 ms</a:t>
            </a:r>
          </a:p>
        </p:txBody>
      </p:sp>
      <p:sp>
        <p:nvSpPr>
          <p:cNvPr id="10" name="!!cluster-3"/>
          <p:cNvSpPr/>
          <p:nvPr/>
        </p:nvSpPr>
        <p:spPr>
          <a:xfrm>
            <a:off x="594360" y="2962656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EU-Central</a:t>
            </a:r>
          </a:p>
        </p:txBody>
      </p:sp>
      <p:sp>
        <p:nvSpPr>
          <p:cNvPr id="11" name="!!bar-3"/>
          <p:cNvSpPr/>
          <p:nvPr/>
        </p:nvSpPr>
        <p:spPr>
          <a:xfrm>
            <a:off x="2651760" y="3090672"/>
            <a:ext cx="2423160" cy="40233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3 Throughput</a:t>
            </a:r>
          </a:p>
        </p:txBody>
      </p:sp>
      <p:sp>
        <p:nvSpPr>
          <p:cNvPr id="12" name="!!lat-3"/>
          <p:cNvSpPr/>
          <p:nvPr/>
        </p:nvSpPr>
        <p:spPr>
          <a:xfrm>
            <a:off x="5166360" y="3090672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59E0B"/>
                </a:solidFill>
                <a:latin typeface="DejaVu Sans"/>
              </a:rPr>
              <a:t>2.4 ms</a:t>
            </a:r>
          </a:p>
        </p:txBody>
      </p:sp>
      <p:sp>
        <p:nvSpPr>
          <p:cNvPr id="13" name="!!cluster-4"/>
          <p:cNvSpPr/>
          <p:nvPr/>
        </p:nvSpPr>
        <p:spPr>
          <a:xfrm>
            <a:off x="594360" y="3767328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AP-North</a:t>
            </a:r>
          </a:p>
        </p:txBody>
      </p:sp>
      <p:sp>
        <p:nvSpPr>
          <p:cNvPr id="14" name="!!bar-4"/>
          <p:cNvSpPr/>
          <p:nvPr/>
        </p:nvSpPr>
        <p:spPr>
          <a:xfrm>
            <a:off x="2651760" y="3895344"/>
            <a:ext cx="2057400" cy="40233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4 Throughput</a:t>
            </a:r>
          </a:p>
        </p:txBody>
      </p:sp>
      <p:sp>
        <p:nvSpPr>
          <p:cNvPr id="15" name="!!lat-4"/>
          <p:cNvSpPr/>
          <p:nvPr/>
        </p:nvSpPr>
        <p:spPr>
          <a:xfrm>
            <a:off x="5166360" y="3895344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0B981"/>
                </a:solidFill>
                <a:latin typeface="DejaVu Sans"/>
              </a:rPr>
              <a:t>1.5 ms</a:t>
            </a:r>
          </a:p>
        </p:txBody>
      </p:sp>
      <p:sp>
        <p:nvSpPr>
          <p:cNvPr id="16" name="!!cluster-5"/>
          <p:cNvSpPr/>
          <p:nvPr/>
        </p:nvSpPr>
        <p:spPr>
          <a:xfrm>
            <a:off x="594360" y="4572000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AP-South</a:t>
            </a:r>
          </a:p>
        </p:txBody>
      </p:sp>
      <p:sp>
        <p:nvSpPr>
          <p:cNvPr id="17" name="!!bar-5"/>
          <p:cNvSpPr/>
          <p:nvPr/>
        </p:nvSpPr>
        <p:spPr>
          <a:xfrm>
            <a:off x="2651760" y="4700016"/>
            <a:ext cx="1783080" cy="40233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5 Throughput</a:t>
            </a:r>
          </a:p>
        </p:txBody>
      </p:sp>
      <p:sp>
        <p:nvSpPr>
          <p:cNvPr id="18" name="!!lat-5"/>
          <p:cNvSpPr/>
          <p:nvPr/>
        </p:nvSpPr>
        <p:spPr>
          <a:xfrm>
            <a:off x="5166360" y="4700016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8B5CF6"/>
                </a:solidFill>
                <a:latin typeface="DejaVu Sans"/>
              </a:rPr>
              <a:t>2.1 ms</a:t>
            </a:r>
          </a:p>
        </p:txBody>
      </p:sp>
      <p:sp>
        <p:nvSpPr>
          <p:cNvPr id="19" name="!!cluster-6"/>
          <p:cNvSpPr/>
          <p:nvPr/>
        </p:nvSpPr>
        <p:spPr>
          <a:xfrm>
            <a:off x="594360" y="5376672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SA-East</a:t>
            </a:r>
          </a:p>
        </p:txBody>
      </p:sp>
      <p:sp>
        <p:nvSpPr>
          <p:cNvPr id="20" name="!!bar-6"/>
          <p:cNvSpPr/>
          <p:nvPr/>
        </p:nvSpPr>
        <p:spPr>
          <a:xfrm>
            <a:off x="2651760" y="5504688"/>
            <a:ext cx="1600200" cy="40233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6 Throughput</a:t>
            </a:r>
          </a:p>
        </p:txBody>
      </p:sp>
      <p:sp>
        <p:nvSpPr>
          <p:cNvPr id="21" name="!!lat-6"/>
          <p:cNvSpPr/>
          <p:nvPr/>
        </p:nvSpPr>
        <p:spPr>
          <a:xfrm>
            <a:off x="5166360" y="5504688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E11D48"/>
                </a:solidFill>
                <a:latin typeface="DejaVu Sans"/>
              </a:rPr>
              <a:t>2.9 ms</a:t>
            </a:r>
          </a:p>
        </p:txBody>
      </p:sp>
      <p:graphicFrame>
        <p:nvGraphicFramePr>
          <p:cNvPr id="22" name="Telemetry Chart"/>
          <p:cNvGraphicFramePr>
            <a:graphicFrameLocks noGrp="1"/>
          </p:cNvGraphicFramePr>
          <p:nvPr/>
        </p:nvGraphicFramePr>
        <p:xfrm>
          <a:off x="6263640" y="1325880"/>
          <a:ext cx="352044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Hero SLA Card"/>
          <p:cNvSpPr/>
          <p:nvPr/>
        </p:nvSpPr>
        <p:spPr>
          <a:xfrm>
            <a:off x="9921240" y="1325880"/>
            <a:ext cx="1691640" cy="2697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ro SLA Label"/>
          <p:cNvSpPr txBox="1"/>
          <p:nvPr/>
        </p:nvSpPr>
        <p:spPr>
          <a:xfrm>
            <a:off x="10012680" y="1508760"/>
            <a:ext cx="150876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DejaVu Sans"/>
              </a:rPr>
              <a:t>GLOBAL MESH SLA</a:t>
            </a:r>
          </a:p>
        </p:txBody>
      </p:sp>
      <p:sp>
        <p:nvSpPr>
          <p:cNvPr id="25" name="Hero SLA Number"/>
          <p:cNvSpPr txBox="1"/>
          <p:nvPr/>
        </p:nvSpPr>
        <p:spPr>
          <a:xfrm>
            <a:off x="9985248" y="2148840"/>
            <a:ext cx="155448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  <a:latin typeface="DejaVu Sans"/>
              </a:rPr>
              <a:t>99.9%</a:t>
            </a:r>
          </a:p>
        </p:txBody>
      </p:sp>
      <p:sp>
        <p:nvSpPr>
          <p:cNvPr id="26" name="Hero SLA Foot"/>
          <p:cNvSpPr txBox="1"/>
          <p:nvPr/>
        </p:nvSpPr>
        <p:spPr>
          <a:xfrm>
            <a:off x="10012680" y="3063240"/>
            <a:ext cx="150876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Zero packet loss across 6 regions</a:t>
            </a:r>
          </a:p>
        </p:txBody>
      </p:sp>
      <p:sp>
        <p:nvSpPr>
          <p:cNvPr id="27" name="Btn Failover"/>
          <p:cNvSpPr/>
          <p:nvPr/>
        </p:nvSpPr>
        <p:spPr>
          <a:xfrm>
            <a:off x="6263640" y="4251960"/>
            <a:ext cx="2560320" cy="56692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Click: Inspect EU Failover</a:t>
            </a:r>
          </a:p>
        </p:txBody>
      </p:sp>
      <p:sp>
        <p:nvSpPr>
          <p:cNvPr id="28" name="Btn Quota"/>
          <p:cNvSpPr/>
          <p:nvPr/>
        </p:nvSpPr>
        <p:spPr>
          <a:xfrm>
            <a:off x="9052560" y="4251960"/>
            <a:ext cx="2560320" cy="56692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Click: Inspect Tensor Quota</a:t>
            </a:r>
          </a:p>
        </p:txBody>
      </p:sp>
      <p:sp>
        <p:nvSpPr>
          <p:cNvPr id="29" name="Panel Failover"/>
          <p:cNvSpPr/>
          <p:nvPr/>
        </p:nvSpPr>
        <p:spPr>
          <a:xfrm>
            <a:off x="6263640" y="4956048"/>
            <a:ext cx="256032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8FAFC"/>
                </a:solidFill>
                <a:latin typeface="DejaVu Sans"/>
              </a:rPr>
              <a:t>EU-Central Rerouted in 0.4 ms</a:t>
            </a:r>
          </a:p>
          <a:p>
            <a:pPr algn="ctr"/>
            <a:r>
              <a:rPr sz="1100" b="1">
                <a:solidFill>
                  <a:srgbClr val="F8FAFC"/>
                </a:solidFill>
                <a:latin typeface="DejaVu Sans"/>
              </a:rPr>
              <a:t>Optical Ring B absorbed +18% load</a:t>
            </a:r>
          </a:p>
        </p:txBody>
      </p:sp>
      <p:sp>
        <p:nvSpPr>
          <p:cNvPr id="30" name="Panel Quota"/>
          <p:cNvSpPr/>
          <p:nvPr/>
        </p:nvSpPr>
        <p:spPr>
          <a:xfrm>
            <a:off x="9052560" y="4956048"/>
            <a:ext cx="256032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8FAFC"/>
                </a:solidFill>
                <a:latin typeface="DejaVu Sans"/>
              </a:rPr>
              <a:t>Tensor Array Utilization: 94.2%</a:t>
            </a:r>
          </a:p>
          <a:p>
            <a:pPr algn="ctr"/>
            <a:r>
              <a:rPr sz="1100" b="1">
                <a:solidFill>
                  <a:srgbClr val="F8FAFC"/>
                </a:solidFill>
                <a:latin typeface="DejaVu Sans"/>
              </a:rPr>
              <a:t>Speculative router saved 31% HBM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800"/>
                                        <p:tgtEl>
                                          <p:spTgt spid="2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800"/>
                                        <p:tgtEl>
                                          <p:spTgt spid="2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" presetClass="emph" presetSubtype="0" decel="6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0" presetClass="path" presetSubtype="0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5 L 0 0 E" pathEditMode="relative" rAng="0" ptsTypes="AAA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" presetClass="emph" presetSubtype="0" decel="6000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animScale>
                                      <p:cBhvr>
                                        <p:cTn id="17" dur="250" fill="hold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0" presetClass="path" presetSubtype="0" accel="60000" fill="hold" grpId="1" nodeType="withEffect">
                                  <p:stCondLst>
                                    <p:cond delay="90"/>
                                  </p:stCondLst>
                                  <p:childTnLst>
                                    <p:animMotion origin="layout" path="M 0 0 L 0 -0.025 L 0 0 E" pathEditMode="relative" rAng="0" ptsTypes="AAA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" presetClass="emph" presetSubtype="0" decel="6000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animScale>
                                      <p:cBhvr>
                                        <p:cTn id="21" dur="250" fill="hold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0" presetClass="path" presetSubtype="0" accel="60000" fill="hold" grpId="1" nodeType="withEffect">
                                  <p:stCondLst>
                                    <p:cond delay="180"/>
                                  </p:stCondLst>
                                  <p:childTnLst>
                                    <p:animMotion origin="layout" path="M 0 0 L 0 -0.025 L 0 0 E" pathEditMode="relative" rAng="0" ptsTypes="AAA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" presetClass="emph" presetSubtype="0" accel="60000" fill="hold" grpId="2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5" dur="250" fill="hold"/>
                                        <p:tgtEl>
                                          <p:spTgt spid="5"/>
                                        </p:tgtEl>
                                      </p:cBhvr>
                                      <p:by x="92593" y="92593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6" presetClass="emph" presetSubtype="0" decel="6000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animScale>
                                      <p:cBhvr>
                                        <p:cTn id="27" dur="250" fill="hold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0" presetClass="path" presetSubtype="0" accel="60000" fill="hold" grpId="1" nodeType="withEffect">
                                  <p:stCondLst>
                                    <p:cond delay="270"/>
                                  </p:stCondLst>
                                  <p:childTnLst>
                                    <p:animMotion origin="layout" path="M 0 0 L 0 -0.025 L 0 0 E" pathEditMode="relative" rAng="0" ptsTypes="AAA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" presetClass="emph" presetSubtype="0" accel="60000" fill="hold" grpId="2" nodeType="withEffect">
                                  <p:stCondLst>
                                    <p:cond delay="340"/>
                                  </p:stCondLst>
                                  <p:childTnLst>
                                    <p:animScale>
                                      <p:cBhvr>
                                        <p:cTn id="31" dur="250" fill="hold"/>
                                        <p:tgtEl>
                                          <p:spTgt spid="8"/>
                                        </p:tgtEl>
                                      </p:cBhvr>
                                      <p:by x="92593" y="92593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6" presetClass="emph" presetSubtype="0" decel="6000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33" dur="250" fill="hold"/>
                                        <p:tgtEl>
                                          <p:spTgt spid="1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0" presetClass="path" presetSubtype="0" accel="60000" fill="hold" grpId="1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 0 L 0 -0.025 L 0 0 E" pathEditMode="relative" rAng="0" ptsTypes="AAA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6" presetClass="emph" presetSubtype="0" accel="60000" fill="hold" grpId="2" nodeType="withEffect">
                                  <p:stCondLst>
                                    <p:cond delay="430"/>
                                  </p:stCondLst>
                                  <p:childTnLst>
                                    <p:animScale>
                                      <p:cBhvr>
                                        <p:cTn id="37" dur="250" fill="hold"/>
                                        <p:tgtEl>
                                          <p:spTgt spid="11"/>
                                        </p:tgtEl>
                                      </p:cBhvr>
                                      <p:by x="92593" y="92593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6" presetClass="emph" presetSubtype="0" decel="60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39" dur="250" fill="hold"/>
                                        <p:tgtEl>
                                          <p:spTgt spid="2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0" presetClass="path" presetSubtype="0" accel="60000" fill="hold" grpId="1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 -0.025 L 0 0 E" pathEditMode="relative" rAng="0" ptsTypes="AAA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" presetClass="emph" presetSubtype="0" accel="60000" fill="hold" grpId="2" nodeType="withEffect">
                                  <p:stCondLst>
                                    <p:cond delay="520"/>
                                  </p:stCondLst>
                                  <p:childTnLst>
                                    <p:animScale>
                                      <p:cBhvr>
                                        <p:cTn id="43" dur="250" fill="hold"/>
                                        <p:tgtEl>
                                          <p:spTgt spid="14"/>
                                        </p:tgtEl>
                                      </p:cBhvr>
                                      <p:by x="92593" y="92593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6" presetClass="emph" presetSubtype="0" accel="60000" fill="hold" grpId="2" nodeType="withEffect">
                                  <p:stCondLst>
                                    <p:cond delay="610"/>
                                  </p:stCondLst>
                                  <p:childTnLst>
                                    <p:animScale>
                                      <p:cBhvr>
                                        <p:cTn id="45" dur="250" fill="hold"/>
                                        <p:tgtEl>
                                          <p:spTgt spid="17"/>
                                        </p:tgtEl>
                                      </p:cBhvr>
                                      <p:by x="92593" y="92593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6" presetClass="emph" presetSubtype="0" accel="6000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47" dur="250" fill="hold"/>
                                        <p:tgtEl>
                                          <p:spTgt spid="20"/>
                                        </p:tgtEl>
                                      </p:cBhvr>
                                      <p:by x="92593" y="92593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70"/>
                            </p:stCondLst>
                            <p:childTnLst>
                              <p:par>
                                <p:cTn id="81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2" dur="350" fill="hold" autoRev="1"/>
                                        <p:tgtEl>
                                          <p:spTgt spid="2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3" dur="indefinite" restart="whenNotActive" fill="hold" evtFilter="cancelBubble" nodeType="interactiveSeq">
                <p:childTnLst>
                  <p:par>
                    <p:cTn id="84" fill="hold">
                      <p:stCondLst>
                        <p:cond delay="indefinite"/>
                        <p:cond evt="onBegin" delay="0">
                          <p:tn val="83"/>
                        </p:cond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91" dur="indefinite" restart="whenNotActive" fill="hold" evtFilter="cancelBubble" nodeType="interactiveSeq">
                <p:childTnLst>
                  <p:par>
                    <p:cTn id="92" fill="hold">
                      <p:stCondLst>
                        <p:cond delay="indefinite"/>
                        <p:cond evt="onBegin" delay="0">
                          <p:tn val="91"/>
                        </p:cond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4" grpId="0" animBg="1"/>
      <p:bldP spid="14" grpId="1" animBg="1"/>
      <p:bldP spid="14" grpId="2" animBg="1"/>
      <p:bldP spid="17" grpId="0" animBg="1"/>
      <p:bldP spid="17" grpId="1" animBg="1"/>
      <p:bldP spid="17" grpId="2" animBg="1"/>
      <p:bldP spid="20" grpId="0" animBg="1"/>
      <p:bldP spid="20" grpId="1" animBg="1"/>
      <p:bldP spid="20" grpId="2" animBg="1"/>
      <p:bldGraphic spid="22" grpId="0">
        <p:bldSub>
          <a:bldChart bld="series" animBg="0"/>
        </p:bldSub>
      </p:bldGraphic>
      <p:bldGraphic spid="22" grpId="1">
        <p:bldSub>
          <a:bldChart bld="series" animBg="0"/>
        </p:bldSub>
      </p:bldGraphic>
      <p:bldP spid="23" grpId="0" animBg="1"/>
      <p:bldP spid="24" grpId="0" animBg="1"/>
      <p:bldP spid="25" grpId="0" animBg="1"/>
      <p:bldP spid="25" grpId="1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