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Optical Mesh (TB/s)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11.4</c:v>
                </c:pt>
                <c:pt idx="2">
                  <c:v>13.1</c:v>
                </c:pt>
                <c:pt idx="3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Tail p99 (ms)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2.1</c:v>
                </c:pt>
                <c:pt idx="3">
                  <c:v>1.4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Auto-assemble the 6 multi-part NPU tiles on slide start, then orbit all 6 tiles 360 degrees while counter-spinning the wafer 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 the 5 composite pods with 30ms follow-through inertia, rotate twice in 3D elliptical depth, spotlight Pod RiskSolver, then 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Explode the 5-layer silicon stack, stream 4 packets through Relays R1-R4 with color flashes, then route Audit Probe around Thermal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 the 6 regional clusters, swap US-East and EU-Central on curved arcs, then Morph all 18 !! objects into Slide 5's swimlane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Morph 18 cluster shapes into swimlanes, build the chart while rippling the swimlane bars, count up the SLA metric, and wire two interactive trigger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Kicker Pill"/>
          <p:cNvSpPr/>
          <p:nvPr/>
        </p:nvSpPr>
        <p:spPr>
          <a:xfrm>
            <a:off x="640080" y="594360"/>
            <a:ext cx="347472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AUTONOMOUS SILICON &amp; FABRIC · 2027</a:t>
            </a:r>
          </a:p>
        </p:txBody>
      </p:sp>
      <p:sp>
        <p:nvSpPr>
          <p:cNvPr id="3" name="Cover Main Title"/>
          <p:cNvSpPr txBox="1"/>
          <p:nvPr/>
        </p:nvSpPr>
        <p:spPr>
          <a:xfrm>
            <a:off x="640080" y="1078992"/>
            <a:ext cx="566928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DejaVu Sans"/>
              </a:rPr>
              <a:t>Optical Tensor Architecture</a:t>
            </a:r>
          </a:p>
          <a:p>
            <a:pPr algn="l"/>
            <a:r>
              <a:rPr sz="3000" b="1">
                <a:solidFill>
                  <a:srgbClr val="F8FAFC"/>
                </a:solidFill>
                <a:latin typeface="DejaVu Sans"/>
              </a:rPr>
              <a:t>&amp; Self-Healing Mesh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640080" y="2304288"/>
            <a:ext cx="54864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Multi-layer compound choreography: transitive virtual rigging,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3D perspective orbits, exploded strata, and interactive OOXML.</a:t>
            </a:r>
          </a:p>
        </p:txBody>
      </p:sp>
      <p:sp>
        <p:nvSpPr>
          <p:cNvPr id="5" name="Card BW"/>
          <p:cNvSpPr/>
          <p:nvPr/>
        </p:nvSpPr>
        <p:spPr>
          <a:xfrm>
            <a:off x="640080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BW Bar"/>
          <p:cNvSpPr/>
          <p:nvPr/>
        </p:nvSpPr>
        <p:spPr>
          <a:xfrm>
            <a:off x="749808" y="4270248"/>
            <a:ext cx="1591056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BW Val"/>
          <p:cNvSpPr txBox="1"/>
          <p:nvPr/>
        </p:nvSpPr>
        <p:spPr>
          <a:xfrm>
            <a:off x="74980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14.4 TB/s</a:t>
            </a:r>
          </a:p>
        </p:txBody>
      </p:sp>
      <p:sp>
        <p:nvSpPr>
          <p:cNvPr id="8" name="Card BW Sub"/>
          <p:cNvSpPr txBox="1"/>
          <p:nvPr/>
        </p:nvSpPr>
        <p:spPr>
          <a:xfrm>
            <a:off x="74980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Co-Packaged Optical Ring</a:t>
            </a:r>
          </a:p>
        </p:txBody>
      </p:sp>
      <p:sp>
        <p:nvSpPr>
          <p:cNvPr id="9" name="Card E"/>
          <p:cNvSpPr/>
          <p:nvPr/>
        </p:nvSpPr>
        <p:spPr>
          <a:xfrm>
            <a:off x="2606039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E Bar"/>
          <p:cNvSpPr/>
          <p:nvPr/>
        </p:nvSpPr>
        <p:spPr>
          <a:xfrm>
            <a:off x="2715768" y="4270248"/>
            <a:ext cx="1591056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 Val"/>
          <p:cNvSpPr txBox="1"/>
          <p:nvPr/>
        </p:nvSpPr>
        <p:spPr>
          <a:xfrm>
            <a:off x="271576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1.8 pJ/bit</a:t>
            </a:r>
          </a:p>
        </p:txBody>
      </p:sp>
      <p:sp>
        <p:nvSpPr>
          <p:cNvPr id="12" name="Card E Sub"/>
          <p:cNvSpPr txBox="1"/>
          <p:nvPr/>
        </p:nvSpPr>
        <p:spPr>
          <a:xfrm>
            <a:off x="271576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Photonic Waveguide Bus</a:t>
            </a:r>
          </a:p>
        </p:txBody>
      </p:sp>
      <p:sp>
        <p:nvSpPr>
          <p:cNvPr id="13" name="Card SLA"/>
          <p:cNvSpPr/>
          <p:nvPr/>
        </p:nvSpPr>
        <p:spPr>
          <a:xfrm>
            <a:off x="4572000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SLA Bar"/>
          <p:cNvSpPr/>
          <p:nvPr/>
        </p:nvSpPr>
        <p:spPr>
          <a:xfrm>
            <a:off x="4681728" y="4270248"/>
            <a:ext cx="1591056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SLA Val"/>
          <p:cNvSpPr txBox="1"/>
          <p:nvPr/>
        </p:nvSpPr>
        <p:spPr>
          <a:xfrm>
            <a:off x="468172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99.995%</a:t>
            </a:r>
          </a:p>
        </p:txBody>
      </p:sp>
      <p:sp>
        <p:nvSpPr>
          <p:cNvPr id="16" name="Card SLA Sub"/>
          <p:cNvSpPr txBox="1"/>
          <p:nvPr/>
        </p:nvSpPr>
        <p:spPr>
          <a:xfrm>
            <a:off x="468172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Zero-Drop Failover Mesh</a:t>
            </a:r>
          </a:p>
        </p:txBody>
      </p:sp>
      <p:sp>
        <p:nvSpPr>
          <p:cNvPr id="17" name="Wafer Outer Ring"/>
          <p:cNvSpPr/>
          <p:nvPr/>
        </p:nvSpPr>
        <p:spPr>
          <a:xfrm>
            <a:off x="6675120" y="1097280"/>
            <a:ext cx="4663440" cy="4663440"/>
          </a:xfrm>
          <a:prstGeom prst="donu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afer Core Die"/>
          <p:cNvSpPr/>
          <p:nvPr/>
        </p:nvSpPr>
        <p:spPr>
          <a:xfrm>
            <a:off x="8138160" y="2560320"/>
            <a:ext cx="1737360" cy="1737360"/>
          </a:xfrm>
          <a:prstGeom prst="hexagon">
            <a:avLst/>
          </a:prstGeom>
          <a:solidFill>
            <a:srgbClr val="2563E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afer Core Title"/>
          <p:cNvSpPr txBox="1"/>
          <p:nvPr/>
        </p:nvSpPr>
        <p:spPr>
          <a:xfrm>
            <a:off x="8321040" y="3081528"/>
            <a:ext cx="13716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DejaVu Sans"/>
              </a:rPr>
              <a:t>NPU-X9</a:t>
            </a:r>
          </a:p>
        </p:txBody>
      </p:sp>
      <p:sp>
        <p:nvSpPr>
          <p:cNvPr id="20" name="Wafer Core Sub"/>
          <p:cNvSpPr txBox="1"/>
          <p:nvPr/>
        </p:nvSpPr>
        <p:spPr>
          <a:xfrm>
            <a:off x="8321040" y="347472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4.8 PFLOPS</a:t>
            </a:r>
          </a:p>
        </p:txBody>
      </p:sp>
      <p:sp>
        <p:nvSpPr>
          <p:cNvPr id="21" name="Core Tile C1"/>
          <p:cNvSpPr/>
          <p:nvPr/>
        </p:nvSpPr>
        <p:spPr>
          <a:xfrm>
            <a:off x="8348471" y="103327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re Gem C1"/>
          <p:cNvSpPr/>
          <p:nvPr/>
        </p:nvSpPr>
        <p:spPr>
          <a:xfrm>
            <a:off x="8476488" y="1179576"/>
            <a:ext cx="310896" cy="310896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C1</a:t>
            </a:r>
          </a:p>
        </p:txBody>
      </p:sp>
      <p:sp>
        <p:nvSpPr>
          <p:cNvPr id="23" name="Core Name C1"/>
          <p:cNvSpPr txBox="1"/>
          <p:nvPr/>
        </p:nvSpPr>
        <p:spPr>
          <a:xfrm>
            <a:off x="8842248" y="116128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C1</a:t>
            </a:r>
          </a:p>
        </p:txBody>
      </p:sp>
      <p:sp>
        <p:nvSpPr>
          <p:cNvPr id="24" name="Core Spec C1"/>
          <p:cNvSpPr txBox="1"/>
          <p:nvPr/>
        </p:nvSpPr>
        <p:spPr>
          <a:xfrm>
            <a:off x="8476488" y="156362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640 TFLOPS</a:t>
            </a:r>
          </a:p>
        </p:txBody>
      </p:sp>
      <p:sp>
        <p:nvSpPr>
          <p:cNvPr id="25" name="Core Tile C2"/>
          <p:cNvSpPr/>
          <p:nvPr/>
        </p:nvSpPr>
        <p:spPr>
          <a:xfrm>
            <a:off x="10011448" y="199339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re Gem C2"/>
          <p:cNvSpPr/>
          <p:nvPr/>
        </p:nvSpPr>
        <p:spPr>
          <a:xfrm>
            <a:off x="10139464" y="2139696"/>
            <a:ext cx="310896" cy="310896"/>
          </a:xfrm>
          <a:prstGeom prst="diamond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C2</a:t>
            </a:r>
          </a:p>
        </p:txBody>
      </p:sp>
      <p:sp>
        <p:nvSpPr>
          <p:cNvPr id="27" name="Core Name C2"/>
          <p:cNvSpPr txBox="1"/>
          <p:nvPr/>
        </p:nvSpPr>
        <p:spPr>
          <a:xfrm>
            <a:off x="10505224" y="212140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C2</a:t>
            </a:r>
          </a:p>
        </p:txBody>
      </p:sp>
      <p:sp>
        <p:nvSpPr>
          <p:cNvPr id="28" name="Core Spec C2"/>
          <p:cNvSpPr txBox="1"/>
          <p:nvPr/>
        </p:nvSpPr>
        <p:spPr>
          <a:xfrm>
            <a:off x="10139464" y="252374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HBM3e Ctrl</a:t>
            </a:r>
          </a:p>
        </p:txBody>
      </p:sp>
      <p:sp>
        <p:nvSpPr>
          <p:cNvPr id="29" name="Core Tile C3"/>
          <p:cNvSpPr/>
          <p:nvPr/>
        </p:nvSpPr>
        <p:spPr>
          <a:xfrm>
            <a:off x="10011448" y="391363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re Gem C3"/>
          <p:cNvSpPr/>
          <p:nvPr/>
        </p:nvSpPr>
        <p:spPr>
          <a:xfrm>
            <a:off x="10139464" y="4059935"/>
            <a:ext cx="310896" cy="310896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C3</a:t>
            </a:r>
          </a:p>
        </p:txBody>
      </p:sp>
      <p:sp>
        <p:nvSpPr>
          <p:cNvPr id="31" name="Core Name C3"/>
          <p:cNvSpPr txBox="1"/>
          <p:nvPr/>
        </p:nvSpPr>
        <p:spPr>
          <a:xfrm>
            <a:off x="10505224" y="404164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C3</a:t>
            </a:r>
          </a:p>
        </p:txBody>
      </p:sp>
      <p:sp>
        <p:nvSpPr>
          <p:cNvPr id="32" name="Core Spec C3"/>
          <p:cNvSpPr txBox="1"/>
          <p:nvPr/>
        </p:nvSpPr>
        <p:spPr>
          <a:xfrm>
            <a:off x="10139464" y="4443983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KV Router</a:t>
            </a:r>
          </a:p>
        </p:txBody>
      </p:sp>
      <p:sp>
        <p:nvSpPr>
          <p:cNvPr id="33" name="Core Tile C4"/>
          <p:cNvSpPr/>
          <p:nvPr/>
        </p:nvSpPr>
        <p:spPr>
          <a:xfrm>
            <a:off x="8348471" y="487375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re Gem C4"/>
          <p:cNvSpPr/>
          <p:nvPr/>
        </p:nvSpPr>
        <p:spPr>
          <a:xfrm>
            <a:off x="8476488" y="5020055"/>
            <a:ext cx="310896" cy="310896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C4</a:t>
            </a:r>
          </a:p>
        </p:txBody>
      </p:sp>
      <p:sp>
        <p:nvSpPr>
          <p:cNvPr id="35" name="Core Name C4"/>
          <p:cNvSpPr txBox="1"/>
          <p:nvPr/>
        </p:nvSpPr>
        <p:spPr>
          <a:xfrm>
            <a:off x="8842248" y="500176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C4</a:t>
            </a:r>
          </a:p>
        </p:txBody>
      </p:sp>
      <p:sp>
        <p:nvSpPr>
          <p:cNvPr id="36" name="Core Spec C4"/>
          <p:cNvSpPr txBox="1"/>
          <p:nvPr/>
        </p:nvSpPr>
        <p:spPr>
          <a:xfrm>
            <a:off x="8476488" y="5404103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Optical TX</a:t>
            </a:r>
          </a:p>
        </p:txBody>
      </p:sp>
      <p:sp>
        <p:nvSpPr>
          <p:cNvPr id="37" name="Core Tile C5"/>
          <p:cNvSpPr/>
          <p:nvPr/>
        </p:nvSpPr>
        <p:spPr>
          <a:xfrm>
            <a:off x="6685495" y="391363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re Gem C5"/>
          <p:cNvSpPr/>
          <p:nvPr/>
        </p:nvSpPr>
        <p:spPr>
          <a:xfrm>
            <a:off x="6813511" y="4059936"/>
            <a:ext cx="310896" cy="310896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C5</a:t>
            </a:r>
          </a:p>
        </p:txBody>
      </p:sp>
      <p:sp>
        <p:nvSpPr>
          <p:cNvPr id="39" name="Core Name C5"/>
          <p:cNvSpPr txBox="1"/>
          <p:nvPr/>
        </p:nvSpPr>
        <p:spPr>
          <a:xfrm>
            <a:off x="7179271" y="404164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C5</a:t>
            </a:r>
          </a:p>
        </p:txBody>
      </p:sp>
      <p:sp>
        <p:nvSpPr>
          <p:cNvPr id="40" name="Core Spec C5"/>
          <p:cNvSpPr txBox="1"/>
          <p:nvPr/>
        </p:nvSpPr>
        <p:spPr>
          <a:xfrm>
            <a:off x="6813511" y="444398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RDMA DMA</a:t>
            </a:r>
          </a:p>
        </p:txBody>
      </p:sp>
      <p:sp>
        <p:nvSpPr>
          <p:cNvPr id="41" name="Core Tile C6"/>
          <p:cNvSpPr/>
          <p:nvPr/>
        </p:nvSpPr>
        <p:spPr>
          <a:xfrm>
            <a:off x="6685495" y="199339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re Gem C6"/>
          <p:cNvSpPr/>
          <p:nvPr/>
        </p:nvSpPr>
        <p:spPr>
          <a:xfrm>
            <a:off x="6813511" y="2139696"/>
            <a:ext cx="310896" cy="310896"/>
          </a:xfrm>
          <a:prstGeom prst="diamond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C6</a:t>
            </a:r>
          </a:p>
        </p:txBody>
      </p:sp>
      <p:sp>
        <p:nvSpPr>
          <p:cNvPr id="43" name="Core Name C6"/>
          <p:cNvSpPr txBox="1"/>
          <p:nvPr/>
        </p:nvSpPr>
        <p:spPr>
          <a:xfrm>
            <a:off x="7179271" y="212140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C6</a:t>
            </a:r>
          </a:p>
        </p:txBody>
      </p:sp>
      <p:sp>
        <p:nvSpPr>
          <p:cNvPr id="44" name="Core Spec C6"/>
          <p:cNvSpPr txBox="1"/>
          <p:nvPr/>
        </p:nvSpPr>
        <p:spPr>
          <a:xfrm>
            <a:off x="6813511" y="252374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Guardrail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2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3D PERSPECTIVE ELLIPTICAL CAROUSEL · TRANSITIVE VIRTUAL RIGGING</a:t>
            </a:r>
          </a:p>
        </p:txBody>
      </p:sp>
      <p:sp>
        <p:nvSpPr>
          <p:cNvPr id="3" name="S2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Five 6-Part Autonomous Pods Orbiting in Simulated 3D Depth</a:t>
            </a:r>
          </a:p>
        </p:txBody>
      </p:sp>
      <p:sp>
        <p:nvSpPr>
          <p:cNvPr id="4" name="Kernel Hub"/>
          <p:cNvSpPr/>
          <p:nvPr/>
        </p:nvSpPr>
        <p:spPr>
          <a:xfrm>
            <a:off x="5047488" y="3200399"/>
            <a:ext cx="2103120" cy="1554480"/>
          </a:xfrm>
          <a:prstGeom prst="octagon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ernel Badge"/>
          <p:cNvSpPr/>
          <p:nvPr/>
        </p:nvSpPr>
        <p:spPr>
          <a:xfrm>
            <a:off x="5806440" y="3355847"/>
            <a:ext cx="585216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B1120"/>
                </a:solidFill>
                <a:latin typeface="DejaVu Sans"/>
              </a:rPr>
              <a:t>AI</a:t>
            </a:r>
          </a:p>
        </p:txBody>
      </p:sp>
      <p:sp>
        <p:nvSpPr>
          <p:cNvPr id="6" name="Kernel Title"/>
          <p:cNvSpPr txBox="1"/>
          <p:nvPr/>
        </p:nvSpPr>
        <p:spPr>
          <a:xfrm>
            <a:off x="5230368" y="3886200"/>
            <a:ext cx="17373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DejaVu Sans"/>
              </a:rPr>
              <a:t>Policy Kernel</a:t>
            </a:r>
          </a:p>
        </p:txBody>
      </p:sp>
      <p:sp>
        <p:nvSpPr>
          <p:cNvPr id="7" name="Kernel Sub"/>
          <p:cNvSpPr txBox="1"/>
          <p:nvPr/>
        </p:nvSpPr>
        <p:spPr>
          <a:xfrm>
            <a:off x="5230368" y="4251959"/>
            <a:ext cx="17373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06B6D4"/>
                </a:solidFill>
                <a:latin typeface="DejaVu Sans"/>
              </a:rPr>
              <a:t>Global State Loop</a:t>
            </a:r>
          </a:p>
        </p:txBody>
      </p:sp>
      <p:sp>
        <p:nvSpPr>
          <p:cNvPr id="8" name="Pod Telemetry"/>
          <p:cNvSpPr/>
          <p:nvPr/>
        </p:nvSpPr>
        <p:spPr>
          <a:xfrm>
            <a:off x="5020056" y="1728215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d Telemetry Hdr"/>
          <p:cNvSpPr/>
          <p:nvPr/>
        </p:nvSpPr>
        <p:spPr>
          <a:xfrm>
            <a:off x="5093208" y="1792223"/>
            <a:ext cx="2011679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d Telemetry Icon"/>
          <p:cNvSpPr/>
          <p:nvPr/>
        </p:nvSpPr>
        <p:spPr>
          <a:xfrm>
            <a:off x="5129784" y="1956815"/>
            <a:ext cx="402336" cy="402336"/>
          </a:xfrm>
          <a:prstGeom prst="hexag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S1</a:t>
            </a:r>
          </a:p>
        </p:txBody>
      </p:sp>
      <p:sp>
        <p:nvSpPr>
          <p:cNvPr id="11" name="Pod Telemetry Title"/>
          <p:cNvSpPr txBox="1"/>
          <p:nvPr/>
        </p:nvSpPr>
        <p:spPr>
          <a:xfrm>
            <a:off x="5586984" y="1947672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Telemetry Fabric</a:t>
            </a:r>
          </a:p>
        </p:txBody>
      </p:sp>
      <p:sp>
        <p:nvSpPr>
          <p:cNvPr id="12" name="Pod Telemetry Spec"/>
          <p:cNvSpPr txBox="1"/>
          <p:nvPr/>
        </p:nvSpPr>
        <p:spPr>
          <a:xfrm>
            <a:off x="5148072" y="2368296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eBPF + Optical Probes</a:t>
            </a:r>
          </a:p>
        </p:txBody>
      </p:sp>
      <p:sp>
        <p:nvSpPr>
          <p:cNvPr id="13" name="Pod Telemetry Pill"/>
          <p:cNvSpPr/>
          <p:nvPr/>
        </p:nvSpPr>
        <p:spPr>
          <a:xfrm>
            <a:off x="5221224" y="2679191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6B6D4"/>
                </a:solidFill>
                <a:latin typeface="DejaVu Sans"/>
              </a:rPr>
              <a:t>4.8M msg/s</a:t>
            </a:r>
          </a:p>
        </p:txBody>
      </p:sp>
      <p:sp>
        <p:nvSpPr>
          <p:cNvPr id="14" name="Pod WorldModel"/>
          <p:cNvSpPr/>
          <p:nvPr/>
        </p:nvSpPr>
        <p:spPr>
          <a:xfrm>
            <a:off x="8629087" y="2833927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d WorldModel Hdr"/>
          <p:cNvSpPr/>
          <p:nvPr/>
        </p:nvSpPr>
        <p:spPr>
          <a:xfrm>
            <a:off x="8702239" y="2897935"/>
            <a:ext cx="2011679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d WorldModel Icon"/>
          <p:cNvSpPr/>
          <p:nvPr/>
        </p:nvSpPr>
        <p:spPr>
          <a:xfrm>
            <a:off x="8738815" y="3062527"/>
            <a:ext cx="402336" cy="402336"/>
          </a:xfrm>
          <a:prstGeom prst="hexag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S2</a:t>
            </a:r>
          </a:p>
        </p:txBody>
      </p:sp>
      <p:sp>
        <p:nvSpPr>
          <p:cNvPr id="17" name="Pod WorldModel Title"/>
          <p:cNvSpPr txBox="1"/>
          <p:nvPr/>
        </p:nvSpPr>
        <p:spPr>
          <a:xfrm>
            <a:off x="9196015" y="3053383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World-Model Graph</a:t>
            </a:r>
          </a:p>
        </p:txBody>
      </p:sp>
      <p:sp>
        <p:nvSpPr>
          <p:cNvPr id="18" name="Pod WorldModel Spec"/>
          <p:cNvSpPr txBox="1"/>
          <p:nvPr/>
        </p:nvSpPr>
        <p:spPr>
          <a:xfrm>
            <a:off x="8757103" y="3474007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Causal Topology Twin</a:t>
            </a:r>
          </a:p>
        </p:txBody>
      </p:sp>
      <p:sp>
        <p:nvSpPr>
          <p:cNvPr id="19" name="Pod WorldModel Pill"/>
          <p:cNvSpPr/>
          <p:nvPr/>
        </p:nvSpPr>
        <p:spPr>
          <a:xfrm>
            <a:off x="8830255" y="3784903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8B5CF6"/>
                </a:solidFill>
                <a:latin typeface="DejaVu Sans"/>
              </a:rPr>
              <a:t>120k nodes</a:t>
            </a:r>
          </a:p>
        </p:txBody>
      </p:sp>
      <p:sp>
        <p:nvSpPr>
          <p:cNvPr id="20" name="Pod RiskSolver"/>
          <p:cNvSpPr/>
          <p:nvPr/>
        </p:nvSpPr>
        <p:spPr>
          <a:xfrm>
            <a:off x="7250559" y="4623004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d RiskSolver Hdr"/>
          <p:cNvSpPr/>
          <p:nvPr/>
        </p:nvSpPr>
        <p:spPr>
          <a:xfrm>
            <a:off x="7323711" y="4687012"/>
            <a:ext cx="201167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d RiskSolver Icon"/>
          <p:cNvSpPr/>
          <p:nvPr/>
        </p:nvSpPr>
        <p:spPr>
          <a:xfrm>
            <a:off x="7360287" y="4851604"/>
            <a:ext cx="402336" cy="402336"/>
          </a:xfrm>
          <a:prstGeom prst="hexag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S3</a:t>
            </a:r>
          </a:p>
        </p:txBody>
      </p:sp>
      <p:sp>
        <p:nvSpPr>
          <p:cNvPr id="23" name="Pod RiskSolver Title"/>
          <p:cNvSpPr txBox="1"/>
          <p:nvPr/>
        </p:nvSpPr>
        <p:spPr>
          <a:xfrm>
            <a:off x="7817487" y="4842460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Stochastic Solver</a:t>
            </a:r>
          </a:p>
        </p:txBody>
      </p:sp>
      <p:sp>
        <p:nvSpPr>
          <p:cNvPr id="24" name="Pod RiskSolver Spec"/>
          <p:cNvSpPr txBox="1"/>
          <p:nvPr/>
        </p:nvSpPr>
        <p:spPr>
          <a:xfrm>
            <a:off x="7378575" y="5263084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Counterfactual Rollout</a:t>
            </a:r>
          </a:p>
        </p:txBody>
      </p:sp>
      <p:sp>
        <p:nvSpPr>
          <p:cNvPr id="25" name="Pod RiskSolver Pill"/>
          <p:cNvSpPr/>
          <p:nvPr/>
        </p:nvSpPr>
        <p:spPr>
          <a:xfrm>
            <a:off x="7451727" y="5573980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B981"/>
                </a:solidFill>
                <a:latin typeface="DejaVu Sans"/>
              </a:rPr>
              <a:t>0.4 ms p99</a:t>
            </a:r>
          </a:p>
        </p:txBody>
      </p:sp>
      <p:sp>
        <p:nvSpPr>
          <p:cNvPr id="26" name="Pod Shaper"/>
          <p:cNvSpPr/>
          <p:nvPr/>
        </p:nvSpPr>
        <p:spPr>
          <a:xfrm>
            <a:off x="2789552" y="4623004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d Shaper Hdr"/>
          <p:cNvSpPr/>
          <p:nvPr/>
        </p:nvSpPr>
        <p:spPr>
          <a:xfrm>
            <a:off x="2862704" y="4687012"/>
            <a:ext cx="2011679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d Shaper Icon"/>
          <p:cNvSpPr/>
          <p:nvPr/>
        </p:nvSpPr>
        <p:spPr>
          <a:xfrm>
            <a:off x="2899280" y="4851604"/>
            <a:ext cx="402336" cy="402336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S4</a:t>
            </a:r>
          </a:p>
        </p:txBody>
      </p:sp>
      <p:sp>
        <p:nvSpPr>
          <p:cNvPr id="29" name="Pod Shaper Title"/>
          <p:cNvSpPr txBox="1"/>
          <p:nvPr/>
        </p:nvSpPr>
        <p:spPr>
          <a:xfrm>
            <a:off x="3356480" y="4842460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Traffic Shaper</a:t>
            </a:r>
          </a:p>
        </p:txBody>
      </p:sp>
      <p:sp>
        <p:nvSpPr>
          <p:cNvPr id="30" name="Pod Shaper Spec"/>
          <p:cNvSpPr txBox="1"/>
          <p:nvPr/>
        </p:nvSpPr>
        <p:spPr>
          <a:xfrm>
            <a:off x="2917568" y="5263084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Dynamic QoS Pacing</a:t>
            </a:r>
          </a:p>
        </p:txBody>
      </p:sp>
      <p:sp>
        <p:nvSpPr>
          <p:cNvPr id="31" name="Pod Shaper Pill"/>
          <p:cNvSpPr/>
          <p:nvPr/>
        </p:nvSpPr>
        <p:spPr>
          <a:xfrm>
            <a:off x="2990720" y="5573980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59E0B"/>
                </a:solidFill>
                <a:latin typeface="DejaVu Sans"/>
              </a:rPr>
              <a:t>Zero Drop</a:t>
            </a:r>
          </a:p>
        </p:txBody>
      </p:sp>
      <p:sp>
        <p:nvSpPr>
          <p:cNvPr id="32" name="Pod SelfHeal"/>
          <p:cNvSpPr/>
          <p:nvPr/>
        </p:nvSpPr>
        <p:spPr>
          <a:xfrm>
            <a:off x="1411024" y="2833927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d SelfHeal Hdr"/>
          <p:cNvSpPr/>
          <p:nvPr/>
        </p:nvSpPr>
        <p:spPr>
          <a:xfrm>
            <a:off x="1484176" y="2897935"/>
            <a:ext cx="2011679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d SelfHeal Icon"/>
          <p:cNvSpPr/>
          <p:nvPr/>
        </p:nvSpPr>
        <p:spPr>
          <a:xfrm>
            <a:off x="1520752" y="3062527"/>
            <a:ext cx="402336" cy="402336"/>
          </a:xfrm>
          <a:prstGeom prst="hexagon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S5</a:t>
            </a:r>
          </a:p>
        </p:txBody>
      </p:sp>
      <p:sp>
        <p:nvSpPr>
          <p:cNvPr id="35" name="Pod SelfHeal Title"/>
          <p:cNvSpPr txBox="1"/>
          <p:nvPr/>
        </p:nvSpPr>
        <p:spPr>
          <a:xfrm>
            <a:off x="1977952" y="3053383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Self-Heal Actuator</a:t>
            </a:r>
          </a:p>
        </p:txBody>
      </p:sp>
      <p:sp>
        <p:nvSpPr>
          <p:cNvPr id="36" name="Pod SelfHeal Spec"/>
          <p:cNvSpPr txBox="1"/>
          <p:nvPr/>
        </p:nvSpPr>
        <p:spPr>
          <a:xfrm>
            <a:off x="1539040" y="3474007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Hot-Swap Optical Lane</a:t>
            </a:r>
          </a:p>
        </p:txBody>
      </p:sp>
      <p:sp>
        <p:nvSpPr>
          <p:cNvPr id="37" name="Pod SelfHeal Pill"/>
          <p:cNvSpPr/>
          <p:nvPr/>
        </p:nvSpPr>
        <p:spPr>
          <a:xfrm>
            <a:off x="1612192" y="3784903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E11D48"/>
                </a:solidFill>
                <a:latin typeface="DejaVu Sans"/>
              </a:rPr>
              <a:t>99.999%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3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EXPLODED STRATA · CONCURRENT SWARM · AUTO-ARC OBSTACLE SOLVER</a:t>
            </a:r>
          </a:p>
        </p:txBody>
      </p:sp>
      <p:sp>
        <p:nvSpPr>
          <p:cNvPr id="3" name="S3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5-Layer Silicon-to-Cloud Stack &amp; 4-Packet Braided Telemetry Flow</a:t>
            </a:r>
          </a:p>
        </p:txBody>
      </p:sp>
      <p:sp>
        <p:nvSpPr>
          <p:cNvPr id="4" name="Layer L1"/>
          <p:cNvSpPr/>
          <p:nvPr/>
        </p:nvSpPr>
        <p:spPr>
          <a:xfrm>
            <a:off x="594360" y="2148840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yer L1 Tag"/>
          <p:cNvSpPr/>
          <p:nvPr/>
        </p:nvSpPr>
        <p:spPr>
          <a:xfrm>
            <a:off x="685800" y="2240280"/>
            <a:ext cx="530352" cy="384048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L1</a:t>
            </a:r>
          </a:p>
        </p:txBody>
      </p:sp>
      <p:sp>
        <p:nvSpPr>
          <p:cNvPr id="6" name="Layer L1 Title"/>
          <p:cNvSpPr txBox="1"/>
          <p:nvPr/>
        </p:nvSpPr>
        <p:spPr>
          <a:xfrm>
            <a:off x="1289304" y="2203704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Optical PHY Interconnect</a:t>
            </a:r>
          </a:p>
        </p:txBody>
      </p:sp>
      <p:sp>
        <p:nvSpPr>
          <p:cNvPr id="7" name="Layer L1 Sub"/>
          <p:cNvSpPr txBox="1"/>
          <p:nvPr/>
        </p:nvSpPr>
        <p:spPr>
          <a:xfrm>
            <a:off x="1289304" y="2441448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800G Co-Packaged Silicon Photonics</a:t>
            </a:r>
          </a:p>
        </p:txBody>
      </p:sp>
      <p:sp>
        <p:nvSpPr>
          <p:cNvPr id="8" name="Layer L1 TileA"/>
          <p:cNvSpPr/>
          <p:nvPr/>
        </p:nvSpPr>
        <p:spPr>
          <a:xfrm>
            <a:off x="3703320" y="2258568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6B6D4"/>
                </a:solidFill>
                <a:latin typeface="DejaVu Sans"/>
              </a:rPr>
              <a:t>Bank A</a:t>
            </a:r>
          </a:p>
        </p:txBody>
      </p:sp>
      <p:sp>
        <p:nvSpPr>
          <p:cNvPr id="9" name="Layer L1 TileB"/>
          <p:cNvSpPr/>
          <p:nvPr/>
        </p:nvSpPr>
        <p:spPr>
          <a:xfrm>
            <a:off x="4599432" y="2258568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1.6 Tbps/lane</a:t>
            </a:r>
          </a:p>
        </p:txBody>
      </p:sp>
      <p:sp>
        <p:nvSpPr>
          <p:cNvPr id="10" name="Layer L2"/>
          <p:cNvSpPr/>
          <p:nvPr/>
        </p:nvSpPr>
        <p:spPr>
          <a:xfrm>
            <a:off x="594360" y="2807208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yer L2 Tag"/>
          <p:cNvSpPr/>
          <p:nvPr/>
        </p:nvSpPr>
        <p:spPr>
          <a:xfrm>
            <a:off x="685800" y="2898648"/>
            <a:ext cx="530352" cy="384048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L2</a:t>
            </a:r>
          </a:p>
        </p:txBody>
      </p:sp>
      <p:sp>
        <p:nvSpPr>
          <p:cNvPr id="12" name="Layer L2 Title"/>
          <p:cNvSpPr txBox="1"/>
          <p:nvPr/>
        </p:nvSpPr>
        <p:spPr>
          <a:xfrm>
            <a:off x="1289304" y="2862072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HBM3e Crossbar Fabric</a:t>
            </a:r>
          </a:p>
        </p:txBody>
      </p:sp>
      <p:sp>
        <p:nvSpPr>
          <p:cNvPr id="13" name="Layer L2 Sub"/>
          <p:cNvSpPr txBox="1"/>
          <p:nvPr/>
        </p:nvSpPr>
        <p:spPr>
          <a:xfrm>
            <a:off x="1289304" y="3099816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Non-Blocking 3D Mesh Switch</a:t>
            </a:r>
          </a:p>
        </p:txBody>
      </p:sp>
      <p:sp>
        <p:nvSpPr>
          <p:cNvPr id="14" name="Layer L2 TileA"/>
          <p:cNvSpPr/>
          <p:nvPr/>
        </p:nvSpPr>
        <p:spPr>
          <a:xfrm>
            <a:off x="3703320" y="2916936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D9488"/>
                </a:solidFill>
                <a:latin typeface="DejaVu Sans"/>
              </a:rPr>
              <a:t>Bank A</a:t>
            </a:r>
          </a:p>
        </p:txBody>
      </p:sp>
      <p:sp>
        <p:nvSpPr>
          <p:cNvPr id="15" name="Layer L2 TileB"/>
          <p:cNvSpPr/>
          <p:nvPr/>
        </p:nvSpPr>
        <p:spPr>
          <a:xfrm>
            <a:off x="4599432" y="2916936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14.4 TB/s</a:t>
            </a:r>
          </a:p>
        </p:txBody>
      </p:sp>
      <p:sp>
        <p:nvSpPr>
          <p:cNvPr id="16" name="Layer L3"/>
          <p:cNvSpPr/>
          <p:nvPr/>
        </p:nvSpPr>
        <p:spPr>
          <a:xfrm>
            <a:off x="594360" y="3465576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yer L3 Tag"/>
          <p:cNvSpPr/>
          <p:nvPr/>
        </p:nvSpPr>
        <p:spPr>
          <a:xfrm>
            <a:off x="685800" y="3557016"/>
            <a:ext cx="530352" cy="384048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L3</a:t>
            </a:r>
          </a:p>
        </p:txBody>
      </p:sp>
      <p:sp>
        <p:nvSpPr>
          <p:cNvPr id="18" name="Layer L3 Title"/>
          <p:cNvSpPr txBox="1"/>
          <p:nvPr/>
        </p:nvSpPr>
        <p:spPr>
          <a:xfrm>
            <a:off x="1289304" y="3520440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Systolic Tensor Array</a:t>
            </a:r>
          </a:p>
        </p:txBody>
      </p:sp>
      <p:sp>
        <p:nvSpPr>
          <p:cNvPr id="19" name="Layer L3 Sub"/>
          <p:cNvSpPr txBox="1"/>
          <p:nvPr/>
        </p:nvSpPr>
        <p:spPr>
          <a:xfrm>
            <a:off x="1289304" y="3758184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FP8 / INT4 Sparse Matrix Units</a:t>
            </a:r>
          </a:p>
        </p:txBody>
      </p:sp>
      <p:sp>
        <p:nvSpPr>
          <p:cNvPr id="20" name="Layer L3 TileA"/>
          <p:cNvSpPr/>
          <p:nvPr/>
        </p:nvSpPr>
        <p:spPr>
          <a:xfrm>
            <a:off x="3703320" y="3575304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8B5CF6"/>
                </a:solidFill>
                <a:latin typeface="DejaVu Sans"/>
              </a:rPr>
              <a:t>Bank A</a:t>
            </a:r>
          </a:p>
        </p:txBody>
      </p:sp>
      <p:sp>
        <p:nvSpPr>
          <p:cNvPr id="21" name="Layer L3 TileB"/>
          <p:cNvSpPr/>
          <p:nvPr/>
        </p:nvSpPr>
        <p:spPr>
          <a:xfrm>
            <a:off x="4599432" y="3575304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4.8 PFLOPS</a:t>
            </a:r>
          </a:p>
        </p:txBody>
      </p:sp>
      <p:sp>
        <p:nvSpPr>
          <p:cNvPr id="22" name="Layer L4"/>
          <p:cNvSpPr/>
          <p:nvPr/>
        </p:nvSpPr>
        <p:spPr>
          <a:xfrm>
            <a:off x="594360" y="4123944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yer L4 Tag"/>
          <p:cNvSpPr/>
          <p:nvPr/>
        </p:nvSpPr>
        <p:spPr>
          <a:xfrm>
            <a:off x="685800" y="4215383"/>
            <a:ext cx="530352" cy="384048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L4</a:t>
            </a:r>
          </a:p>
        </p:txBody>
      </p:sp>
      <p:sp>
        <p:nvSpPr>
          <p:cNvPr id="24" name="Layer L4 Title"/>
          <p:cNvSpPr txBox="1"/>
          <p:nvPr/>
        </p:nvSpPr>
        <p:spPr>
          <a:xfrm>
            <a:off x="1289304" y="4178807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Zero-Trust DPI Guardrail</a:t>
            </a:r>
          </a:p>
        </p:txBody>
      </p:sp>
      <p:sp>
        <p:nvSpPr>
          <p:cNvPr id="25" name="Layer L4 Sub"/>
          <p:cNvSpPr txBox="1"/>
          <p:nvPr/>
        </p:nvSpPr>
        <p:spPr>
          <a:xfrm>
            <a:off x="1289304" y="4416552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Inline Cryptographic Attestation</a:t>
            </a:r>
          </a:p>
        </p:txBody>
      </p:sp>
      <p:sp>
        <p:nvSpPr>
          <p:cNvPr id="26" name="Layer L4 TileA"/>
          <p:cNvSpPr/>
          <p:nvPr/>
        </p:nvSpPr>
        <p:spPr>
          <a:xfrm>
            <a:off x="3703320" y="4233672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59E0B"/>
                </a:solidFill>
                <a:latin typeface="DejaVu Sans"/>
              </a:rPr>
              <a:t>Bank A</a:t>
            </a:r>
          </a:p>
        </p:txBody>
      </p:sp>
      <p:sp>
        <p:nvSpPr>
          <p:cNvPr id="27" name="Layer L4 TileB"/>
          <p:cNvSpPr/>
          <p:nvPr/>
        </p:nvSpPr>
        <p:spPr>
          <a:xfrm>
            <a:off x="4599432" y="4233672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0.15 ms</a:t>
            </a:r>
          </a:p>
        </p:txBody>
      </p:sp>
      <p:sp>
        <p:nvSpPr>
          <p:cNvPr id="28" name="Layer L5"/>
          <p:cNvSpPr/>
          <p:nvPr/>
        </p:nvSpPr>
        <p:spPr>
          <a:xfrm>
            <a:off x="594360" y="4782312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yer L5 Tag"/>
          <p:cNvSpPr/>
          <p:nvPr/>
        </p:nvSpPr>
        <p:spPr>
          <a:xfrm>
            <a:off x="685800" y="4873752"/>
            <a:ext cx="530352" cy="384048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L5</a:t>
            </a:r>
          </a:p>
        </p:txBody>
      </p:sp>
      <p:sp>
        <p:nvSpPr>
          <p:cNvPr id="30" name="Layer L5 Title"/>
          <p:cNvSpPr txBox="1"/>
          <p:nvPr/>
        </p:nvSpPr>
        <p:spPr>
          <a:xfrm>
            <a:off x="1289304" y="4837176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Speculative Token Router</a:t>
            </a:r>
          </a:p>
        </p:txBody>
      </p:sp>
      <p:sp>
        <p:nvSpPr>
          <p:cNvPr id="31" name="Layer L5 Sub"/>
          <p:cNvSpPr txBox="1"/>
          <p:nvPr/>
        </p:nvSpPr>
        <p:spPr>
          <a:xfrm>
            <a:off x="1289304" y="5074920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Multi-Draft Verification Engine</a:t>
            </a:r>
          </a:p>
        </p:txBody>
      </p:sp>
      <p:sp>
        <p:nvSpPr>
          <p:cNvPr id="32" name="Layer L5 TileA"/>
          <p:cNvSpPr/>
          <p:nvPr/>
        </p:nvSpPr>
        <p:spPr>
          <a:xfrm>
            <a:off x="3703320" y="4892040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10B981"/>
                </a:solidFill>
                <a:latin typeface="DejaVu Sans"/>
              </a:rPr>
              <a:t>Bank A</a:t>
            </a:r>
          </a:p>
        </p:txBody>
      </p:sp>
      <p:sp>
        <p:nvSpPr>
          <p:cNvPr id="33" name="Layer L5 TileB"/>
          <p:cNvSpPr/>
          <p:nvPr/>
        </p:nvSpPr>
        <p:spPr>
          <a:xfrm>
            <a:off x="4599432" y="4892040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3.4x Speedup</a:t>
            </a:r>
          </a:p>
        </p:txBody>
      </p:sp>
      <p:sp>
        <p:nvSpPr>
          <p:cNvPr id="34" name="Relay R1"/>
          <p:cNvSpPr/>
          <p:nvPr/>
        </p:nvSpPr>
        <p:spPr>
          <a:xfrm>
            <a:off x="6537960" y="169164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PHY Ingress</a:t>
            </a:r>
          </a:p>
        </p:txBody>
      </p:sp>
      <p:sp>
        <p:nvSpPr>
          <p:cNvPr id="35" name="Relay R2"/>
          <p:cNvSpPr/>
          <p:nvPr/>
        </p:nvSpPr>
        <p:spPr>
          <a:xfrm>
            <a:off x="6537960" y="278892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HBM Crossbar</a:t>
            </a:r>
          </a:p>
        </p:txBody>
      </p:sp>
      <p:sp>
        <p:nvSpPr>
          <p:cNvPr id="36" name="Relay R3"/>
          <p:cNvSpPr/>
          <p:nvPr/>
        </p:nvSpPr>
        <p:spPr>
          <a:xfrm>
            <a:off x="6537960" y="388620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Tensor Queue</a:t>
            </a:r>
          </a:p>
        </p:txBody>
      </p:sp>
      <p:sp>
        <p:nvSpPr>
          <p:cNvPr id="37" name="Relay R4"/>
          <p:cNvSpPr/>
          <p:nvPr/>
        </p:nvSpPr>
        <p:spPr>
          <a:xfrm>
            <a:off x="6537960" y="498348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Token Egress</a:t>
            </a:r>
          </a:p>
        </p:txBody>
      </p:sp>
      <p:sp>
        <p:nvSpPr>
          <p:cNvPr id="38" name="Swarm PKT-1"/>
          <p:cNvSpPr/>
          <p:nvPr/>
        </p:nvSpPr>
        <p:spPr>
          <a:xfrm>
            <a:off x="6583680" y="1143000"/>
            <a:ext cx="347472" cy="29260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P1</a:t>
            </a:r>
          </a:p>
        </p:txBody>
      </p:sp>
      <p:sp>
        <p:nvSpPr>
          <p:cNvPr id="39" name="Swarm PKT-2"/>
          <p:cNvSpPr/>
          <p:nvPr/>
        </p:nvSpPr>
        <p:spPr>
          <a:xfrm>
            <a:off x="7022592" y="1143000"/>
            <a:ext cx="347472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P2</a:t>
            </a:r>
          </a:p>
        </p:txBody>
      </p:sp>
      <p:sp>
        <p:nvSpPr>
          <p:cNvPr id="40" name="Swarm PKT-3"/>
          <p:cNvSpPr/>
          <p:nvPr/>
        </p:nvSpPr>
        <p:spPr>
          <a:xfrm>
            <a:off x="7461504" y="1143000"/>
            <a:ext cx="347472" cy="2926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P3</a:t>
            </a:r>
          </a:p>
        </p:txBody>
      </p:sp>
      <p:sp>
        <p:nvSpPr>
          <p:cNvPr id="41" name="Swarm PKT-4"/>
          <p:cNvSpPr/>
          <p:nvPr/>
        </p:nvSpPr>
        <p:spPr>
          <a:xfrm>
            <a:off x="7900416" y="1143000"/>
            <a:ext cx="347472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P4</a:t>
            </a:r>
          </a:p>
        </p:txBody>
      </p:sp>
      <p:sp>
        <p:nvSpPr>
          <p:cNvPr id="42" name="Audit Probe"/>
          <p:cNvSpPr/>
          <p:nvPr/>
        </p:nvSpPr>
        <p:spPr>
          <a:xfrm>
            <a:off x="8458200" y="3108960"/>
            <a:ext cx="475488" cy="47548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PRB</a:t>
            </a:r>
          </a:p>
        </p:txBody>
      </p:sp>
      <p:sp>
        <p:nvSpPr>
          <p:cNvPr id="43" name="Thermal Obstacle"/>
          <p:cNvSpPr/>
          <p:nvPr/>
        </p:nvSpPr>
        <p:spPr>
          <a:xfrm>
            <a:off x="9281160" y="2788920"/>
            <a:ext cx="1078992" cy="1115568"/>
          </a:xfrm>
          <a:prstGeom prst="octagon">
            <a:avLst/>
          </a:prstGeom>
          <a:solidFill>
            <a:srgbClr val="33415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Thermal</a:t>
            </a:r>
          </a:p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Gate</a:t>
            </a:r>
          </a:p>
        </p:txBody>
      </p:sp>
      <p:sp>
        <p:nvSpPr>
          <p:cNvPr id="44" name="Telemetry Sink"/>
          <p:cNvSpPr/>
          <p:nvPr/>
        </p:nvSpPr>
        <p:spPr>
          <a:xfrm>
            <a:off x="10680192" y="2971800"/>
            <a:ext cx="1078992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Audit Sink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100"/>
                            </p:stCondLst>
                            <p:childTnLst>
                              <p:par>
                                <p:cTn id="1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700"/>
                            </p:stCondLst>
                            <p:childTnLst>
                              <p:par>
                                <p:cTn id="1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300"/>
                            </p:stCondLst>
                            <p:childTnLst>
                              <p:par>
                                <p:cTn id="1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4200"/>
                            </p:stCondLst>
                            <p:childTnLst>
                              <p:par>
                                <p:cTn id="1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800"/>
                            </p:stCondLst>
                            <p:childTnLst>
                              <p:par>
                                <p:cTn id="1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700"/>
                            </p:stCondLst>
                            <p:childTnLst>
                              <p:par>
                                <p:cTn id="2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4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SPATIAL TOPOLOGY MESH · DETERMINISTIC !! MORPH PAIRING (SLIDE 4 → 5)</a:t>
            </a:r>
          </a:p>
        </p:txBody>
      </p:sp>
      <p:sp>
        <p:nvSpPr>
          <p:cNvPr id="3" name="S4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Six Regional AI Clusters Re-Rank Failover Priority Before Morphing</a:t>
            </a:r>
          </a:p>
        </p:txBody>
      </p:sp>
      <p:sp>
        <p:nvSpPr>
          <p:cNvPr id="4" name="Anycast Core"/>
          <p:cNvSpPr/>
          <p:nvPr/>
        </p:nvSpPr>
        <p:spPr>
          <a:xfrm>
            <a:off x="5074920" y="3154680"/>
            <a:ext cx="2011680" cy="1417320"/>
          </a:xfrm>
          <a:prstGeom prst="hexagon">
            <a:avLst/>
          </a:prstGeom>
          <a:solidFill>
            <a:srgbClr val="2563E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8FAFC"/>
                </a:solidFill>
                <a:latin typeface="DejaVu Sans"/>
              </a:rPr>
              <a:t>Anycast Mesh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DejaVu Sans"/>
              </a:rPr>
              <a:t>Router</a:t>
            </a:r>
          </a:p>
        </p:txBody>
      </p:sp>
      <p:sp>
        <p:nvSpPr>
          <p:cNvPr id="5" name="!!cluster-1"/>
          <p:cNvSpPr/>
          <p:nvPr/>
        </p:nvSpPr>
        <p:spPr>
          <a:xfrm>
            <a:off x="777240" y="150876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uster Name 1"/>
          <p:cNvSpPr txBox="1"/>
          <p:nvPr/>
        </p:nvSpPr>
        <p:spPr>
          <a:xfrm>
            <a:off x="923544" y="160020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US-West (Oregon)</a:t>
            </a:r>
          </a:p>
        </p:txBody>
      </p:sp>
      <p:sp>
        <p:nvSpPr>
          <p:cNvPr id="7" name="!!lat-1"/>
          <p:cNvSpPr/>
          <p:nvPr/>
        </p:nvSpPr>
        <p:spPr>
          <a:xfrm>
            <a:off x="2990088" y="161848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1.2 ms</a:t>
            </a:r>
          </a:p>
        </p:txBody>
      </p:sp>
      <p:sp>
        <p:nvSpPr>
          <p:cNvPr id="8" name="!!bar-1"/>
          <p:cNvSpPr/>
          <p:nvPr/>
        </p:nvSpPr>
        <p:spPr>
          <a:xfrm>
            <a:off x="923544" y="2130552"/>
            <a:ext cx="2999232" cy="3840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1</a:t>
            </a:r>
          </a:p>
        </p:txBody>
      </p:sp>
      <p:sp>
        <p:nvSpPr>
          <p:cNvPr id="9" name="!!cluster-2"/>
          <p:cNvSpPr/>
          <p:nvPr/>
        </p:nvSpPr>
        <p:spPr>
          <a:xfrm>
            <a:off x="777240" y="324612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uster Name 2"/>
          <p:cNvSpPr txBox="1"/>
          <p:nvPr/>
        </p:nvSpPr>
        <p:spPr>
          <a:xfrm>
            <a:off x="923544" y="333756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US-East (Virginia)</a:t>
            </a:r>
          </a:p>
        </p:txBody>
      </p:sp>
      <p:sp>
        <p:nvSpPr>
          <p:cNvPr id="11" name="!!lat-2"/>
          <p:cNvSpPr/>
          <p:nvPr/>
        </p:nvSpPr>
        <p:spPr>
          <a:xfrm>
            <a:off x="2990088" y="335584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D9488"/>
                </a:solidFill>
                <a:latin typeface="DejaVu Sans"/>
              </a:rPr>
              <a:t>1.8 ms</a:t>
            </a:r>
          </a:p>
        </p:txBody>
      </p:sp>
      <p:sp>
        <p:nvSpPr>
          <p:cNvPr id="12" name="!!bar-2"/>
          <p:cNvSpPr/>
          <p:nvPr/>
        </p:nvSpPr>
        <p:spPr>
          <a:xfrm>
            <a:off x="923544" y="3867911"/>
            <a:ext cx="2999232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2</a:t>
            </a:r>
          </a:p>
        </p:txBody>
      </p:sp>
      <p:sp>
        <p:nvSpPr>
          <p:cNvPr id="13" name="!!cluster-3"/>
          <p:cNvSpPr/>
          <p:nvPr/>
        </p:nvSpPr>
        <p:spPr>
          <a:xfrm>
            <a:off x="777240" y="498348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uster Name 3"/>
          <p:cNvSpPr txBox="1"/>
          <p:nvPr/>
        </p:nvSpPr>
        <p:spPr>
          <a:xfrm>
            <a:off x="923544" y="507492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EU-Central (Frankfurt)</a:t>
            </a:r>
          </a:p>
        </p:txBody>
      </p:sp>
      <p:sp>
        <p:nvSpPr>
          <p:cNvPr id="15" name="!!lat-3"/>
          <p:cNvSpPr/>
          <p:nvPr/>
        </p:nvSpPr>
        <p:spPr>
          <a:xfrm>
            <a:off x="2990088" y="509320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2.4 ms</a:t>
            </a:r>
          </a:p>
        </p:txBody>
      </p:sp>
      <p:sp>
        <p:nvSpPr>
          <p:cNvPr id="16" name="!!bar-3"/>
          <p:cNvSpPr/>
          <p:nvPr/>
        </p:nvSpPr>
        <p:spPr>
          <a:xfrm>
            <a:off x="923544" y="5605272"/>
            <a:ext cx="2999232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3</a:t>
            </a:r>
          </a:p>
        </p:txBody>
      </p:sp>
      <p:sp>
        <p:nvSpPr>
          <p:cNvPr id="17" name="!!cluster-4"/>
          <p:cNvSpPr/>
          <p:nvPr/>
        </p:nvSpPr>
        <p:spPr>
          <a:xfrm>
            <a:off x="8092440" y="150876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luster Name 4"/>
          <p:cNvSpPr txBox="1"/>
          <p:nvPr/>
        </p:nvSpPr>
        <p:spPr>
          <a:xfrm>
            <a:off x="8238744" y="160020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AP-North (Tokyo)</a:t>
            </a:r>
          </a:p>
        </p:txBody>
      </p:sp>
      <p:sp>
        <p:nvSpPr>
          <p:cNvPr id="19" name="!!lat-4"/>
          <p:cNvSpPr/>
          <p:nvPr/>
        </p:nvSpPr>
        <p:spPr>
          <a:xfrm>
            <a:off x="10305288" y="161848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1.5 ms</a:t>
            </a:r>
          </a:p>
        </p:txBody>
      </p:sp>
      <p:sp>
        <p:nvSpPr>
          <p:cNvPr id="20" name="!!bar-4"/>
          <p:cNvSpPr/>
          <p:nvPr/>
        </p:nvSpPr>
        <p:spPr>
          <a:xfrm>
            <a:off x="8238744" y="2130552"/>
            <a:ext cx="299923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4</a:t>
            </a:r>
          </a:p>
        </p:txBody>
      </p:sp>
      <p:sp>
        <p:nvSpPr>
          <p:cNvPr id="21" name="!!cluster-5"/>
          <p:cNvSpPr/>
          <p:nvPr/>
        </p:nvSpPr>
        <p:spPr>
          <a:xfrm>
            <a:off x="8092440" y="324612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uster Name 5"/>
          <p:cNvSpPr txBox="1"/>
          <p:nvPr/>
        </p:nvSpPr>
        <p:spPr>
          <a:xfrm>
            <a:off x="8238744" y="333756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AP-South (Singapore)</a:t>
            </a:r>
          </a:p>
        </p:txBody>
      </p:sp>
      <p:sp>
        <p:nvSpPr>
          <p:cNvPr id="23" name="!!lat-5"/>
          <p:cNvSpPr/>
          <p:nvPr/>
        </p:nvSpPr>
        <p:spPr>
          <a:xfrm>
            <a:off x="10305288" y="335584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5CF6"/>
                </a:solidFill>
                <a:latin typeface="DejaVu Sans"/>
              </a:rPr>
              <a:t>2.1 ms</a:t>
            </a:r>
          </a:p>
        </p:txBody>
      </p:sp>
      <p:sp>
        <p:nvSpPr>
          <p:cNvPr id="24" name="!!bar-5"/>
          <p:cNvSpPr/>
          <p:nvPr/>
        </p:nvSpPr>
        <p:spPr>
          <a:xfrm>
            <a:off x="8238744" y="3867911"/>
            <a:ext cx="2999232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5</a:t>
            </a:r>
          </a:p>
        </p:txBody>
      </p:sp>
      <p:sp>
        <p:nvSpPr>
          <p:cNvPr id="25" name="!!cluster-6"/>
          <p:cNvSpPr/>
          <p:nvPr/>
        </p:nvSpPr>
        <p:spPr>
          <a:xfrm>
            <a:off x="8092440" y="498348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uster Name 6"/>
          <p:cNvSpPr txBox="1"/>
          <p:nvPr/>
        </p:nvSpPr>
        <p:spPr>
          <a:xfrm>
            <a:off x="8238744" y="507492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SA-East (Sao Paulo)</a:t>
            </a:r>
          </a:p>
        </p:txBody>
      </p:sp>
      <p:sp>
        <p:nvSpPr>
          <p:cNvPr id="27" name="!!lat-6"/>
          <p:cNvSpPr/>
          <p:nvPr/>
        </p:nvSpPr>
        <p:spPr>
          <a:xfrm>
            <a:off x="10305288" y="509320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E11D48"/>
                </a:solidFill>
                <a:latin typeface="DejaVu Sans"/>
              </a:rPr>
              <a:t>2.9 ms</a:t>
            </a:r>
          </a:p>
        </p:txBody>
      </p:sp>
      <p:sp>
        <p:nvSpPr>
          <p:cNvPr id="28" name="!!bar-6"/>
          <p:cNvSpPr/>
          <p:nvPr/>
        </p:nvSpPr>
        <p:spPr>
          <a:xfrm>
            <a:off x="8238744" y="5605272"/>
            <a:ext cx="2999232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008 0.253333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008 0.253333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008 0.253333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008 0.253333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300008 0 L 0 0 E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300008 0 L 0 0 E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300008 0 L 0 0 E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300008 0 L 0 0 E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300008 -0.253333 L 0 0 E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300008 -0.253333 L 0 0 E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300008 -0.253333 L 0 0 E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300008 -0.253333 L 0 0 E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300008 -0.253333 L 0 0 E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300008 -0.253333 L 0 0 E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300008 -0.253333 L 0 0 E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300008 -0.253333 L 0 0 E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300008 0 L 0 0 E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300008 0 L 0 0 E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300008 0 L 0 0 E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300008 0 L 0 0 E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300008 0.253333 L 0 0 E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300008 0.253333 L 0 0 E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300008 0.253333 L 0 0 E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300008 0.253333 L 0 0 E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5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MORPHED SWIMLANE CONSOLE · NATIVE CHART BUILD · DUAL INTERACTIVESEQ</a:t>
            </a:r>
          </a:p>
        </p:txBody>
      </p:sp>
      <p:sp>
        <p:nvSpPr>
          <p:cNvPr id="3" name="S5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Regional Mesh Morphs Into Swimlanes Alongside Live Telemetry &amp; Triggers</a:t>
            </a:r>
          </a:p>
        </p:txBody>
      </p:sp>
      <p:sp>
        <p:nvSpPr>
          <p:cNvPr id="4" name="!!cluster-1"/>
          <p:cNvSpPr/>
          <p:nvPr/>
        </p:nvSpPr>
        <p:spPr>
          <a:xfrm>
            <a:off x="594360" y="1353312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US-West</a:t>
            </a:r>
          </a:p>
        </p:txBody>
      </p:sp>
      <p:sp>
        <p:nvSpPr>
          <p:cNvPr id="5" name="!!bar-1"/>
          <p:cNvSpPr/>
          <p:nvPr/>
        </p:nvSpPr>
        <p:spPr>
          <a:xfrm>
            <a:off x="2651760" y="1481328"/>
            <a:ext cx="2148840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1 Throughput</a:t>
            </a:r>
          </a:p>
        </p:txBody>
      </p:sp>
      <p:sp>
        <p:nvSpPr>
          <p:cNvPr id="6" name="!!lat-1"/>
          <p:cNvSpPr/>
          <p:nvPr/>
        </p:nvSpPr>
        <p:spPr>
          <a:xfrm>
            <a:off x="5166360" y="1481328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1.2 ms</a:t>
            </a:r>
          </a:p>
        </p:txBody>
      </p:sp>
      <p:sp>
        <p:nvSpPr>
          <p:cNvPr id="7" name="!!cluster-2"/>
          <p:cNvSpPr/>
          <p:nvPr/>
        </p:nvSpPr>
        <p:spPr>
          <a:xfrm>
            <a:off x="594360" y="2157984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US-East</a:t>
            </a:r>
          </a:p>
        </p:txBody>
      </p:sp>
      <p:sp>
        <p:nvSpPr>
          <p:cNvPr id="8" name="!!bar-2"/>
          <p:cNvSpPr/>
          <p:nvPr/>
        </p:nvSpPr>
        <p:spPr>
          <a:xfrm>
            <a:off x="2651760" y="2286000"/>
            <a:ext cx="1920240" cy="40233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2 Throughput</a:t>
            </a:r>
          </a:p>
        </p:txBody>
      </p:sp>
      <p:sp>
        <p:nvSpPr>
          <p:cNvPr id="9" name="!!lat-2"/>
          <p:cNvSpPr/>
          <p:nvPr/>
        </p:nvSpPr>
        <p:spPr>
          <a:xfrm>
            <a:off x="5166360" y="2286000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D9488"/>
                </a:solidFill>
                <a:latin typeface="DejaVu Sans"/>
              </a:rPr>
              <a:t>1.8 ms</a:t>
            </a:r>
          </a:p>
        </p:txBody>
      </p:sp>
      <p:sp>
        <p:nvSpPr>
          <p:cNvPr id="10" name="!!cluster-3"/>
          <p:cNvSpPr/>
          <p:nvPr/>
        </p:nvSpPr>
        <p:spPr>
          <a:xfrm>
            <a:off x="594360" y="2962656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EU-Central</a:t>
            </a:r>
          </a:p>
        </p:txBody>
      </p:sp>
      <p:sp>
        <p:nvSpPr>
          <p:cNvPr id="11" name="!!bar-3"/>
          <p:cNvSpPr/>
          <p:nvPr/>
        </p:nvSpPr>
        <p:spPr>
          <a:xfrm>
            <a:off x="2651760" y="3090672"/>
            <a:ext cx="2423160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3 Throughput</a:t>
            </a:r>
          </a:p>
        </p:txBody>
      </p:sp>
      <p:sp>
        <p:nvSpPr>
          <p:cNvPr id="12" name="!!lat-3"/>
          <p:cNvSpPr/>
          <p:nvPr/>
        </p:nvSpPr>
        <p:spPr>
          <a:xfrm>
            <a:off x="5166360" y="3090672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2.4 ms</a:t>
            </a:r>
          </a:p>
        </p:txBody>
      </p:sp>
      <p:sp>
        <p:nvSpPr>
          <p:cNvPr id="13" name="!!cluster-4"/>
          <p:cNvSpPr/>
          <p:nvPr/>
        </p:nvSpPr>
        <p:spPr>
          <a:xfrm>
            <a:off x="594360" y="3767328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AP-North</a:t>
            </a:r>
          </a:p>
        </p:txBody>
      </p:sp>
      <p:sp>
        <p:nvSpPr>
          <p:cNvPr id="14" name="!!bar-4"/>
          <p:cNvSpPr/>
          <p:nvPr/>
        </p:nvSpPr>
        <p:spPr>
          <a:xfrm>
            <a:off x="2651760" y="3895344"/>
            <a:ext cx="2057400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4 Throughput</a:t>
            </a:r>
          </a:p>
        </p:txBody>
      </p:sp>
      <p:sp>
        <p:nvSpPr>
          <p:cNvPr id="15" name="!!lat-4"/>
          <p:cNvSpPr/>
          <p:nvPr/>
        </p:nvSpPr>
        <p:spPr>
          <a:xfrm>
            <a:off x="5166360" y="3895344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1.5 ms</a:t>
            </a:r>
          </a:p>
        </p:txBody>
      </p:sp>
      <p:sp>
        <p:nvSpPr>
          <p:cNvPr id="16" name="!!cluster-5"/>
          <p:cNvSpPr/>
          <p:nvPr/>
        </p:nvSpPr>
        <p:spPr>
          <a:xfrm>
            <a:off x="594360" y="4572000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AP-South</a:t>
            </a:r>
          </a:p>
        </p:txBody>
      </p:sp>
      <p:sp>
        <p:nvSpPr>
          <p:cNvPr id="17" name="!!bar-5"/>
          <p:cNvSpPr/>
          <p:nvPr/>
        </p:nvSpPr>
        <p:spPr>
          <a:xfrm>
            <a:off x="2651760" y="4700016"/>
            <a:ext cx="1783080" cy="40233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5 Throughput</a:t>
            </a:r>
          </a:p>
        </p:txBody>
      </p:sp>
      <p:sp>
        <p:nvSpPr>
          <p:cNvPr id="18" name="!!lat-5"/>
          <p:cNvSpPr/>
          <p:nvPr/>
        </p:nvSpPr>
        <p:spPr>
          <a:xfrm>
            <a:off x="5166360" y="4700016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5CF6"/>
                </a:solidFill>
                <a:latin typeface="DejaVu Sans"/>
              </a:rPr>
              <a:t>2.1 ms</a:t>
            </a:r>
          </a:p>
        </p:txBody>
      </p:sp>
      <p:sp>
        <p:nvSpPr>
          <p:cNvPr id="19" name="!!cluster-6"/>
          <p:cNvSpPr/>
          <p:nvPr/>
        </p:nvSpPr>
        <p:spPr>
          <a:xfrm>
            <a:off x="594360" y="5376672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SA-East</a:t>
            </a:r>
          </a:p>
        </p:txBody>
      </p:sp>
      <p:sp>
        <p:nvSpPr>
          <p:cNvPr id="20" name="!!bar-6"/>
          <p:cNvSpPr/>
          <p:nvPr/>
        </p:nvSpPr>
        <p:spPr>
          <a:xfrm>
            <a:off x="2651760" y="5504688"/>
            <a:ext cx="1600200" cy="40233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6 Throughput</a:t>
            </a:r>
          </a:p>
        </p:txBody>
      </p:sp>
      <p:sp>
        <p:nvSpPr>
          <p:cNvPr id="21" name="!!lat-6"/>
          <p:cNvSpPr/>
          <p:nvPr/>
        </p:nvSpPr>
        <p:spPr>
          <a:xfrm>
            <a:off x="5166360" y="5504688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E11D48"/>
                </a:solidFill>
                <a:latin typeface="DejaVu Sans"/>
              </a:rPr>
              <a:t>2.9 ms</a:t>
            </a:r>
          </a:p>
        </p:txBody>
      </p:sp>
      <p:graphicFrame>
        <p:nvGraphicFramePr>
          <p:cNvPr id="22" name="Telemetry Chart"/>
          <p:cNvGraphicFramePr>
            <a:graphicFrameLocks noGrp="1"/>
          </p:cNvGraphicFramePr>
          <p:nvPr/>
        </p:nvGraphicFramePr>
        <p:xfrm>
          <a:off x="6263640" y="1325880"/>
          <a:ext cx="352044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Hero SLA Card"/>
          <p:cNvSpPr/>
          <p:nvPr/>
        </p:nvSpPr>
        <p:spPr>
          <a:xfrm>
            <a:off x="9921240" y="1325880"/>
            <a:ext cx="1691640" cy="2697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ro SLA Label"/>
          <p:cNvSpPr txBox="1"/>
          <p:nvPr/>
        </p:nvSpPr>
        <p:spPr>
          <a:xfrm>
            <a:off x="10012680" y="15087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GLOBAL MESH SLA</a:t>
            </a:r>
          </a:p>
        </p:txBody>
      </p:sp>
      <p:sp>
        <p:nvSpPr>
          <p:cNvPr id="25" name="Hero SLA Number"/>
          <p:cNvSpPr txBox="1"/>
          <p:nvPr/>
        </p:nvSpPr>
        <p:spPr>
          <a:xfrm>
            <a:off x="9985248" y="2148840"/>
            <a:ext cx="15544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DejaVu Sans"/>
              </a:rPr>
              <a:t>99.9%</a:t>
            </a:r>
          </a:p>
        </p:txBody>
      </p:sp>
      <p:sp>
        <p:nvSpPr>
          <p:cNvPr id="26" name="Hero SLA Foot"/>
          <p:cNvSpPr txBox="1"/>
          <p:nvPr/>
        </p:nvSpPr>
        <p:spPr>
          <a:xfrm>
            <a:off x="10012680" y="3063240"/>
            <a:ext cx="150876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Zero packet loss across 6 regions</a:t>
            </a:r>
          </a:p>
        </p:txBody>
      </p:sp>
      <p:sp>
        <p:nvSpPr>
          <p:cNvPr id="27" name="Btn Failover"/>
          <p:cNvSpPr/>
          <p:nvPr/>
        </p:nvSpPr>
        <p:spPr>
          <a:xfrm>
            <a:off x="6263640" y="4251960"/>
            <a:ext cx="2560320" cy="5669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Click: Inspect EU Failover</a:t>
            </a:r>
          </a:p>
        </p:txBody>
      </p:sp>
      <p:sp>
        <p:nvSpPr>
          <p:cNvPr id="28" name="Btn Quota"/>
          <p:cNvSpPr/>
          <p:nvPr/>
        </p:nvSpPr>
        <p:spPr>
          <a:xfrm>
            <a:off x="9052560" y="4251960"/>
            <a:ext cx="2560320" cy="5669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Click: Inspect Tensor Quota</a:t>
            </a:r>
          </a:p>
        </p:txBody>
      </p:sp>
      <p:sp>
        <p:nvSpPr>
          <p:cNvPr id="29" name="Panel Failover"/>
          <p:cNvSpPr/>
          <p:nvPr/>
        </p:nvSpPr>
        <p:spPr>
          <a:xfrm>
            <a:off x="6263640" y="4956048"/>
            <a:ext cx="256032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EU-Central Rerouted in 0.4 ms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Optical Ring B absorbed +18% load</a:t>
            </a:r>
          </a:p>
        </p:txBody>
      </p:sp>
      <p:sp>
        <p:nvSpPr>
          <p:cNvPr id="30" name="Panel Quota"/>
          <p:cNvSpPr/>
          <p:nvPr/>
        </p:nvSpPr>
        <p:spPr>
          <a:xfrm>
            <a:off x="9052560" y="4956048"/>
            <a:ext cx="256032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Tensor Array Utilization: 94.2%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Speculative router saved 31% HBM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Chart bld="series" animBg="0"/>
        </p:bldSub>
      </p:bldGraphic>
      <p:bldGraphic spid="22" grpId="1">
        <p:bldSub>
          <a:bldChart bld="series" animBg="0"/>
        </p:bldSub>
      </p:bldGraphic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build="p"/>
      <p:bldP spid="29" grpId="1" build="p"/>
      <p:bldP spid="30" grpId="0" build="p"/>
      <p:bldP spid="30" grpI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