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</c:v>
                </c:pt>
                <c:pt idx="1">
                  <c:v>1.5</c:v>
                </c:pt>
                <c:pt idx="2">
                  <c:v>1.7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</c:v>
                </c:pt>
                <c:pt idx="1">
                  <c:v>1.2</c:v>
                </c:pt>
                <c:pt idx="2">
                  <c:v>1.4</c:v>
                </c:pt>
                <c:pt idx="3">
                  <c:v>2.2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Today: how Q3 went, what drove it, and what we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revenue: 4.2 million. Then margin held at 38 percent. Finally 1,250 new subscribers.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in order, then land the result: lead time down to four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animation: each feedback point fades in on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Operating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Roasters (synthetic data)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Headline results</a:t>
            </a:r>
          </a:p>
          <a:p>
            <a:r>
              <a:t>Revenue by channel</a:t>
            </a:r>
          </a:p>
          <a:p>
            <a:r>
              <a:t>How we fixed fulfilment</a:t>
            </a:r>
          </a:p>
          <a:p>
            <a:r>
              <a:t>Priorities for Q4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at a glance</a:t>
            </a:r>
          </a:p>
        </p:txBody>
      </p:sp>
      <p:sp>
        <p:nvSpPr>
          <p:cNvPr id="3" name="KPI Card 1"/>
          <p:cNvSpPr/>
          <p:nvPr/>
        </p:nvSpPr>
        <p:spPr>
          <a:xfrm>
            <a:off x="8229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PI Value 1"/>
          <p:cNvSpPr txBox="1"/>
          <p:nvPr/>
        </p:nvSpPr>
        <p:spPr>
          <a:xfrm>
            <a:off x="10972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$4.2M</a:t>
            </a:r>
          </a:p>
        </p:txBody>
      </p:sp>
      <p:sp>
        <p:nvSpPr>
          <p:cNvPr id="5" name="KPI Label 1"/>
          <p:cNvSpPr txBox="1"/>
          <p:nvPr/>
        </p:nvSpPr>
        <p:spPr>
          <a:xfrm>
            <a:off x="10972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Revenue, up from $3.1M</a:t>
            </a:r>
          </a:p>
        </p:txBody>
      </p:sp>
      <p:sp>
        <p:nvSpPr>
          <p:cNvPr id="6" name="KPI Card 2"/>
          <p:cNvSpPr/>
          <p:nvPr/>
        </p:nvSpPr>
        <p:spPr>
          <a:xfrm>
            <a:off x="44805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Value 2"/>
          <p:cNvSpPr txBox="1"/>
          <p:nvPr/>
        </p:nvSpPr>
        <p:spPr>
          <a:xfrm>
            <a:off x="47548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38%</a:t>
            </a:r>
          </a:p>
        </p:txBody>
      </p:sp>
      <p:sp>
        <p:nvSpPr>
          <p:cNvPr id="8" name="KPI Label 2"/>
          <p:cNvSpPr txBox="1"/>
          <p:nvPr/>
        </p:nvSpPr>
        <p:spPr>
          <a:xfrm>
            <a:off x="47548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Gross margin</a:t>
            </a:r>
          </a:p>
        </p:txBody>
      </p:sp>
      <p:sp>
        <p:nvSpPr>
          <p:cNvPr id="9" name="KPI Card 3"/>
          <p:cNvSpPr/>
          <p:nvPr/>
        </p:nvSpPr>
        <p:spPr>
          <a:xfrm>
            <a:off x="81381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Value 3"/>
          <p:cNvSpPr txBox="1"/>
          <p:nvPr/>
        </p:nvSpPr>
        <p:spPr>
          <a:xfrm>
            <a:off x="84124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1,250</a:t>
            </a:r>
          </a:p>
        </p:txBody>
      </p:sp>
      <p:sp>
        <p:nvSpPr>
          <p:cNvPr id="11" name="KPI Label 3"/>
          <p:cNvSpPr txBox="1"/>
          <p:nvPr/>
        </p:nvSpPr>
        <p:spPr>
          <a:xfrm>
            <a:off x="84124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New subscribers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channel</a:t>
            </a:r>
          </a:p>
        </p:txBody>
      </p:sp>
      <p:graphicFrame>
        <p:nvGraphicFramePr>
          <p:cNvPr id="3" name="Channel Chart"/>
          <p:cNvGraphicFramePr>
            <a:graphicFrameLocks noGrp="1"/>
          </p:cNvGraphicFramePr>
          <p:nvPr/>
        </p:nvGraphicFramePr>
        <p:xfrm>
          <a:off x="731520" y="155448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akeaway Card"/>
          <p:cNvSpPr/>
          <p:nvPr/>
        </p:nvSpPr>
        <p:spPr>
          <a:xfrm>
            <a:off x="8229600" y="2011680"/>
            <a:ext cx="3291840" cy="292608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keaway"/>
          <p:cNvSpPr txBox="1"/>
          <p:nvPr/>
        </p:nvSpPr>
        <p:spPr>
          <a:xfrm>
            <a:off x="8503920" y="228600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A44"/>
                </a:solidFill>
              </a:rPr>
              <a:t>Online overtook retail for the first time in Q3.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800"/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800"/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 animBg="0"/>
        </p:bldSub>
      </p:bldGraphic>
      <p:bldGraphic spid="3" grpId="1">
        <p:bldSub>
          <a:bldChart bld="series" animBg="0"/>
        </p:bldSub>
      </p:bldGraphic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fixed fulfilment</a:t>
            </a:r>
          </a:p>
        </p:txBody>
      </p:sp>
      <p:sp>
        <p:nvSpPr>
          <p:cNvPr id="3" name="Step 1"/>
          <p:cNvSpPr/>
          <p:nvPr/>
        </p:nvSpPr>
        <p:spPr>
          <a:xfrm>
            <a:off x="73152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Forecast</a:t>
            </a:r>
          </a:p>
        </p:txBody>
      </p:sp>
      <p:sp>
        <p:nvSpPr>
          <p:cNvPr id="4" name="Step 2"/>
          <p:cNvSpPr/>
          <p:nvPr/>
        </p:nvSpPr>
        <p:spPr>
          <a:xfrm>
            <a:off x="365760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Roast</a:t>
            </a:r>
          </a:p>
        </p:txBody>
      </p:sp>
      <p:cxnSp>
        <p:nvCxnSpPr>
          <p:cNvPr id="5" name="Arrow 1"/>
          <p:cNvCxnSpPr/>
          <p:nvPr/>
        </p:nvCxnSpPr>
        <p:spPr>
          <a:xfrm>
            <a:off x="292608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 3"/>
          <p:cNvSpPr/>
          <p:nvPr/>
        </p:nvSpPr>
        <p:spPr>
          <a:xfrm>
            <a:off x="658368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Pack</a:t>
            </a:r>
          </a:p>
        </p:txBody>
      </p:sp>
      <p:cxnSp>
        <p:nvCxnSpPr>
          <p:cNvPr id="7" name="Arrow 2"/>
          <p:cNvCxnSpPr/>
          <p:nvPr/>
        </p:nvCxnSpPr>
        <p:spPr>
          <a:xfrm>
            <a:off x="585216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ep 4"/>
          <p:cNvSpPr/>
          <p:nvPr/>
        </p:nvSpPr>
        <p:spPr>
          <a:xfrm>
            <a:off x="9509760" y="2743200"/>
            <a:ext cx="2194560" cy="128016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Ship</a:t>
            </a:r>
          </a:p>
        </p:txBody>
      </p:sp>
      <p:cxnSp>
        <p:nvCxnSpPr>
          <p:cNvPr id="9" name="Arrow 3"/>
          <p:cNvCxnSpPr/>
          <p:nvPr/>
        </p:nvCxnSpPr>
        <p:spPr>
          <a:xfrm>
            <a:off x="877824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sult"/>
          <p:cNvSpPr txBox="1"/>
          <p:nvPr/>
        </p:nvSpPr>
        <p:spPr>
          <a:xfrm>
            <a:off x="731520" y="4572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9D8A"/>
                </a:solidFill>
              </a:rPr>
              <a:t>Lead time fell from 9 days to 4 days.</a:t>
            </a:r>
          </a:p>
        </p:txBody>
      </p:sp>
      <p:grpSp>
        <p:nvGrpSpPr>
          <p:cNvPr id="11" name="Badge Group"/>
          <p:cNvGrpSpPr/>
          <p:nvPr/>
        </p:nvGrpSpPr>
        <p:grpSpPr>
          <a:xfrm>
            <a:off x="10607040" y="365760"/>
            <a:ext cx="914400" cy="914400"/>
            <a:chOff x="10607040" y="365760"/>
            <a:chExt cx="914400" cy="914400"/>
          </a:xfrm>
        </p:grpSpPr>
        <p:sp>
          <p:nvSpPr>
            <p:cNvPr id="12" name="Oval 11"/>
            <p:cNvSpPr/>
            <p:nvPr/>
          </p:nvSpPr>
          <p:spPr>
            <a:xfrm>
              <a:off x="10607040" y="365760"/>
              <a:ext cx="914400" cy="914400"/>
            </a:xfrm>
            <a:prstGeom prst="ellipse">
              <a:avLst/>
            </a:prstGeom>
            <a:solidFill>
              <a:srgbClr val="0F9D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698480" y="594360"/>
              <a:ext cx="731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-55%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6400800" cy="4389120"/>
          </a:xfrm>
        </p:spPr>
        <p:txBody>
          <a:bodyPr/>
          <a:lstStyle/>
          <a:p>
            <a:r>
              <a:t>Delivery speed is the top compliment</a:t>
            </a:r>
          </a:p>
          <a:p>
            <a:r>
              <a:t>Packaging waste is the top complaint</a:t>
            </a:r>
          </a:p>
        </p:txBody>
      </p:sp>
      <p:pic>
        <p:nvPicPr>
          <p:cNvPr id="4" name="Feedback Pictur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37360"/>
            <a:ext cx="3840480" cy="2880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for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online subscriptions</a:t>
            </a:r>
          </a:p>
          <a:p>
            <a:r>
              <a:t>Cut packaging waste by 30%</a:t>
            </a:r>
          </a:p>
          <a:p>
            <a:r>
              <a:t>Open the second roastery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