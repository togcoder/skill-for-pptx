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First the order, then roasting, then packing, finally delivery.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0C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orb-1"/>
          <p:cNvSpPr/>
          <p:nvPr/>
        </p:nvSpPr>
        <p:spPr>
          <a:xfrm>
            <a:off x="10362895" y="-1828800"/>
            <a:ext cx="3657600" cy="3657600"/>
          </a:xfrm>
          <a:prstGeom prst="ellipse">
            <a:avLst/>
          </a:prstGeom>
          <a:solidFill>
            <a:srgbClr val="DA251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orb-2"/>
          <p:cNvSpPr/>
          <p:nvPr/>
        </p:nvSpPr>
        <p:spPr>
          <a:xfrm>
            <a:off x="-1280160" y="5577840"/>
            <a:ext cx="2560320" cy="2560320"/>
          </a:xfrm>
          <a:prstGeom prst="ellipse">
            <a:avLst/>
          </a:prstGeom>
          <a:solidFill>
            <a:srgbClr val="169985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4400" b="1">
                <a:solidFill>
                  <a:srgbClr val="FFEDEA"/>
                </a:solidFill>
                <a:latin typeface="Segoe UI Semibold"/>
              </a:rPr>
              <a:t>Quarterly review</a:t>
            </a:r>
          </a:p>
        </p:txBody>
      </p:sp>
      <p:sp>
        <p:nvSpPr>
          <p:cNvPr id="5" name="Section accent"/>
          <p:cNvSpPr/>
          <p:nvPr/>
        </p:nvSpPr>
        <p:spPr>
          <a:xfrm>
            <a:off x="731519" y="4114800"/>
            <a:ext cx="2194560" cy="73152"/>
          </a:xfrm>
          <a:prstGeom prst="rect">
            <a:avLst/>
          </a:prstGeom>
          <a:solidFill>
            <a:srgbClr val="F747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0C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orb-1"/>
          <p:cNvSpPr/>
          <p:nvPr/>
        </p:nvSpPr>
        <p:spPr>
          <a:xfrm>
            <a:off x="10362895" y="5029200"/>
            <a:ext cx="3657600" cy="3657600"/>
          </a:xfrm>
          <a:prstGeom prst="ellipse">
            <a:avLst/>
          </a:prstGeom>
          <a:solidFill>
            <a:srgbClr val="DA251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orb-2"/>
          <p:cNvSpPr/>
          <p:nvPr/>
        </p:nvSpPr>
        <p:spPr>
          <a:xfrm>
            <a:off x="-1280160" y="-1280160"/>
            <a:ext cx="2560320" cy="2560320"/>
          </a:xfrm>
          <a:prstGeom prst="ellipse">
            <a:avLst/>
          </a:prstGeom>
          <a:solidFill>
            <a:srgbClr val="169985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640080" y="411480"/>
            <a:ext cx="10911535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FFEDEA"/>
                </a:solidFill>
                <a:latin typeface="Segoe UI Semibold"/>
              </a:rPr>
              <a:t>Three numbers</a:t>
            </a:r>
          </a:p>
        </p:txBody>
      </p:sp>
      <p:sp>
        <p:nvSpPr>
          <p:cNvPr id="5" name="Title accent"/>
          <p:cNvSpPr/>
          <p:nvPr/>
        </p:nvSpPr>
        <p:spPr>
          <a:xfrm>
            <a:off x="731519" y="1252728"/>
            <a:ext cx="1280160" cy="64008"/>
          </a:xfrm>
          <a:prstGeom prst="rect">
            <a:avLst/>
          </a:prstGeom>
          <a:solidFill>
            <a:srgbClr val="F747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KPI card 1"/>
          <p:cNvSpPr/>
          <p:nvPr/>
        </p:nvSpPr>
        <p:spPr>
          <a:xfrm>
            <a:off x="640080" y="2606039"/>
            <a:ext cx="3423818" cy="2743200"/>
          </a:xfrm>
          <a:prstGeom prst="roundRect">
            <a:avLst>
              <a:gd name="adj" fmla="val 8000"/>
            </a:avLst>
          </a:prstGeom>
          <a:solidFill>
            <a:srgbClr val="2E19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KPI value 1"/>
          <p:cNvSpPr txBox="1"/>
          <p:nvPr/>
        </p:nvSpPr>
        <p:spPr>
          <a:xfrm>
            <a:off x="822959" y="2880359"/>
            <a:ext cx="3058058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6400" b="1">
                <a:solidFill>
                  <a:srgbClr val="F74739"/>
                </a:solidFill>
                <a:latin typeface="Segoe UI Semibold"/>
              </a:rPr>
              <a:t>48%</a:t>
            </a:r>
          </a:p>
        </p:txBody>
      </p:sp>
      <p:sp>
        <p:nvSpPr>
          <p:cNvPr id="8" name="KPI label 1"/>
          <p:cNvSpPr txBox="1"/>
          <p:nvPr/>
        </p:nvSpPr>
        <p:spPr>
          <a:xfrm>
            <a:off x="822959" y="4206240"/>
            <a:ext cx="3058058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>
                <a:solidFill>
                  <a:srgbClr val="C6A5A0"/>
                </a:solidFill>
                <a:latin typeface="Segoe UI"/>
              </a:rPr>
              <a:t>retention</a:t>
            </a:r>
          </a:p>
        </p:txBody>
      </p:sp>
      <p:sp>
        <p:nvSpPr>
          <p:cNvPr id="9" name="KPI card 2"/>
          <p:cNvSpPr/>
          <p:nvPr/>
        </p:nvSpPr>
        <p:spPr>
          <a:xfrm>
            <a:off x="4383938" y="2606039"/>
            <a:ext cx="3423818" cy="2743200"/>
          </a:xfrm>
          <a:prstGeom prst="roundRect">
            <a:avLst>
              <a:gd name="adj" fmla="val 8000"/>
            </a:avLst>
          </a:prstGeom>
          <a:solidFill>
            <a:srgbClr val="2E19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KPI value 2"/>
          <p:cNvSpPr txBox="1"/>
          <p:nvPr/>
        </p:nvSpPr>
        <p:spPr>
          <a:xfrm>
            <a:off x="4566818" y="2880359"/>
            <a:ext cx="3058058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6400" b="1">
                <a:solidFill>
                  <a:srgbClr val="F74739"/>
                </a:solidFill>
                <a:latin typeface="Segoe UI Semibold"/>
              </a:rPr>
              <a:t>1,200</a:t>
            </a:r>
          </a:p>
        </p:txBody>
      </p:sp>
      <p:sp>
        <p:nvSpPr>
          <p:cNvPr id="11" name="KPI label 2"/>
          <p:cNvSpPr txBox="1"/>
          <p:nvPr/>
        </p:nvSpPr>
        <p:spPr>
          <a:xfrm>
            <a:off x="4566818" y="4206240"/>
            <a:ext cx="3058058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>
                <a:solidFill>
                  <a:srgbClr val="C6A5A0"/>
                </a:solidFill>
                <a:latin typeface="Segoe UI"/>
              </a:rPr>
              <a:t>new members</a:t>
            </a:r>
          </a:p>
        </p:txBody>
      </p:sp>
      <p:sp>
        <p:nvSpPr>
          <p:cNvPr id="12" name="KPI card 3"/>
          <p:cNvSpPr/>
          <p:nvPr/>
        </p:nvSpPr>
        <p:spPr>
          <a:xfrm>
            <a:off x="8127796" y="2606039"/>
            <a:ext cx="3423818" cy="2743200"/>
          </a:xfrm>
          <a:prstGeom prst="roundRect">
            <a:avLst>
              <a:gd name="adj" fmla="val 8000"/>
            </a:avLst>
          </a:prstGeom>
          <a:solidFill>
            <a:srgbClr val="2E19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KPI value 3"/>
          <p:cNvSpPr txBox="1"/>
          <p:nvPr/>
        </p:nvSpPr>
        <p:spPr>
          <a:xfrm>
            <a:off x="8310676" y="2880359"/>
            <a:ext cx="3058058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6400" b="1">
                <a:solidFill>
                  <a:srgbClr val="F74739"/>
                </a:solidFill>
                <a:latin typeface="Segoe UI Semibold"/>
              </a:rPr>
              <a:t>2.1 d</a:t>
            </a:r>
          </a:p>
        </p:txBody>
      </p:sp>
      <p:sp>
        <p:nvSpPr>
          <p:cNvPr id="14" name="KPI label 3"/>
          <p:cNvSpPr txBox="1"/>
          <p:nvPr/>
        </p:nvSpPr>
        <p:spPr>
          <a:xfrm>
            <a:off x="8310676" y="4206240"/>
            <a:ext cx="3058058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>
                <a:solidFill>
                  <a:srgbClr val="C6A5A0"/>
                </a:solidFill>
                <a:latin typeface="Segoe UI"/>
              </a:rPr>
              <a:t>lead time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3" presetClass="entr" presetSubtype="16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53" presetClass="entr" presetSubtype="16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0C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" name="__gen_orbit-ring_orbit" descr="Generated by motion director (orbit-ring): shows the loop the stages form"/>
          <p:cNvSpPr/>
          <p:nvPr/>
        </p:nvSpPr>
        <p:spPr>
          <a:xfrm>
            <a:off x="4235043" y="2208274"/>
            <a:ext cx="3721608" cy="3721607"/>
          </a:xfrm>
          <a:prstGeom prst="ellipse">
            <a:avLst/>
          </a:prstGeom>
          <a:noFill/>
          <a:ln w="22225">
            <a:solidFill>
              <a:srgbClr val="2E1916">
                <a:alpha val="55000"/>
              </a:srgbClr>
            </a:solidFill>
            <a:prstDash val="dash"/>
          </a:ln>
        </p:spPr>
      </p:sp>
      <p:sp>
        <p:nvSpPr>
          <p:cNvPr id="11" name="__gen_halo_halo" descr="Generated by motion director (halo): guides attention to the stage being discussed"/>
          <p:cNvSpPr/>
          <p:nvPr/>
        </p:nvSpPr>
        <p:spPr>
          <a:xfrm>
            <a:off x="6918806" y="2862071"/>
            <a:ext cx="2414016" cy="2414016"/>
          </a:xfrm>
          <a:prstGeom prst="ellipse">
            <a:avLst/>
          </a:prstGeom>
          <a:gradFill rotWithShape="1">
            <a:gsLst>
              <a:gs pos="0">
                <a:srgbClr val="2E1916">
                  <a:alpha val="45000"/>
                </a:srgbClr>
              </a:gs>
              <a:gs pos="100000">
                <a:srgbClr val="2E191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2" name="!!orb-1"/>
          <p:cNvSpPr/>
          <p:nvPr/>
        </p:nvSpPr>
        <p:spPr>
          <a:xfrm>
            <a:off x="-1828800" y="5029200"/>
            <a:ext cx="3657600" cy="3657600"/>
          </a:xfrm>
          <a:prstGeom prst="ellipse">
            <a:avLst/>
          </a:prstGeom>
          <a:solidFill>
            <a:srgbClr val="DA251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orb-2"/>
          <p:cNvSpPr/>
          <p:nvPr/>
        </p:nvSpPr>
        <p:spPr>
          <a:xfrm>
            <a:off x="10911535" y="-1280160"/>
            <a:ext cx="2560320" cy="2560320"/>
          </a:xfrm>
          <a:prstGeom prst="ellipse">
            <a:avLst/>
          </a:prstGeom>
          <a:solidFill>
            <a:srgbClr val="169985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640080" y="411480"/>
            <a:ext cx="10911535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FFEDEA"/>
                </a:solidFill>
                <a:latin typeface="Segoe UI Semibold"/>
              </a:rPr>
              <a:t>How we improve</a:t>
            </a:r>
          </a:p>
        </p:txBody>
      </p:sp>
      <p:sp>
        <p:nvSpPr>
          <p:cNvPr id="5" name="Title accent"/>
          <p:cNvSpPr/>
          <p:nvPr/>
        </p:nvSpPr>
        <p:spPr>
          <a:xfrm>
            <a:off x="731519" y="1252728"/>
            <a:ext cx="1280160" cy="64008"/>
          </a:xfrm>
          <a:prstGeom prst="rect">
            <a:avLst/>
          </a:prstGeom>
          <a:solidFill>
            <a:srgbClr val="F747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tage 1"/>
          <p:cNvSpPr/>
          <p:nvPr/>
        </p:nvSpPr>
        <p:spPr>
          <a:xfrm>
            <a:off x="5341467" y="1623059"/>
            <a:ext cx="1508760" cy="1508760"/>
          </a:xfrm>
          <a:prstGeom prst="ellipse">
            <a:avLst/>
          </a:prstGeom>
          <a:solidFill>
            <a:srgbClr val="2E1916"/>
          </a:solidFill>
          <a:ln w="12700">
            <a:solidFill>
              <a:srgbClr val="F747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EDEA"/>
                </a:solidFill>
                <a:latin typeface="Segoe UI Semibold"/>
              </a:rPr>
              <a:t>Plan</a:t>
            </a:r>
          </a:p>
        </p:txBody>
      </p:sp>
      <p:sp>
        <p:nvSpPr>
          <p:cNvPr id="7" name="Stage 2"/>
          <p:cNvSpPr/>
          <p:nvPr/>
        </p:nvSpPr>
        <p:spPr>
          <a:xfrm>
            <a:off x="7371435" y="3314699"/>
            <a:ext cx="1508760" cy="1508760"/>
          </a:xfrm>
          <a:prstGeom prst="ellipse">
            <a:avLst/>
          </a:prstGeom>
          <a:solidFill>
            <a:srgbClr val="2E1916"/>
          </a:solidFill>
          <a:ln w="12700">
            <a:solidFill>
              <a:srgbClr val="F747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EDEA"/>
                </a:solidFill>
                <a:latin typeface="Segoe UI Semibold"/>
              </a:rPr>
              <a:t>Build</a:t>
            </a:r>
          </a:p>
        </p:txBody>
      </p:sp>
      <p:sp>
        <p:nvSpPr>
          <p:cNvPr id="8" name="Stage 3"/>
          <p:cNvSpPr/>
          <p:nvPr/>
        </p:nvSpPr>
        <p:spPr>
          <a:xfrm>
            <a:off x="5341467" y="5006339"/>
            <a:ext cx="1508760" cy="1508760"/>
          </a:xfrm>
          <a:prstGeom prst="ellipse">
            <a:avLst/>
          </a:prstGeom>
          <a:solidFill>
            <a:srgbClr val="2E1916"/>
          </a:solidFill>
          <a:ln w="12700">
            <a:solidFill>
              <a:srgbClr val="F747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EDEA"/>
                </a:solidFill>
                <a:latin typeface="Segoe UI Semibold"/>
              </a:rPr>
              <a:t>Measure</a:t>
            </a:r>
          </a:p>
        </p:txBody>
      </p:sp>
      <p:sp>
        <p:nvSpPr>
          <p:cNvPr id="9" name="Stage 4"/>
          <p:cNvSpPr/>
          <p:nvPr/>
        </p:nvSpPr>
        <p:spPr>
          <a:xfrm>
            <a:off x="3311499" y="3314699"/>
            <a:ext cx="1508760" cy="1508760"/>
          </a:xfrm>
          <a:prstGeom prst="ellipse">
            <a:avLst/>
          </a:prstGeom>
          <a:solidFill>
            <a:srgbClr val="2E1916"/>
          </a:solidFill>
          <a:ln w="12700">
            <a:solidFill>
              <a:srgbClr val="F747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EDEA"/>
                </a:solidFill>
                <a:latin typeface="Segoe UI Semibold"/>
              </a:rPr>
              <a:t>Learn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8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0" presetClass="path" presetSubtype="0" decel="6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66504 -0 L 0 0 E" pathEditMode="relative" rAng="0" ptsTypes="AA">
                                      <p:cBhvr>
                                        <p:cTn id="17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0" presetClass="path" presetSubtype="0" decel="60000" fill="hold" grpId="1" nodeType="withEffect">
                                  <p:stCondLst>
                                    <p:cond delay="140"/>
                                  </p:stCondLst>
                                  <p:childTnLst>
                                    <p:animMotion origin="layout" path="M -0 -0.246667 L 0 0 E" pathEditMode="relative" rAng="0" ptsTypes="AA">
                                      <p:cBhvr>
                                        <p:cTn id="22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0" presetClass="path" presetSubtype="0" decel="60000" fill="hold" grpId="1" nodeType="withEffect">
                                  <p:stCondLst>
                                    <p:cond delay="280"/>
                                  </p:stCondLst>
                                  <p:childTnLst>
                                    <p:animMotion origin="layout" path="M 0.166504 -0 L 0 0 E" pathEditMode="relative" rAng="0" ptsTypes="AA">
                                      <p:cBhvr>
                                        <p:cTn id="27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0" presetClass="path" presetSubtype="0" decel="60000" fill="hold" grpId="1" nodeType="withEffect">
                                  <p:stCondLst>
                                    <p:cond delay="420"/>
                                  </p:stCondLst>
                                  <p:childTnLst>
                                    <p:animMotion origin="layout" path="M -0 0.246667 L 0 0 E" pathEditMode="relative" rAng="0" ptsTypes="AA">
                                      <p:cBhvr>
                                        <p:cTn id="32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34" dur="4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6" presetClass="emph" presetSubtype="0" accel="15000" decel="7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8" dur="500" fill="hold"/>
                                        <p:tgtEl>
                                          <p:spTgt spid="7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</p:cTn>
                              </p:par>
                              <p:par>
                                <p:cTn id="39" presetID="9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indefinite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35"/>
                                      </p:to>
                                    </p:set>
                                    <p:animEffect filter="image" prLst="opacity: 0.35">
                                      <p:cBhvr rctx="IE">
                                        <p:cTn id="41" dur="indefinite" fill="hold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indefinite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35"/>
                                      </p:to>
                                    </p:set>
                                    <p:animEffect filter="image" prLst="opacity: 0.35">
                                      <p:cBhvr rctx="IE">
                                        <p:cTn id="44" dur="indefinite" fill="hold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9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indefinite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35"/>
                                      </p:to>
                                    </p:set>
                                    <p:animEffect filter="image" prLst="opacity: 0.35">
                                      <p:cBhvr rctx="IE">
                                        <p:cTn id="47" dur="indefinite" fill="hold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6" presetClass="emph" presetSubtype="0" accel="15000" decel="7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52" dur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mph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indefinite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  <p:animEffect filter="image" prLst="opacity: 1">
                                      <p:cBhvr rctx="IE">
                                        <p:cTn id="57" dur="indefinite" fill="hold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6" presetClass="emph" presetSubtype="0" accel="15000" decel="7000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59" dur="500" fill="hold"/>
                                        <p:tgtEl>
                                          <p:spTgt spid="8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</p:cTn>
                              </p:par>
                              <p:par>
                                <p:cTn id="60" presetID="9" presetClass="emph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indefinite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35"/>
                                      </p:to>
                                    </p:set>
                                    <p:animEffect filter="image" prLst="opacity: 0.35">
                                      <p:cBhvr rctx="IE">
                                        <p:cTn id="62" dur="indefinite" fill="hold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6" presetClass="emph" presetSubtype="0" accel="15000" decel="7000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4" dur="500" fill="hold"/>
                                        <p:tgtEl>
                                          <p:spTgt spid="7"/>
                                        </p:tgtEl>
                                      </p:cBhvr>
                                      <p:by x="89286" y="89286"/>
                                    </p:animScale>
                                  </p:childTnLst>
                                </p:cTn>
                              </p:par>
                              <p:par>
                                <p:cTn id="65" presetID="0" presetClass="path" presetSubtype="0" accel="15000" decel="7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30835 0.098873 -0.086336 0.181095 -0.166504 0.246667 E" pathEditMode="relative" rAng="0">
                                      <p:cBhvr>
                                        <p:cTn id="6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9" presetClass="emph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indefinite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  <p:animEffect filter="image" prLst="opacity: 1">
                                      <p:cBhvr rctx="IE">
                                        <p:cTn id="71" dur="indefinite" fill="hold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6" presetClass="emph" presetSubtype="0" accel="15000" decel="7000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73" dur="500" fill="hold"/>
                                        <p:tgtEl>
                                          <p:spTgt spid="9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</p:cTn>
                              </p:par>
                              <p:par>
                                <p:cTn id="74" presetID="9" presetClass="emph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indefinite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35"/>
                                      </p:to>
                                    </p:set>
                                    <p:animEffect filter="image" prLst="opacity: 0.35">
                                      <p:cBhvr rctx="IE">
                                        <p:cTn id="76" dur="indefinite" fill="hold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6" presetClass="emph" presetSubtype="0" accel="15000" decel="7000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78" dur="500" fill="hold"/>
                                        <p:tgtEl>
                                          <p:spTgt spid="8"/>
                                        </p:tgtEl>
                                      </p:cBhvr>
                                      <p:by x="89286" y="89286"/>
                                    </p:animScale>
                                  </p:childTnLst>
                                </p:cTn>
                              </p:par>
                              <p:par>
                                <p:cTn id="79" presetID="0" presetClass="path" presetSubtype="0" accel="15000" decel="7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66504 0.246667 C -0.246672 0.181095 -0.302174 0.098873 -0.333008 0 E" pathEditMode="relative" rAng="0">
                                      <p:cBhvr>
                                        <p:cTn id="8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9" presetClass="emph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indefinite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  <p:animEffect filter="image" prLst="opacity: 1">
                                      <p:cBhvr rctx="IE">
                                        <p:cTn id="85" dur="indefinite" fill="hold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6" presetClass="emph" presetSubtype="0" accel="15000" decel="7000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7" dur="500" fill="hold"/>
                                        <p:tgtEl>
                                          <p:spTgt spid="6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</p:cTn>
                              </p:par>
                              <p:par>
                                <p:cTn id="88" presetID="9" presetClass="emph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indefinite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35"/>
                                      </p:to>
                                    </p:set>
                                    <p:animEffect filter="image" prLst="opacity: 0.35">
                                      <p:cBhvr rctx="IE">
                                        <p:cTn id="90" dur="indefinite" fill="hold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6" presetClass="emph" presetSubtype="0" accel="15000" decel="7000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2" dur="500" fill="hold"/>
                                        <p:tgtEl>
                                          <p:spTgt spid="9"/>
                                        </p:tgtEl>
                                      </p:cBhvr>
                                      <p:by x="89286" y="89286"/>
                                    </p:animScale>
                                  </p:childTnLst>
                                </p:cTn>
                              </p:par>
                              <p:par>
                                <p:cTn id="93" presetID="0" presetClass="path" presetSubtype="0" accel="15000" decel="7000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333008 0 C -0.302174 -0.098873 -0.246672 -0.181095 -0.166504 -0.246667 E" pathEditMode="relative" rAng="0">
                                      <p:cBhvr>
                                        <p:cTn id="9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9" presetClass="emph" presetSubtype="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indefinite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  <p:animEffect filter="image" prLst="opacity: 1">
                                      <p:cBhvr rctx="IE">
                                        <p:cTn id="99" dur="indefinite" fill="hold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9" presetClass="emph" presetSubtype="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indefinite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  <p:animEffect filter="image" prLst="opacity: 1">
                                      <p:cBhvr rctx="IE">
                                        <p:cTn id="102" dur="indefinite" fill="hold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9" presetClass="emph" presetSubtype="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indefinite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  <p:animEffect filter="image" prLst="opacity: 1">
                                      <p:cBhvr rctx="IE">
                                        <p:cTn id="105" dur="indefinite" fill="hold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6" presetClass="emph" presetSubtype="0" accel="15000" decel="7000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07" dur="500" fill="hold"/>
                                        <p:tgtEl>
                                          <p:spTgt spid="6"/>
                                        </p:tgtEl>
                                      </p:cBhvr>
                                      <p:by x="89286" y="89286"/>
                                    </p:animScale>
                                  </p:childTnLst>
                                </p:cTn>
                              </p:par>
                              <p:par>
                                <p:cTn id="108" presetID="10" presetClass="exit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6" grpId="1" animBg="1"/>
      <p:bldP spid="6" grpId="2" animBg="1"/>
      <p:bldP spid="6" grpId="3" animBg="1"/>
      <p:bldP spid="6" grpId="4" animBg="1"/>
      <p:bldP spid="6" grpId="5" animBg="1"/>
      <p:bldP spid="7" grpId="0" animBg="1"/>
      <p:bldP spid="7" grpId="1" animBg="1"/>
      <p:bldP spid="7" grpId="2" animBg="1"/>
      <p:bldP spid="7" grpId="3" animBg="1"/>
      <p:bldP spid="7" grpId="4" animBg="1"/>
      <p:bldP spid="7" grpId="5" animBg="1"/>
      <p:bldP spid="8" grpId="0" animBg="1"/>
      <p:bldP spid="8" grpId="1" animBg="1"/>
      <p:bldP spid="8" grpId="2" animBg="1"/>
      <p:bldP spid="8" grpId="3" animBg="1"/>
      <p:bldP spid="8" grpId="4" animBg="1"/>
      <p:bldP spid="8" grpId="5" animBg="1"/>
      <p:bldP spid="8" grpId="6" animBg="1"/>
      <p:bldP spid="8" grpId="7" animBg="1"/>
      <p:bldP spid="9" grpId="0" animBg="1"/>
      <p:bldP spid="9" grpId="1" animBg="1"/>
      <p:bldP spid="9" grpId="2" animBg="1"/>
      <p:bldP spid="9" grpId="3" animBg="1"/>
      <p:bldP spid="9" grpId="4" animBg="1"/>
      <p:bldP spid="9" grpId="5" animBg="1"/>
      <p:bldP spid="9" grpId="6" animBg="1"/>
      <p:bldP spid="9" grpId="7" animBg="1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0C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" name="__gen_track-line_track" descr="Generated by motion director (track-line): the rail the work travels along"/>
          <p:cNvSpPr/>
          <p:nvPr/>
        </p:nvSpPr>
        <p:spPr>
          <a:xfrm>
            <a:off x="1815426" y="2519172"/>
            <a:ext cx="8560841" cy="82296"/>
          </a:xfrm>
          <a:prstGeom prst="roundRect">
            <a:avLst/>
          </a:prstGeom>
          <a:solidFill>
            <a:srgbClr val="2E1916">
              <a:alpha val="35000"/>
            </a:srgbClr>
          </a:solidFill>
          <a:ln>
            <a:noFill/>
          </a:ln>
        </p:spPr>
      </p:sp>
      <p:sp>
        <p:nvSpPr>
          <p:cNvPr id="2" name="!!orb-1"/>
          <p:cNvSpPr/>
          <p:nvPr/>
        </p:nvSpPr>
        <p:spPr>
          <a:xfrm>
            <a:off x="-1828800" y="-1828800"/>
            <a:ext cx="3657600" cy="3657600"/>
          </a:xfrm>
          <a:prstGeom prst="ellipse">
            <a:avLst/>
          </a:prstGeom>
          <a:solidFill>
            <a:srgbClr val="DA251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orb-2"/>
          <p:cNvSpPr/>
          <p:nvPr/>
        </p:nvSpPr>
        <p:spPr>
          <a:xfrm>
            <a:off x="10911535" y="5577840"/>
            <a:ext cx="2560320" cy="2560320"/>
          </a:xfrm>
          <a:prstGeom prst="ellipse">
            <a:avLst/>
          </a:prstGeom>
          <a:solidFill>
            <a:srgbClr val="169985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640080" y="411480"/>
            <a:ext cx="10911535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FFEDEA"/>
                </a:solidFill>
                <a:latin typeface="Segoe UI Semibold"/>
              </a:rPr>
              <a:t>From order to door</a:t>
            </a:r>
          </a:p>
        </p:txBody>
      </p:sp>
      <p:sp>
        <p:nvSpPr>
          <p:cNvPr id="5" name="Title accent"/>
          <p:cNvSpPr/>
          <p:nvPr/>
        </p:nvSpPr>
        <p:spPr>
          <a:xfrm>
            <a:off x="731519" y="1252728"/>
            <a:ext cx="1280160" cy="64008"/>
          </a:xfrm>
          <a:prstGeom prst="rect">
            <a:avLst/>
          </a:prstGeom>
          <a:solidFill>
            <a:srgbClr val="F747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tep 1"/>
          <p:cNvSpPr/>
          <p:nvPr/>
        </p:nvSpPr>
        <p:spPr>
          <a:xfrm>
            <a:off x="640080" y="2971800"/>
            <a:ext cx="2350693" cy="2011680"/>
          </a:xfrm>
          <a:prstGeom prst="roundRect">
            <a:avLst>
              <a:gd name="adj" fmla="val 8000"/>
            </a:avLst>
          </a:prstGeom>
          <a:solidFill>
            <a:srgbClr val="2E19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FFEDEA"/>
                </a:solidFill>
                <a:latin typeface="Segoe UI Semibold"/>
              </a:rPr>
              <a:t>Order</a:t>
            </a:r>
          </a:p>
        </p:txBody>
      </p:sp>
      <p:sp>
        <p:nvSpPr>
          <p:cNvPr id="7" name="Step 2"/>
          <p:cNvSpPr/>
          <p:nvPr/>
        </p:nvSpPr>
        <p:spPr>
          <a:xfrm>
            <a:off x="3493693" y="2971800"/>
            <a:ext cx="2350693" cy="2011680"/>
          </a:xfrm>
          <a:prstGeom prst="roundRect">
            <a:avLst>
              <a:gd name="adj" fmla="val 8000"/>
            </a:avLst>
          </a:prstGeom>
          <a:solidFill>
            <a:srgbClr val="2E19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FFEDEA"/>
                </a:solidFill>
                <a:latin typeface="Segoe UI Semibold"/>
              </a:rPr>
              <a:t>Roast</a:t>
            </a:r>
          </a:p>
        </p:txBody>
      </p:sp>
      <p:cxnSp>
        <p:nvCxnSpPr>
          <p:cNvPr id="8" name="Link 1"/>
          <p:cNvCxnSpPr/>
          <p:nvPr/>
        </p:nvCxnSpPr>
        <p:spPr>
          <a:xfrm>
            <a:off x="3063925" y="3977639"/>
            <a:ext cx="356616" cy="0"/>
          </a:xfrm>
          <a:prstGeom prst="line">
            <a:avLst/>
          </a:prstGeom>
          <a:ln w="31750">
            <a:solidFill>
              <a:srgbClr val="F7473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Step 3"/>
          <p:cNvSpPr/>
          <p:nvPr/>
        </p:nvSpPr>
        <p:spPr>
          <a:xfrm>
            <a:off x="6347307" y="2971800"/>
            <a:ext cx="2350693" cy="2011680"/>
          </a:xfrm>
          <a:prstGeom prst="roundRect">
            <a:avLst>
              <a:gd name="adj" fmla="val 8000"/>
            </a:avLst>
          </a:prstGeom>
          <a:solidFill>
            <a:srgbClr val="2E19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FFEDEA"/>
                </a:solidFill>
                <a:latin typeface="Segoe UI Semibold"/>
              </a:rPr>
              <a:t>Pack</a:t>
            </a:r>
          </a:p>
        </p:txBody>
      </p:sp>
      <p:cxnSp>
        <p:nvCxnSpPr>
          <p:cNvPr id="10" name="Link 2"/>
          <p:cNvCxnSpPr/>
          <p:nvPr/>
        </p:nvCxnSpPr>
        <p:spPr>
          <a:xfrm>
            <a:off x="5917539" y="3977639"/>
            <a:ext cx="356616" cy="0"/>
          </a:xfrm>
          <a:prstGeom prst="line">
            <a:avLst/>
          </a:prstGeom>
          <a:ln w="31750">
            <a:solidFill>
              <a:srgbClr val="F7473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Step 4"/>
          <p:cNvSpPr/>
          <p:nvPr/>
        </p:nvSpPr>
        <p:spPr>
          <a:xfrm>
            <a:off x="9200921" y="2971800"/>
            <a:ext cx="2350693" cy="2011680"/>
          </a:xfrm>
          <a:prstGeom prst="roundRect">
            <a:avLst>
              <a:gd name="adj" fmla="val 8000"/>
            </a:avLst>
          </a:prstGeom>
          <a:solidFill>
            <a:srgbClr val="F747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1D0C0A"/>
                </a:solidFill>
                <a:latin typeface="Segoe UI Semibold"/>
              </a:rPr>
              <a:t>Deliver</a:t>
            </a:r>
          </a:p>
        </p:txBody>
      </p:sp>
      <p:cxnSp>
        <p:nvCxnSpPr>
          <p:cNvPr id="12" name="Link 3"/>
          <p:cNvCxnSpPr/>
          <p:nvPr/>
        </p:nvCxnSpPr>
        <p:spPr>
          <a:xfrm>
            <a:off x="8771153" y="3977639"/>
            <a:ext cx="356616" cy="0"/>
          </a:xfrm>
          <a:prstGeom prst="line">
            <a:avLst/>
          </a:prstGeom>
          <a:ln w="31750">
            <a:solidFill>
              <a:srgbClr val="F7473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__gen_token_token" descr="Generated by motion director (token): marks where the process is right now"/>
          <p:cNvSpPr/>
          <p:nvPr/>
        </p:nvSpPr>
        <p:spPr>
          <a:xfrm>
            <a:off x="208026" y="2406015"/>
            <a:ext cx="308610" cy="308610"/>
          </a:xfrm>
          <a:prstGeom prst="ellipse">
            <a:avLst/>
          </a:prstGeom>
          <a:solidFill>
            <a:srgbClr val="2E1916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80"/>
                            </p:stCondLst>
                            <p:childTnLst>
                              <p:par>
                                <p:cTn id="22" presetID="0" presetClass="path" presetSubtype="0" accel="15000" decel="7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42113 -0.025268 0.084226 -0.025268 0.126339 0 E" pathEditMode="relative" rAng="0">
                                      <p:cBhvr>
                                        <p:cTn id="23" dur="5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accel="30000" decel="70000" fill="hold" grpId="2" nodeType="withEffect">
                                  <p:stCondLst>
                                    <p:cond delay="520"/>
                                  </p:stCondLst>
                                  <p:childTnLst>
                                    <p:animMotion origin="layout" path="M 0.126339 0 L 0.119187 0 E" pathEditMode="relative" rAng="0" ptsTypes="AA">
                                      <p:cBhvr>
                                        <p:cTn id="25" dur="13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6" presetID="6" presetClass="emph" presetSubtype="0" fill="hold" grpId="1" nodeType="withEffect">
                                  <p:stCondLst>
                                    <p:cond delay="650"/>
                                  </p:stCondLst>
                                  <p:childTnLst>
                                    <p:animScale>
                                      <p:cBhvr>
                                        <p:cTn id="27" dur="200" fill="hold" autoRev="1"/>
                                        <p:tgtEl>
                                          <p:spTgt spid="6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00"/>
                            </p:stCondLst>
                            <p:childTnLst>
                              <p:par>
                                <p:cTn id="3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700"/>
                            </p:stCondLst>
                            <p:childTnLst>
                              <p:par>
                                <p:cTn id="40" presetID="0" presetClass="path" presetSubtype="0" accel="15000" decel="7000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19187 0 C 0.201889 -0.049621 0.284591 -0.049621 0.367293 0 E" pathEditMode="relative" rAng="0">
                                      <p:cBhvr>
                                        <p:cTn id="41" dur="5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2" presetID="0" presetClass="path" presetSubtype="0" accel="30000" decel="70000" fill="hold" grpId="4" nodeType="withEffect">
                                  <p:stCondLst>
                                    <p:cond delay="520"/>
                                  </p:stCondLst>
                                  <p:childTnLst>
                                    <p:animMotion origin="layout" path="M 0.367293 0 L 0.353249 0 E" pathEditMode="relative" rAng="0" ptsTypes="AA">
                                      <p:cBhvr>
                                        <p:cTn id="43" dur="13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4" presetID="6" presetClass="emph" presetSubtype="0" fill="hold" grpId="1" nodeType="withEffect">
                                  <p:stCondLst>
                                    <p:cond delay="650"/>
                                  </p:stCondLst>
                                  <p:childTnLst>
                                    <p:animScale>
                                      <p:cBhvr>
                                        <p:cTn id="45" dur="200" fill="hold" autoRev="1"/>
                                        <p:tgtEl>
                                          <p:spTgt spid="7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0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300"/>
                            </p:stCondLst>
                            <p:childTnLst>
                              <p:par>
                                <p:cTn id="5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700"/>
                            </p:stCondLst>
                            <p:childTnLst>
                              <p:par>
                                <p:cTn id="58" presetID="0" presetClass="path" presetSubtype="0" accel="15000" decel="70000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53249 0 C 0.435951 -0.049621 0.518653 -0.049621 0.601355 0 E" pathEditMode="relative" rAng="0">
                                      <p:cBhvr>
                                        <p:cTn id="59" dur="5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0" presetID="0" presetClass="path" presetSubtype="0" accel="30000" decel="70000" fill="hold" grpId="6" nodeType="withEffect">
                                  <p:stCondLst>
                                    <p:cond delay="520"/>
                                  </p:stCondLst>
                                  <p:childTnLst>
                                    <p:animMotion origin="layout" path="M 0.601355 0 L 0.587311 0 E" pathEditMode="relative" rAng="0" ptsTypes="AA">
                                      <p:cBhvr>
                                        <p:cTn id="61" dur="13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2" presetID="6" presetClass="emph" presetSubtype="0" fill="hold" grpId="1" nodeType="withEffect">
                                  <p:stCondLst>
                                    <p:cond delay="650"/>
                                  </p:stCondLst>
                                  <p:childTnLst>
                                    <p:animScale>
                                      <p:cBhvr>
                                        <p:cTn id="63" dur="200" fill="hold" autoRev="1"/>
                                        <p:tgtEl>
                                          <p:spTgt spid="9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8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300"/>
                            </p:stCondLst>
                            <p:childTnLst>
                              <p:par>
                                <p:cTn id="7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700"/>
                            </p:stCondLst>
                            <p:childTnLst>
                              <p:par>
                                <p:cTn id="76" presetID="0" presetClass="path" presetSubtype="0" accel="15000" decel="70000" fill="hold" grpId="7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587311 0 C 0.670013 -0.049621 0.752715 -0.049621 0.835417 0 E" pathEditMode="relative" rAng="0">
                                      <p:cBhvr>
                                        <p:cTn id="77" dur="5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8" presetID="0" presetClass="path" presetSubtype="0" accel="30000" decel="70000" fill="hold" grpId="8" nodeType="withEffect">
                                  <p:stCondLst>
                                    <p:cond delay="520"/>
                                  </p:stCondLst>
                                  <p:childTnLst>
                                    <p:animMotion origin="layout" path="M 0.835417 0 L 0.821374 0 E" pathEditMode="relative" rAng="0" ptsTypes="AA">
                                      <p:cBhvr>
                                        <p:cTn id="79" dur="13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0" presetID="6" presetClass="emph" presetSubtype="0" fill="hold" grpId="1" nodeType="withEffect">
                                  <p:stCondLst>
                                    <p:cond delay="650"/>
                                  </p:stCondLst>
                                  <p:childTnLst>
                                    <p:animScale>
                                      <p:cBhvr>
                                        <p:cTn id="81" dur="200" fill="hold" autoRev="1"/>
                                        <p:tgtEl>
                                          <p:spTgt spid="11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6" grpId="1" animBg="1"/>
      <p:bldP spid="7" grpId="0" animBg="1"/>
      <p:bldP spid="7" grpId="1" animBg="1"/>
      <p:bldP spid="9" grpId="0" animBg="1"/>
      <p:bldP spid="9" grpId="1" animBg="1"/>
      <p:bldP spid="11" grpId="0" animBg="1"/>
      <p:bldP spid="11" grpId="1" animBg="1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0C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orb-1"/>
          <p:cNvSpPr/>
          <p:nvPr/>
        </p:nvSpPr>
        <p:spPr>
          <a:xfrm>
            <a:off x="10362895" y="-1828800"/>
            <a:ext cx="3657600" cy="3657600"/>
          </a:xfrm>
          <a:prstGeom prst="ellipse">
            <a:avLst/>
          </a:prstGeom>
          <a:solidFill>
            <a:srgbClr val="DA251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orb-2"/>
          <p:cNvSpPr/>
          <p:nvPr/>
        </p:nvSpPr>
        <p:spPr>
          <a:xfrm>
            <a:off x="-1280160" y="5577840"/>
            <a:ext cx="2560320" cy="2560320"/>
          </a:xfrm>
          <a:prstGeom prst="ellipse">
            <a:avLst/>
          </a:prstGeom>
          <a:solidFill>
            <a:srgbClr val="169985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ement bar"/>
          <p:cNvSpPr/>
          <p:nvPr/>
        </p:nvSpPr>
        <p:spPr>
          <a:xfrm>
            <a:off x="1097280" y="1691640"/>
            <a:ext cx="73152" cy="3291840"/>
          </a:xfrm>
          <a:prstGeom prst="rect">
            <a:avLst/>
          </a:prstGeom>
          <a:solidFill>
            <a:srgbClr val="F747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Statement"/>
          <p:cNvSpPr txBox="1"/>
          <p:nvPr/>
        </p:nvSpPr>
        <p:spPr>
          <a:xfrm>
            <a:off x="1371600" y="1554480"/>
            <a:ext cx="9448495" cy="3566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5400" b="1">
                <a:solidFill>
                  <a:srgbClr val="FFEDEA"/>
                </a:solidFill>
                <a:latin typeface="Segoe UI Semibold"/>
              </a:rPr>
              <a:t>Delivery speed is what members praise most.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