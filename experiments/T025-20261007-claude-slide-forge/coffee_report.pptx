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310</c:v>
                </c:pt>
                <c:pt idx="1">
                  <c:v>335</c:v>
                </c:pt>
                <c:pt idx="2">
                  <c:v>350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472B6"/>
            </a:solidFill>
          </c:spPr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420</c:v>
                </c:pt>
                <c:pt idx="1">
                  <c:v>515</c:v>
                </c:pt>
                <c:pt idx="2">
                  <c:v>640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the order lands, then we roast, then pack, then ship, and finally the customer brews.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loop, then walk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Hero picture" descr="image.png"/>
          <p:cNvPicPr>
            <a:picLocks noChangeAspect="1"/>
          </p:cNvPicPr>
          <p:nvPr/>
        </p:nvPicPr>
        <p:blipFill>
          <a:blip r:embed="rId2"/>
          <a:srcRect l="22223" r="22223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5" name="Kicker"/>
          <p:cNvSpPr txBox="1"/>
          <p:nvPr/>
        </p:nvSpPr>
        <p:spPr>
          <a:xfrm>
            <a:off x="640080" y="1828800"/>
            <a:ext cx="49985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QUARTERLY REVIEW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2240280"/>
            <a:ext cx="4998567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600" b="1">
                <a:solidFill>
                  <a:srgbClr val="F8FAFC"/>
                </a:solidFill>
                <a:latin typeface="Segoe UI Semibold"/>
              </a:rPr>
              <a:t>Coffee that travels well</a:t>
            </a:r>
          </a:p>
        </p:txBody>
      </p:sp>
      <p:sp>
        <p:nvSpPr>
          <p:cNvPr id="7" name="Title accent"/>
          <p:cNvSpPr/>
          <p:nvPr/>
        </p:nvSpPr>
        <p:spPr>
          <a:xfrm>
            <a:off x="731519" y="4389120"/>
            <a:ext cx="16459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"/>
          <p:cNvSpPr txBox="1"/>
          <p:nvPr/>
        </p:nvSpPr>
        <p:spPr>
          <a:xfrm>
            <a:off x="640080" y="4617720"/>
            <a:ext cx="499856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94A3B8"/>
                </a:solidFill>
                <a:latin typeface="Segoe UI"/>
              </a:rPr>
              <a:t>Northwind Roasters · Q3 2026 · synthetic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 -0.009 E" pathEditMode="relative" rAng="0" ptsTypes="AA">
                                      <p:cBhvr>
                                        <p:cTn id="9" dur="7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000" fill="hold"/>
                                        <p:tgtEl>
                                          <p:spTgt spid="4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50292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280160" y="1097280"/>
            <a:ext cx="9631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38BDF8"/>
                </a:solidFill>
                <a:latin typeface="Segoe UI"/>
              </a:rPr>
              <a:t>THE HEADLINE</a:t>
            </a:r>
          </a:p>
        </p:txBody>
      </p:sp>
      <p:sp>
        <p:nvSpPr>
          <p:cNvPr id="5" name="Statement bar"/>
          <p:cNvSpPr/>
          <p:nvPr/>
        </p:nvSpPr>
        <p:spPr>
          <a:xfrm>
            <a:off x="1097280" y="1691640"/>
            <a:ext cx="73152" cy="3291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ment"/>
          <p:cNvSpPr txBox="1"/>
          <p:nvPr/>
        </p:nvSpPr>
        <p:spPr>
          <a:xfrm>
            <a:off x="1371600" y="1554480"/>
            <a:ext cx="9448495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5400" b="1">
                <a:solidFill>
                  <a:srgbClr val="F8FAFC"/>
                </a:solidFill>
                <a:latin typeface="Segoe UI Semibold"/>
              </a:rPr>
              <a:t>We doubled direct orders while cutting delivery time by a third.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-128016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 Semibold"/>
              </a:rPr>
              <a:t>Q3 in numbers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card 1"/>
          <p:cNvSpPr/>
          <p:nvPr/>
        </p:nvSpPr>
        <p:spPr>
          <a:xfrm>
            <a:off x="640080" y="2103120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1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48%</a:t>
            </a:r>
          </a:p>
        </p:txBody>
      </p:sp>
      <p:sp>
        <p:nvSpPr>
          <p:cNvPr id="16" name="__counter_7_08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47%</a:t>
            </a:r>
          </a:p>
        </p:txBody>
      </p:sp>
      <p:sp>
        <p:nvSpPr>
          <p:cNvPr id="17" name="__counter_7_07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46%</a:t>
            </a:r>
          </a:p>
        </p:txBody>
      </p:sp>
      <p:sp>
        <p:nvSpPr>
          <p:cNvPr id="18" name="__counter_7_06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44%</a:t>
            </a:r>
          </a:p>
        </p:txBody>
      </p:sp>
      <p:sp>
        <p:nvSpPr>
          <p:cNvPr id="19" name="__counter_7_05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40%</a:t>
            </a:r>
          </a:p>
        </p:txBody>
      </p:sp>
      <p:sp>
        <p:nvSpPr>
          <p:cNvPr id="20" name="__counter_7_04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34%</a:t>
            </a:r>
          </a:p>
        </p:txBody>
      </p:sp>
      <p:sp>
        <p:nvSpPr>
          <p:cNvPr id="21" name="__counter_7_03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25%</a:t>
            </a:r>
          </a:p>
        </p:txBody>
      </p:sp>
      <p:sp>
        <p:nvSpPr>
          <p:cNvPr id="22" name="__counter_7_02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14%</a:t>
            </a:r>
          </a:p>
        </p:txBody>
      </p:sp>
      <p:sp>
        <p:nvSpPr>
          <p:cNvPr id="23" name="__counter_7_01"/>
          <p:cNvSpPr txBox="1"/>
          <p:nvPr/>
        </p:nvSpPr>
        <p:spPr>
          <a:xfrm>
            <a:off x="822959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0%</a:t>
            </a:r>
          </a:p>
        </p:txBody>
      </p:sp>
      <p:sp>
        <p:nvSpPr>
          <p:cNvPr id="8" name="KPI label 1"/>
          <p:cNvSpPr txBox="1"/>
          <p:nvPr/>
        </p:nvSpPr>
        <p:spPr>
          <a:xfrm>
            <a:off x="822959" y="370332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Segoe UI"/>
              </a:rPr>
              <a:t>growth in direct orders</a:t>
            </a:r>
          </a:p>
        </p:txBody>
      </p:sp>
      <p:sp>
        <p:nvSpPr>
          <p:cNvPr id="9" name="KPI card 2"/>
          <p:cNvSpPr/>
          <p:nvPr/>
        </p:nvSpPr>
        <p:spPr>
          <a:xfrm>
            <a:off x="4383938" y="2103120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2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1,200 t</a:t>
            </a:r>
          </a:p>
        </p:txBody>
      </p:sp>
      <p:sp>
        <p:nvSpPr>
          <p:cNvPr id="24" name="__counter_10_11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1,199 t</a:t>
            </a:r>
          </a:p>
        </p:txBody>
      </p:sp>
      <p:sp>
        <p:nvSpPr>
          <p:cNvPr id="25" name="__counter_10_10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1,193 t</a:t>
            </a:r>
          </a:p>
        </p:txBody>
      </p:sp>
      <p:sp>
        <p:nvSpPr>
          <p:cNvPr id="26" name="__counter_10_09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1,176 t</a:t>
            </a:r>
          </a:p>
        </p:txBody>
      </p:sp>
      <p:sp>
        <p:nvSpPr>
          <p:cNvPr id="27" name="__counter_10_08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1,142 t</a:t>
            </a:r>
          </a:p>
        </p:txBody>
      </p:sp>
      <p:sp>
        <p:nvSpPr>
          <p:cNvPr id="28" name="__counter_10_07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1,087 t</a:t>
            </a:r>
          </a:p>
        </p:txBody>
      </p:sp>
      <p:sp>
        <p:nvSpPr>
          <p:cNvPr id="29" name="__counter_10_06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1,005 t</a:t>
            </a:r>
          </a:p>
        </p:txBody>
      </p:sp>
      <p:sp>
        <p:nvSpPr>
          <p:cNvPr id="30" name="__counter_10_05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891 t</a:t>
            </a:r>
          </a:p>
        </p:txBody>
      </p:sp>
      <p:sp>
        <p:nvSpPr>
          <p:cNvPr id="31" name="__counter_10_04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738 t</a:t>
            </a:r>
          </a:p>
        </p:txBody>
      </p:sp>
      <p:sp>
        <p:nvSpPr>
          <p:cNvPr id="32" name="__counter_10_03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543 t</a:t>
            </a:r>
          </a:p>
        </p:txBody>
      </p:sp>
      <p:sp>
        <p:nvSpPr>
          <p:cNvPr id="33" name="__counter_10_02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298 t</a:t>
            </a:r>
          </a:p>
        </p:txBody>
      </p:sp>
      <p:sp>
        <p:nvSpPr>
          <p:cNvPr id="34" name="__counter_10_01"/>
          <p:cNvSpPr txBox="1"/>
          <p:nvPr/>
        </p:nvSpPr>
        <p:spPr>
          <a:xfrm>
            <a:off x="4566818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0 t</a:t>
            </a:r>
          </a:p>
        </p:txBody>
      </p:sp>
      <p:sp>
        <p:nvSpPr>
          <p:cNvPr id="11" name="KPI label 2"/>
          <p:cNvSpPr txBox="1"/>
          <p:nvPr/>
        </p:nvSpPr>
        <p:spPr>
          <a:xfrm>
            <a:off x="4566818" y="370332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Segoe UI"/>
              </a:rPr>
              <a:t>roasted this quarter</a:t>
            </a:r>
          </a:p>
        </p:txBody>
      </p:sp>
      <p:sp>
        <p:nvSpPr>
          <p:cNvPr id="12" name="KPI card 3"/>
          <p:cNvSpPr/>
          <p:nvPr/>
        </p:nvSpPr>
        <p:spPr>
          <a:xfrm>
            <a:off x="8127796" y="2103120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value 3"/>
          <p:cNvSpPr txBox="1"/>
          <p:nvPr/>
        </p:nvSpPr>
        <p:spPr>
          <a:xfrm>
            <a:off x="8310676" y="237743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38BDF8"/>
                </a:solidFill>
                <a:latin typeface="Segoe UI Semibold"/>
              </a:rPr>
              <a:t>2.1 days</a:t>
            </a:r>
          </a:p>
        </p:txBody>
      </p:sp>
      <p:sp>
        <p:nvSpPr>
          <p:cNvPr id="14" name="KPI label 3"/>
          <p:cNvSpPr txBox="1"/>
          <p:nvPr/>
        </p:nvSpPr>
        <p:spPr>
          <a:xfrm>
            <a:off x="8310676" y="370332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Segoe UI"/>
              </a:rPr>
              <a:t>average delivery</a:t>
            </a:r>
          </a:p>
        </p:txBody>
      </p:sp>
      <p:sp>
        <p:nvSpPr>
          <p:cNvPr id="15" name="Takeaway"/>
          <p:cNvSpPr txBox="1"/>
          <p:nvPr/>
        </p:nvSpPr>
        <p:spPr>
          <a:xfrm>
            <a:off x="640080" y="5166359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Segoe UI"/>
              </a:rPr>
              <a:t>Growth came from subscriptions, not discounts.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91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91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182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182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546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546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637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637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72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728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819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819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1001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1001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 Semibold"/>
              </a:rPr>
              <a:t>Direct orders by month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"/>
          <p:cNvGraphicFramePr>
            <a:graphicFrameLocks noGrp="1"/>
          </p:cNvGraphicFramePr>
          <p:nvPr/>
        </p:nvGraphicFramePr>
        <p:xfrm>
          <a:off x="640080" y="1645920"/>
          <a:ext cx="6918771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akeaway bar"/>
          <p:cNvSpPr/>
          <p:nvPr/>
        </p:nvSpPr>
        <p:spPr>
          <a:xfrm>
            <a:off x="7833171" y="2103120"/>
            <a:ext cx="64008" cy="23774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akeaway"/>
          <p:cNvSpPr txBox="1"/>
          <p:nvPr/>
        </p:nvSpPr>
        <p:spPr>
          <a:xfrm>
            <a:off x="8061771" y="2011680"/>
            <a:ext cx="3489844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Segoe UI Semibold"/>
              </a:rPr>
              <a:t>September alone beat last year's best quarter.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8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8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>
        <p:bldSub>
          <a:bldChart bld="series" animBg="0"/>
        </p:bldSub>
      </p:bldGraphic>
      <p:bldGraphic spid="6" grpId="1">
        <p:bldSub>
          <a:bldChart bld="series" animBg="0"/>
        </p:bldSub>
      </p:bldGraphic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 Semibold"/>
              </a:rPr>
              <a:t>How an order travels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 1"/>
          <p:cNvSpPr/>
          <p:nvPr/>
        </p:nvSpPr>
        <p:spPr>
          <a:xfrm>
            <a:off x="640080" y="2971800"/>
            <a:ext cx="1779971" cy="2011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8FAFC"/>
                </a:solidFill>
                <a:latin typeface="Segoe UI Semibold"/>
              </a:rPr>
              <a:t>Order</a:t>
            </a:r>
          </a:p>
        </p:txBody>
      </p:sp>
      <p:sp>
        <p:nvSpPr>
          <p:cNvPr id="7" name="Step 2"/>
          <p:cNvSpPr/>
          <p:nvPr/>
        </p:nvSpPr>
        <p:spPr>
          <a:xfrm>
            <a:off x="2922971" y="2971800"/>
            <a:ext cx="1779971" cy="2011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8FAFC"/>
                </a:solidFill>
                <a:latin typeface="Segoe UI Semibold"/>
              </a:rPr>
              <a:t>Roast</a:t>
            </a:r>
          </a:p>
        </p:txBody>
      </p:sp>
      <p:cxnSp>
        <p:nvCxnSpPr>
          <p:cNvPr id="8" name="Link 1"/>
          <p:cNvCxnSpPr/>
          <p:nvPr/>
        </p:nvCxnSpPr>
        <p:spPr>
          <a:xfrm>
            <a:off x="2493203" y="3977639"/>
            <a:ext cx="356616" cy="0"/>
          </a:xfrm>
          <a:prstGeom prst="line">
            <a:avLst/>
          </a:prstGeom>
          <a:ln w="31750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ep 3"/>
          <p:cNvSpPr/>
          <p:nvPr/>
        </p:nvSpPr>
        <p:spPr>
          <a:xfrm>
            <a:off x="5205862" y="2971800"/>
            <a:ext cx="1779971" cy="2011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8FAFC"/>
                </a:solidFill>
                <a:latin typeface="Segoe UI Semibold"/>
              </a:rPr>
              <a:t>Pack</a:t>
            </a:r>
          </a:p>
        </p:txBody>
      </p:sp>
      <p:cxnSp>
        <p:nvCxnSpPr>
          <p:cNvPr id="10" name="Link 2"/>
          <p:cNvCxnSpPr/>
          <p:nvPr/>
        </p:nvCxnSpPr>
        <p:spPr>
          <a:xfrm>
            <a:off x="4776094" y="3977639"/>
            <a:ext cx="356616" cy="0"/>
          </a:xfrm>
          <a:prstGeom prst="line">
            <a:avLst/>
          </a:prstGeom>
          <a:ln w="31750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ep 4"/>
          <p:cNvSpPr/>
          <p:nvPr/>
        </p:nvSpPr>
        <p:spPr>
          <a:xfrm>
            <a:off x="7488753" y="2971800"/>
            <a:ext cx="1779971" cy="2011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8FAFC"/>
                </a:solidFill>
                <a:latin typeface="Segoe UI Semibold"/>
              </a:rPr>
              <a:t>Ship</a:t>
            </a:r>
          </a:p>
        </p:txBody>
      </p:sp>
      <p:cxnSp>
        <p:nvCxnSpPr>
          <p:cNvPr id="12" name="Link 3"/>
          <p:cNvCxnSpPr/>
          <p:nvPr/>
        </p:nvCxnSpPr>
        <p:spPr>
          <a:xfrm>
            <a:off x="7058985" y="3977639"/>
            <a:ext cx="356616" cy="0"/>
          </a:xfrm>
          <a:prstGeom prst="line">
            <a:avLst/>
          </a:prstGeom>
          <a:ln w="31750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ep 5"/>
          <p:cNvSpPr/>
          <p:nvPr/>
        </p:nvSpPr>
        <p:spPr>
          <a:xfrm>
            <a:off x="9771644" y="2971800"/>
            <a:ext cx="1779971" cy="201168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F172A"/>
                </a:solidFill>
                <a:latin typeface="Segoe UI Semibold"/>
              </a:rPr>
              <a:t>Brew</a:t>
            </a:r>
          </a:p>
        </p:txBody>
      </p:sp>
      <p:cxnSp>
        <p:nvCxnSpPr>
          <p:cNvPr id="14" name="Link 4"/>
          <p:cNvCxnSpPr/>
          <p:nvPr/>
        </p:nvCxnSpPr>
        <p:spPr>
          <a:xfrm>
            <a:off x="9341876" y="3977639"/>
            <a:ext cx="356616" cy="0"/>
          </a:xfrm>
          <a:prstGeom prst="line">
            <a:avLst/>
          </a:prstGeom>
          <a:ln w="31750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50292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 Semibold"/>
              </a:rPr>
              <a:t>Why customers stay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upporting picture" descr="image.png"/>
          <p:cNvPicPr>
            <a:picLocks noChangeAspect="1"/>
          </p:cNvPicPr>
          <p:nvPr/>
        </p:nvPicPr>
        <p:blipFill>
          <a:blip r:embed="rId2"/>
          <a:srcRect l="18342" r="18342"/>
          <a:stretch>
            <a:fillRect/>
          </a:stretch>
        </p:blipFill>
        <p:spPr>
          <a:xfrm>
            <a:off x="6827349" y="1554480"/>
            <a:ext cx="4724265" cy="4663440"/>
          </a:xfrm>
          <a:prstGeom prst="rect">
            <a:avLst/>
          </a:prstGeom>
        </p:spPr>
      </p:pic>
      <p:sp>
        <p:nvSpPr>
          <p:cNvPr id="7" name="Points"/>
          <p:cNvSpPr txBox="1"/>
          <p:nvPr/>
        </p:nvSpPr>
        <p:spPr>
          <a:xfrm>
            <a:off x="640080" y="1645920"/>
            <a:ext cx="5699601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>
                <a:solidFill>
                  <a:srgbClr val="F8FAFC"/>
                </a:solidFill>
                <a:latin typeface="Segoe UI"/>
              </a:rPr>
              <a:t>• Roasted within 48 hours of every order</a:t>
            </a:r>
          </a:p>
          <a:p>
            <a:pPr>
              <a:spcBef>
                <a:spcPts val="1800"/>
              </a:spcBef>
            </a:pPr>
            <a:r>
              <a:rPr sz="2800" b="0">
                <a:solidFill>
                  <a:srgbClr val="F8FAFC"/>
                </a:solidFill>
                <a:latin typeface="Segoe UI"/>
              </a:rPr>
              <a:t>• Flexible subscriptions, pause any time</a:t>
            </a:r>
          </a:p>
          <a:p>
            <a:pPr>
              <a:spcBef>
                <a:spcPts val="1800"/>
              </a:spcBef>
            </a:pPr>
            <a:r>
              <a:rPr sz="2800" b="0">
                <a:solidFill>
                  <a:srgbClr val="F8FAFC"/>
                </a:solidFill>
                <a:latin typeface="Segoe UI"/>
              </a:rPr>
              <a:t>• Solar roof covers 40% of our energy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 -0.009 E" pathEditMode="relative" rAng="0" ptsTypes="AA">
                                      <p:cBhvr>
                                        <p:cTn id="36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6000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build="p"/>
      <p:bldP spid="7" grpId="1" build="p"/>
      <p:bldP spid="7" grpId="2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-128016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 Semibold"/>
              </a:rPr>
              <a:t>Our improvement loop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b"/>
          <p:cNvSpPr/>
          <p:nvPr/>
        </p:nvSpPr>
        <p:spPr>
          <a:xfrm>
            <a:off x="5318607" y="3291839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172A"/>
                </a:solidFill>
                <a:latin typeface="Segoe UI Semibold"/>
              </a:rPr>
              <a:t>Customer</a:t>
            </a:r>
          </a:p>
        </p:txBody>
      </p:sp>
      <p:sp>
        <p:nvSpPr>
          <p:cNvPr id="7" name="Stage 1"/>
          <p:cNvSpPr/>
          <p:nvPr/>
        </p:nvSpPr>
        <p:spPr>
          <a:xfrm>
            <a:off x="5341467" y="1623059"/>
            <a:ext cx="1508760" cy="15087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AFC"/>
                </a:solidFill>
                <a:latin typeface="Segoe UI Semibold"/>
              </a:rPr>
              <a:t>Listen</a:t>
            </a:r>
          </a:p>
        </p:txBody>
      </p:sp>
      <p:sp>
        <p:nvSpPr>
          <p:cNvPr id="8" name="Stage 2"/>
          <p:cNvSpPr/>
          <p:nvPr/>
        </p:nvSpPr>
        <p:spPr>
          <a:xfrm>
            <a:off x="7371435" y="3314699"/>
            <a:ext cx="1508760" cy="15087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AFC"/>
                </a:solidFill>
                <a:latin typeface="Segoe UI Semibold"/>
              </a:rPr>
              <a:t>Roast</a:t>
            </a:r>
          </a:p>
        </p:txBody>
      </p:sp>
      <p:sp>
        <p:nvSpPr>
          <p:cNvPr id="9" name="Stage 3"/>
          <p:cNvSpPr/>
          <p:nvPr/>
        </p:nvSpPr>
        <p:spPr>
          <a:xfrm>
            <a:off x="5341467" y="5006339"/>
            <a:ext cx="1508760" cy="15087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AFC"/>
                </a:solidFill>
                <a:latin typeface="Segoe UI Semibold"/>
              </a:rPr>
              <a:t>Deliver</a:t>
            </a:r>
          </a:p>
        </p:txBody>
      </p:sp>
      <p:sp>
        <p:nvSpPr>
          <p:cNvPr id="10" name="Stage 4"/>
          <p:cNvSpPr/>
          <p:nvPr/>
        </p:nvSpPr>
        <p:spPr>
          <a:xfrm>
            <a:off x="3311499" y="3314699"/>
            <a:ext cx="1508760" cy="15087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  <a:latin typeface="Segoe UI Semibold"/>
              </a:rPr>
              <a:t>Measure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46667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6504 0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46667 L 0 0 E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66504 0 L 0 0 E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1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4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7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2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7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4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69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6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81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8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1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4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 Semibold"/>
              </a:rPr>
              <a:t>Subscriptions vs one-off orders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card"/>
          <p:cNvSpPr/>
          <p:nvPr/>
        </p:nvSpPr>
        <p:spPr>
          <a:xfrm>
            <a:off x="640080" y="1645920"/>
            <a:ext cx="5227167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heading"/>
          <p:cNvSpPr txBox="1"/>
          <p:nvPr/>
        </p:nvSpPr>
        <p:spPr>
          <a:xfrm>
            <a:off x="960119" y="1920240"/>
            <a:ext cx="45870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38BDF8"/>
                </a:solidFill>
                <a:latin typeface="Segoe UI Semibold"/>
              </a:rPr>
              <a:t>Subscriptions</a:t>
            </a:r>
          </a:p>
        </p:txBody>
      </p:sp>
      <p:sp>
        <p:nvSpPr>
          <p:cNvPr id="8" name="Left points"/>
          <p:cNvSpPr txBox="1"/>
          <p:nvPr/>
        </p:nvSpPr>
        <p:spPr>
          <a:xfrm>
            <a:off x="960119" y="2788920"/>
            <a:ext cx="4587087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>
                <a:solidFill>
                  <a:srgbClr val="F8FAFC"/>
                </a:solidFill>
                <a:latin typeface="Segoe UI"/>
              </a:rPr>
              <a:t>• Predictable roasting volume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F8FAFC"/>
                </a:solidFill>
                <a:latin typeface="Segoe UI"/>
              </a:rPr>
              <a:t>• Higher lifetime value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F8FAFC"/>
                </a:solidFill>
                <a:latin typeface="Segoe UI"/>
              </a:rPr>
              <a:t>• Lower acquisition cost</a:t>
            </a:r>
          </a:p>
        </p:txBody>
      </p:sp>
      <p:sp>
        <p:nvSpPr>
          <p:cNvPr id="9" name="Right card"/>
          <p:cNvSpPr/>
          <p:nvPr/>
        </p:nvSpPr>
        <p:spPr>
          <a:xfrm>
            <a:off x="6324447" y="1645920"/>
            <a:ext cx="5227167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heading"/>
          <p:cNvSpPr txBox="1"/>
          <p:nvPr/>
        </p:nvSpPr>
        <p:spPr>
          <a:xfrm>
            <a:off x="6644487" y="1920240"/>
            <a:ext cx="45870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F472B6"/>
                </a:solidFill>
                <a:latin typeface="Segoe UI Semibold"/>
              </a:rPr>
              <a:t>One-off orders</a:t>
            </a:r>
          </a:p>
        </p:txBody>
      </p:sp>
      <p:sp>
        <p:nvSpPr>
          <p:cNvPr id="11" name="Right points"/>
          <p:cNvSpPr txBox="1"/>
          <p:nvPr/>
        </p:nvSpPr>
        <p:spPr>
          <a:xfrm>
            <a:off x="6644487" y="2788920"/>
            <a:ext cx="4587087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>
                <a:solidFill>
                  <a:srgbClr val="F8FAFC"/>
                </a:solidFill>
                <a:latin typeface="Segoe UI"/>
              </a:rPr>
              <a:t>• Seasonal spikes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F8FAFC"/>
                </a:solidFill>
                <a:latin typeface="Segoe UI"/>
              </a:rPr>
              <a:t>• Discount-driven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F8FAFC"/>
                </a:solidFill>
                <a:latin typeface="Segoe UI"/>
              </a:rPr>
              <a:t>• Harder to forecast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uote mark"/>
          <p:cNvSpPr txBox="1"/>
          <p:nvPr/>
        </p:nvSpPr>
        <p:spPr>
          <a:xfrm>
            <a:off x="1188720" y="365760"/>
            <a:ext cx="1645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0" b="1">
                <a:solidFill>
                  <a:srgbClr val="38BDF8"/>
                </a:solidFill>
                <a:latin typeface="Segoe UI Semibold"/>
              </a:rPr>
              <a:t>“</a:t>
            </a:r>
          </a:p>
        </p:txBody>
      </p:sp>
      <p:sp>
        <p:nvSpPr>
          <p:cNvPr id="5" name="Quote"/>
          <p:cNvSpPr txBox="1"/>
          <p:nvPr/>
        </p:nvSpPr>
        <p:spPr>
          <a:xfrm>
            <a:off x="1463040" y="2057400"/>
            <a:ext cx="9265615" cy="2697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>
                <a:solidFill>
                  <a:srgbClr val="F8FAFC"/>
                </a:solidFill>
                <a:latin typeface="Segoe UI Semibold"/>
              </a:rPr>
              <a:t>The coffee arrives faster than my old café could brew it.</a:t>
            </a:r>
          </a:p>
        </p:txBody>
      </p:sp>
      <p:sp>
        <p:nvSpPr>
          <p:cNvPr id="6" name="Author rule"/>
          <p:cNvSpPr/>
          <p:nvPr/>
        </p:nvSpPr>
        <p:spPr>
          <a:xfrm>
            <a:off x="1554480" y="4983480"/>
            <a:ext cx="82296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hor"/>
          <p:cNvSpPr txBox="1"/>
          <p:nvPr/>
        </p:nvSpPr>
        <p:spPr>
          <a:xfrm>
            <a:off x="2514600" y="4754880"/>
            <a:ext cx="81683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94A3B8"/>
                </a:solidFill>
                <a:latin typeface="Segoe UI"/>
              </a:rPr>
              <a:t>Subscriber since 2024 (synthetic)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50292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472B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2194560"/>
            <a:ext cx="10911535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4800" b="1">
                <a:solidFill>
                  <a:srgbClr val="F8FAFC"/>
                </a:solidFill>
                <a:latin typeface="Segoe UI Semibold"/>
              </a:rPr>
              <a:t>Next: a second roastery in 2027</a:t>
            </a:r>
          </a:p>
        </p:txBody>
      </p:sp>
      <p:sp>
        <p:nvSpPr>
          <p:cNvPr id="5" name="Closing accent"/>
          <p:cNvSpPr/>
          <p:nvPr/>
        </p:nvSpPr>
        <p:spPr>
          <a:xfrm>
            <a:off x="5181447" y="3794760"/>
            <a:ext cx="18288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1554480" y="4069080"/>
            <a:ext cx="90827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Segoe UI"/>
              </a:rPr>
              <a:t>Questions and discussion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