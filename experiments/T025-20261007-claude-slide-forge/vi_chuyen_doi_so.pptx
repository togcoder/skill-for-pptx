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Cửa hàng</c:v>
                </c:pt>
              </c:strCache>
            </c:strRef>
          </c:tx>
          <c:spPr>
            <a:ln w="38100">
              <a:solidFill>
                <a:srgbClr val="B4532F"/>
              </a:solidFill>
            </a:ln>
          </c:spPr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12.5</c:v>
                </c:pt>
                <c:pt idx="2">
                  <c:v>11.8</c:v>
                </c:pt>
                <c:pt idx="3">
                  <c:v>12.2</c:v>
                </c:pt>
                <c:pt idx="4">
                  <c:v>12.1</c:v>
                </c:pt>
                <c:pt idx="5">
                  <c:v>12.4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Trực tuyến</c:v>
                </c:pt>
              </c:strCache>
            </c:strRef>
          </c:tx>
          <c:spPr>
            <a:ln w="38100">
              <a:solidFill>
                <a:srgbClr val="0F766E"/>
              </a:solidFill>
            </a:ln>
          </c:spPr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3.8</c:v>
                </c:pt>
                <c:pt idx="2">
                  <c:v>4.6</c:v>
                </c:pt>
                <c:pt idx="3">
                  <c:v>5.5</c:v>
                </c:pt>
                <c:pt idx="4">
                  <c:v>6.4</c:v>
                </c:pt>
                <c:pt idx="5">
                  <c:v>7.9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B6472"/>
            </a:solidFill>
          </a:ln>
        </c:spPr>
        <c:txPr>
          <a:bodyPr/>
          <a:lstStyle/>
          <a:p>
            <a:pPr>
              <a:defRPr>
                <a:solidFill>
                  <a:srgbClr val="5B647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5B6472"/>
            </a:solidFill>
          </a:ln>
        </c:spPr>
        <c:txPr>
          <a:bodyPr/>
          <a:lstStyle/>
          <a:p>
            <a:pPr>
              <a:defRPr>
                <a:solidFill>
                  <a:srgbClr val="5B6472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rgbClr val="5B6472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Đầu tiên khảo sát, sau đó thí điểm, tiếp theo đào tạo, cuối cùng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Hero picture" descr="image.png"/>
          <p:cNvPicPr>
            <a:picLocks noChangeAspect="1"/>
          </p:cNvPicPr>
          <p:nvPr/>
        </p:nvPicPr>
        <p:blipFill>
          <a:blip r:embed="rId2"/>
          <a:srcRect l="22223" r="22223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5" name="Kicker"/>
          <p:cNvSpPr txBox="1"/>
          <p:nvPr/>
        </p:nvSpPr>
        <p:spPr>
          <a:xfrm>
            <a:off x="640080" y="1828800"/>
            <a:ext cx="49985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4532F"/>
                </a:solidFill>
                <a:latin typeface="Segoe UI"/>
              </a:rPr>
              <a:t>BÁO CÁO NỘI BỘ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2240280"/>
            <a:ext cx="4998567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100" b="1">
                <a:solidFill>
                  <a:srgbClr val="1F2A44"/>
                </a:solidFill>
                <a:latin typeface="Segoe UI Semibold"/>
              </a:rPr>
              <a:t>Chuyển đổi số cho chuỗi cửa hàng</a:t>
            </a:r>
          </a:p>
        </p:txBody>
      </p:sp>
      <p:sp>
        <p:nvSpPr>
          <p:cNvPr id="7" name="Title accent"/>
          <p:cNvSpPr/>
          <p:nvPr/>
        </p:nvSpPr>
        <p:spPr>
          <a:xfrm>
            <a:off x="731519" y="4389120"/>
            <a:ext cx="1645920" cy="73152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"/>
          <p:cNvSpPr txBox="1"/>
          <p:nvPr/>
        </p:nvSpPr>
        <p:spPr>
          <a:xfrm>
            <a:off x="640080" y="4617720"/>
            <a:ext cx="499856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5B6472"/>
                </a:solidFill>
                <a:latin typeface="Segoe UI"/>
              </a:rPr>
              <a:t>Kế hoạch 2027 · dữ liệu tổng hợp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9" dur="7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640080" y="228600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B4532F"/>
                </a:solidFill>
                <a:latin typeface="Segoe UI"/>
              </a:rPr>
              <a:t>PHẦN 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1F2A44"/>
                </a:solidFill>
                <a:latin typeface="Segoe UI Semibold"/>
              </a:rPr>
              <a:t>Bức tranh hiện tại</a:t>
            </a:r>
          </a:p>
        </p:txBody>
      </p:sp>
      <p:sp>
        <p:nvSpPr>
          <p:cNvPr id="6" name="Section accent"/>
          <p:cNvSpPr/>
          <p:nvPr/>
        </p:nvSpPr>
        <p:spPr>
          <a:xfrm>
            <a:off x="731519" y="4114800"/>
            <a:ext cx="2194560" cy="73152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Segoe UI Semibold"/>
              </a:rPr>
              <a:t>Kết quả quý III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card 1"/>
          <p:cNvSpPr/>
          <p:nvPr/>
        </p:nvSpPr>
        <p:spPr>
          <a:xfrm>
            <a:off x="640080" y="2606039"/>
            <a:ext cx="248785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1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32%</a:t>
            </a:r>
          </a:p>
        </p:txBody>
      </p:sp>
      <p:sp>
        <p:nvSpPr>
          <p:cNvPr id="18" name="__counter_7_07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31%</a:t>
            </a:r>
          </a:p>
        </p:txBody>
      </p:sp>
      <p:sp>
        <p:nvSpPr>
          <p:cNvPr id="19" name="__counter_7_06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29%</a:t>
            </a:r>
          </a:p>
        </p:txBody>
      </p:sp>
      <p:sp>
        <p:nvSpPr>
          <p:cNvPr id="20" name="__counter_7_05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27%</a:t>
            </a:r>
          </a:p>
        </p:txBody>
      </p:sp>
      <p:sp>
        <p:nvSpPr>
          <p:cNvPr id="21" name="__counter_7_04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23%</a:t>
            </a:r>
          </a:p>
        </p:txBody>
      </p:sp>
      <p:sp>
        <p:nvSpPr>
          <p:cNvPr id="22" name="__counter_7_03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17%</a:t>
            </a:r>
          </a:p>
        </p:txBody>
      </p:sp>
      <p:sp>
        <p:nvSpPr>
          <p:cNvPr id="23" name="__counter_7_02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10%</a:t>
            </a:r>
          </a:p>
        </p:txBody>
      </p:sp>
      <p:sp>
        <p:nvSpPr>
          <p:cNvPr id="24" name="__counter_7_01"/>
          <p:cNvSpPr txBox="1"/>
          <p:nvPr/>
        </p:nvSpPr>
        <p:spPr>
          <a:xfrm>
            <a:off x="822959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0%</a:t>
            </a:r>
          </a:p>
        </p:txBody>
      </p:sp>
      <p:sp>
        <p:nvSpPr>
          <p:cNvPr id="8" name="KPI label 1"/>
          <p:cNvSpPr txBox="1"/>
          <p:nvPr/>
        </p:nvSpPr>
        <p:spPr>
          <a:xfrm>
            <a:off x="822959" y="4206240"/>
            <a:ext cx="212209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B6472"/>
                </a:solidFill>
                <a:latin typeface="Segoe UI"/>
              </a:rPr>
              <a:t>đơn hàng trực tuyến</a:t>
            </a:r>
          </a:p>
        </p:txBody>
      </p:sp>
      <p:sp>
        <p:nvSpPr>
          <p:cNvPr id="9" name="KPI card 2"/>
          <p:cNvSpPr/>
          <p:nvPr/>
        </p:nvSpPr>
        <p:spPr>
          <a:xfrm>
            <a:off x="3447973" y="2606039"/>
            <a:ext cx="248785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2"/>
          <p:cNvSpPr txBox="1"/>
          <p:nvPr/>
        </p:nvSpPr>
        <p:spPr>
          <a:xfrm>
            <a:off x="3630853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4,8/5</a:t>
            </a:r>
          </a:p>
        </p:txBody>
      </p:sp>
      <p:sp>
        <p:nvSpPr>
          <p:cNvPr id="11" name="KPI label 2"/>
          <p:cNvSpPr txBox="1"/>
          <p:nvPr/>
        </p:nvSpPr>
        <p:spPr>
          <a:xfrm>
            <a:off x="3630853" y="4206240"/>
            <a:ext cx="212209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B6472"/>
                </a:solidFill>
                <a:latin typeface="Segoe UI"/>
              </a:rPr>
              <a:t>điểm hài lòng</a:t>
            </a:r>
          </a:p>
        </p:txBody>
      </p:sp>
      <p:sp>
        <p:nvSpPr>
          <p:cNvPr id="12" name="KPI card 3"/>
          <p:cNvSpPr/>
          <p:nvPr/>
        </p:nvSpPr>
        <p:spPr>
          <a:xfrm>
            <a:off x="6255867" y="2606039"/>
            <a:ext cx="248785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value 3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1.250</a:t>
            </a:r>
          </a:p>
        </p:txBody>
      </p:sp>
      <p:sp>
        <p:nvSpPr>
          <p:cNvPr id="25" name="__counter_13_09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1.248</a:t>
            </a:r>
          </a:p>
        </p:txBody>
      </p:sp>
      <p:sp>
        <p:nvSpPr>
          <p:cNvPr id="26" name="__counter_13_08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1.236</a:t>
            </a:r>
          </a:p>
        </p:txBody>
      </p:sp>
      <p:sp>
        <p:nvSpPr>
          <p:cNvPr id="27" name="__counter_13_07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1.204</a:t>
            </a:r>
          </a:p>
        </p:txBody>
      </p:sp>
      <p:sp>
        <p:nvSpPr>
          <p:cNvPr id="28" name="__counter_13_06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1.140</a:t>
            </a:r>
          </a:p>
        </p:txBody>
      </p:sp>
      <p:sp>
        <p:nvSpPr>
          <p:cNvPr id="29" name="__counter_13_05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1.036</a:t>
            </a:r>
          </a:p>
        </p:txBody>
      </p:sp>
      <p:sp>
        <p:nvSpPr>
          <p:cNvPr id="30" name="__counter_13_04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0.880</a:t>
            </a:r>
          </a:p>
        </p:txBody>
      </p:sp>
      <p:sp>
        <p:nvSpPr>
          <p:cNvPr id="31" name="__counter_13_03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0.662</a:t>
            </a:r>
          </a:p>
        </p:txBody>
      </p:sp>
      <p:sp>
        <p:nvSpPr>
          <p:cNvPr id="32" name="__counter_13_02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0.372</a:t>
            </a:r>
          </a:p>
        </p:txBody>
      </p:sp>
      <p:sp>
        <p:nvSpPr>
          <p:cNvPr id="33" name="__counter_13_01"/>
          <p:cNvSpPr txBox="1"/>
          <p:nvPr/>
        </p:nvSpPr>
        <p:spPr>
          <a:xfrm>
            <a:off x="6438747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0.000</a:t>
            </a:r>
          </a:p>
        </p:txBody>
      </p:sp>
      <p:sp>
        <p:nvSpPr>
          <p:cNvPr id="14" name="KPI label 3"/>
          <p:cNvSpPr txBox="1"/>
          <p:nvPr/>
        </p:nvSpPr>
        <p:spPr>
          <a:xfrm>
            <a:off x="6438747" y="4206240"/>
            <a:ext cx="212209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B6472"/>
                </a:solidFill>
                <a:latin typeface="Segoe UI"/>
              </a:rPr>
              <a:t>khách hàng mới mỗi tuần</a:t>
            </a:r>
          </a:p>
        </p:txBody>
      </p:sp>
      <p:sp>
        <p:nvSpPr>
          <p:cNvPr id="15" name="KPI card 4"/>
          <p:cNvSpPr/>
          <p:nvPr/>
        </p:nvSpPr>
        <p:spPr>
          <a:xfrm>
            <a:off x="9063761" y="2606039"/>
            <a:ext cx="2487853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PI value 4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-18%</a:t>
            </a:r>
          </a:p>
        </p:txBody>
      </p:sp>
      <p:sp>
        <p:nvSpPr>
          <p:cNvPr id="34" name="__counter_16_07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-17%</a:t>
            </a:r>
          </a:p>
        </p:txBody>
      </p:sp>
      <p:sp>
        <p:nvSpPr>
          <p:cNvPr id="35" name="__counter_16_06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-16%</a:t>
            </a:r>
          </a:p>
        </p:txBody>
      </p:sp>
      <p:sp>
        <p:nvSpPr>
          <p:cNvPr id="36" name="__counter_16_05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-15%</a:t>
            </a:r>
          </a:p>
        </p:txBody>
      </p:sp>
      <p:sp>
        <p:nvSpPr>
          <p:cNvPr id="37" name="__counter_16_04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-13%</a:t>
            </a:r>
          </a:p>
        </p:txBody>
      </p:sp>
      <p:sp>
        <p:nvSpPr>
          <p:cNvPr id="38" name="__counter_16_03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-10%</a:t>
            </a:r>
          </a:p>
        </p:txBody>
      </p:sp>
      <p:sp>
        <p:nvSpPr>
          <p:cNvPr id="39" name="__counter_16_02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-5%</a:t>
            </a:r>
          </a:p>
        </p:txBody>
      </p:sp>
      <p:sp>
        <p:nvSpPr>
          <p:cNvPr id="40" name="__counter_16_01"/>
          <p:cNvSpPr txBox="1"/>
          <p:nvPr/>
        </p:nvSpPr>
        <p:spPr>
          <a:xfrm>
            <a:off x="9246641" y="2880359"/>
            <a:ext cx="212209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500" b="1">
                <a:solidFill>
                  <a:srgbClr val="B4532F"/>
                </a:solidFill>
                <a:latin typeface="Segoe UI Semibold"/>
              </a:rPr>
              <a:t>0%</a:t>
            </a:r>
          </a:p>
        </p:txBody>
      </p:sp>
      <p:sp>
        <p:nvSpPr>
          <p:cNvPr id="17" name="KPI label 4"/>
          <p:cNvSpPr txBox="1"/>
          <p:nvPr/>
        </p:nvSpPr>
        <p:spPr>
          <a:xfrm>
            <a:off x="9246641" y="4206240"/>
            <a:ext cx="212209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B6472"/>
                </a:solidFill>
                <a:latin typeface="Segoe UI"/>
              </a:rPr>
              <a:t>chi phí tồn kho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Segoe UI Semibold"/>
              </a:rPr>
              <a:t>Doanh thu theo kênh (tỷ đồng)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40080" y="1645920"/>
          <a:ext cx="6918771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akeaway bar"/>
          <p:cNvSpPr/>
          <p:nvPr/>
        </p:nvSpPr>
        <p:spPr>
          <a:xfrm>
            <a:off x="7833171" y="2103120"/>
            <a:ext cx="64008" cy="2377440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keaway"/>
          <p:cNvSpPr txBox="1"/>
          <p:nvPr/>
        </p:nvSpPr>
        <p:spPr>
          <a:xfrm>
            <a:off x="8061771" y="2011680"/>
            <a:ext cx="3489844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Segoe UI Semibold"/>
              </a:rPr>
              <a:t>Kênh trực tuyến tăng gấp 2,5 lần trong sáu tháng.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8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Sub>
          <a:bldChart bld="series" animBg="0"/>
        </p:bldSub>
      </p:bldGraphic>
      <p:bldGraphic spid="6" grpId="1">
        <p:bldSub>
          <a:bldChart bld="series" animBg="0"/>
        </p:bldSub>
      </p:bldGraphic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Segoe UI Semibold"/>
              </a:rPr>
              <a:t>Lộ trình triển khai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1"/>
          <p:cNvSpPr/>
          <p:nvPr/>
        </p:nvSpPr>
        <p:spPr>
          <a:xfrm>
            <a:off x="640080" y="242316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 Semibold"/>
              </a:rPr>
              <a:t>Khảo sát</a:t>
            </a:r>
          </a:p>
        </p:txBody>
      </p:sp>
      <p:sp>
        <p:nvSpPr>
          <p:cNvPr id="7" name="Step 2"/>
          <p:cNvSpPr/>
          <p:nvPr/>
        </p:nvSpPr>
        <p:spPr>
          <a:xfrm>
            <a:off x="3493693" y="242316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 Semibold"/>
              </a:rPr>
              <a:t>Thí điểm</a:t>
            </a:r>
          </a:p>
        </p:txBody>
      </p:sp>
      <p:cxnSp>
        <p:nvCxnSpPr>
          <p:cNvPr id="8" name="Link 1"/>
          <p:cNvCxnSpPr/>
          <p:nvPr/>
        </p:nvCxnSpPr>
        <p:spPr>
          <a:xfrm>
            <a:off x="3063925" y="3429000"/>
            <a:ext cx="356616" cy="0"/>
          </a:xfrm>
          <a:prstGeom prst="line">
            <a:avLst/>
          </a:prstGeom>
          <a:ln w="31750">
            <a:solidFill>
              <a:srgbClr val="B453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3"/>
          <p:cNvSpPr/>
          <p:nvPr/>
        </p:nvSpPr>
        <p:spPr>
          <a:xfrm>
            <a:off x="6347307" y="242316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2A44"/>
                </a:solidFill>
                <a:latin typeface="Segoe UI Semibold"/>
              </a:rPr>
              <a:t>Đào tạo</a:t>
            </a:r>
          </a:p>
        </p:txBody>
      </p:sp>
      <p:cxnSp>
        <p:nvCxnSpPr>
          <p:cNvPr id="10" name="Link 2"/>
          <p:cNvCxnSpPr/>
          <p:nvPr/>
        </p:nvCxnSpPr>
        <p:spPr>
          <a:xfrm>
            <a:off x="5917539" y="3429000"/>
            <a:ext cx="356616" cy="0"/>
          </a:xfrm>
          <a:prstGeom prst="line">
            <a:avLst/>
          </a:prstGeom>
          <a:ln w="31750">
            <a:solidFill>
              <a:srgbClr val="B453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p 4"/>
          <p:cNvSpPr/>
          <p:nvPr/>
        </p:nvSpPr>
        <p:spPr>
          <a:xfrm>
            <a:off x="9200921" y="242316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AF7F2"/>
                </a:solidFill>
                <a:latin typeface="Segoe UI Semibold"/>
              </a:rPr>
              <a:t>Mở rộng</a:t>
            </a:r>
          </a:p>
        </p:txBody>
      </p:sp>
      <p:cxnSp>
        <p:nvCxnSpPr>
          <p:cNvPr id="12" name="Link 3"/>
          <p:cNvCxnSpPr/>
          <p:nvPr/>
        </p:nvCxnSpPr>
        <p:spPr>
          <a:xfrm>
            <a:off x="8771153" y="3429000"/>
            <a:ext cx="356616" cy="0"/>
          </a:xfrm>
          <a:prstGeom prst="line">
            <a:avLst/>
          </a:prstGeom>
          <a:ln w="31750">
            <a:solidFill>
              <a:srgbClr val="B453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akeaway"/>
          <p:cNvSpPr txBox="1"/>
          <p:nvPr/>
        </p:nvSpPr>
        <p:spPr>
          <a:xfrm>
            <a:off x="640080" y="489204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Segoe UI"/>
              </a:rPr>
              <a:t>Mỗi giai đoạn kéo dài một quý.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Segoe UI Semibold"/>
              </a:rPr>
              <a:t>Trước và sau chuyển đổi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card"/>
          <p:cNvSpPr/>
          <p:nvPr/>
        </p:nvSpPr>
        <p:spPr>
          <a:xfrm>
            <a:off x="640080" y="1645920"/>
            <a:ext cx="5227167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heading"/>
          <p:cNvSpPr txBox="1"/>
          <p:nvPr/>
        </p:nvSpPr>
        <p:spPr>
          <a:xfrm>
            <a:off x="960119" y="1920240"/>
            <a:ext cx="4587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B4532F"/>
                </a:solidFill>
                <a:latin typeface="Segoe UI Semibold"/>
              </a:rPr>
              <a:t>Trước</a:t>
            </a:r>
          </a:p>
        </p:txBody>
      </p:sp>
      <p:sp>
        <p:nvSpPr>
          <p:cNvPr id="8" name="Left points"/>
          <p:cNvSpPr txBox="1"/>
          <p:nvPr/>
        </p:nvSpPr>
        <p:spPr>
          <a:xfrm>
            <a:off x="960119" y="2788920"/>
            <a:ext cx="4587087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1F2A44"/>
                </a:solidFill>
                <a:latin typeface="Segoe UI"/>
              </a:rPr>
              <a:t>• Nhập liệu thủ công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1F2A44"/>
                </a:solidFill>
                <a:latin typeface="Segoe UI"/>
              </a:rPr>
              <a:t>• Báo cáo cuối tháng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1F2A44"/>
                </a:solidFill>
                <a:latin typeface="Segoe UI"/>
              </a:rPr>
              <a:t>• Tồn kho ước lượng</a:t>
            </a:r>
          </a:p>
        </p:txBody>
      </p:sp>
      <p:sp>
        <p:nvSpPr>
          <p:cNvPr id="9" name="Right card"/>
          <p:cNvSpPr/>
          <p:nvPr/>
        </p:nvSpPr>
        <p:spPr>
          <a:xfrm>
            <a:off x="6324447" y="1645920"/>
            <a:ext cx="5227167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heading"/>
          <p:cNvSpPr txBox="1"/>
          <p:nvPr/>
        </p:nvSpPr>
        <p:spPr>
          <a:xfrm>
            <a:off x="6644487" y="1920240"/>
            <a:ext cx="4587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F766E"/>
                </a:solidFill>
                <a:latin typeface="Segoe UI Semibold"/>
              </a:rPr>
              <a:t>Sau</a:t>
            </a:r>
          </a:p>
        </p:txBody>
      </p:sp>
      <p:sp>
        <p:nvSpPr>
          <p:cNvPr id="11" name="Right points"/>
          <p:cNvSpPr txBox="1"/>
          <p:nvPr/>
        </p:nvSpPr>
        <p:spPr>
          <a:xfrm>
            <a:off x="6644487" y="2788920"/>
            <a:ext cx="4587087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1F2A44"/>
                </a:solidFill>
                <a:latin typeface="Segoe UI"/>
              </a:rPr>
              <a:t>• Đồng bộ tự động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1F2A44"/>
                </a:solidFill>
                <a:latin typeface="Segoe UI"/>
              </a:rPr>
              <a:t>• Báo cáo theo thời gian thực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1F2A44"/>
                </a:solidFill>
                <a:latin typeface="Segoe UI"/>
              </a:rPr>
              <a:t>• Dự báo tồn kho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Segoe UI Semibold"/>
              </a:rPr>
              <a:t>Rủi ro cần quản lý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ints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>
                <a:solidFill>
                  <a:srgbClr val="1F2A44"/>
                </a:solidFill>
                <a:latin typeface="Segoe UI"/>
              </a:rPr>
              <a:t>• Nhân viên cần thời gian làm quen hệ thống mới</a:t>
            </a:r>
          </a:p>
          <a:p>
            <a:pPr>
              <a:spcBef>
                <a:spcPts val="1800"/>
              </a:spcBef>
            </a:pPr>
            <a:r>
              <a:rPr sz="2800" b="0">
                <a:solidFill>
                  <a:srgbClr val="1F2A44"/>
                </a:solidFill>
                <a:latin typeface="Segoe UI"/>
              </a:rPr>
              <a:t>• Dữ liệu cũ thiếu nhất quán giữa các cửa hàng</a:t>
            </a:r>
          </a:p>
          <a:p>
            <a:pPr>
              <a:spcBef>
                <a:spcPts val="1800"/>
              </a:spcBef>
            </a:pPr>
            <a:r>
              <a:rPr sz="2800" b="0">
                <a:solidFill>
                  <a:srgbClr val="1F2A44"/>
                </a:solidFill>
                <a:latin typeface="Segoe UI"/>
              </a:rPr>
              <a:t>• Phụ thuộc vào kết nối mạng ổn định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  <p:bldP spid="6" grpId="1" build="p"/>
      <p:bldP spid="6" grpId="2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ote mark"/>
          <p:cNvSpPr txBox="1"/>
          <p:nvPr/>
        </p:nvSpPr>
        <p:spPr>
          <a:xfrm>
            <a:off x="1188720" y="365760"/>
            <a:ext cx="1645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0" b="1">
                <a:solidFill>
                  <a:srgbClr val="B4532F"/>
                </a:solidFill>
                <a:latin typeface="Segoe UI Semibold"/>
              </a:rPr>
              <a:t>“</a:t>
            </a:r>
          </a:p>
        </p:txBody>
      </p:sp>
      <p:sp>
        <p:nvSpPr>
          <p:cNvPr id="5" name="Quote"/>
          <p:cNvSpPr txBox="1"/>
          <p:nvPr/>
        </p:nvSpPr>
        <p:spPr>
          <a:xfrm>
            <a:off x="1463040" y="2057400"/>
            <a:ext cx="9265615" cy="2697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>
                <a:solidFill>
                  <a:srgbClr val="1F2A44"/>
                </a:solidFill>
                <a:latin typeface="Segoe UI Semibold"/>
              </a:rPr>
              <a:t>Từ khi có báo cáo theo thời gian thực, tôi không còn phải chờ đến cuối tháng.</a:t>
            </a:r>
          </a:p>
        </p:txBody>
      </p:sp>
      <p:sp>
        <p:nvSpPr>
          <p:cNvPr id="6" name="Author rule"/>
          <p:cNvSpPr/>
          <p:nvPr/>
        </p:nvSpPr>
        <p:spPr>
          <a:xfrm>
            <a:off x="1554480" y="4983480"/>
            <a:ext cx="822960" cy="45720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hor"/>
          <p:cNvSpPr txBox="1"/>
          <p:nvPr/>
        </p:nvSpPr>
        <p:spPr>
          <a:xfrm>
            <a:off x="2514600" y="4754880"/>
            <a:ext cx="81683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5B6472"/>
                </a:solidFill>
                <a:latin typeface="Segoe UI"/>
              </a:rPr>
              <a:t>Quản lý cửa hàng (ví dụ tổng hợp)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B4532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0F766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4800" b="1">
                <a:solidFill>
                  <a:srgbClr val="1F2A44"/>
                </a:solidFill>
                <a:latin typeface="Segoe UI Semibold"/>
              </a:rPr>
              <a:t>Cảm ơn và thảo luận</a:t>
            </a:r>
          </a:p>
        </p:txBody>
      </p:sp>
      <p:sp>
        <p:nvSpPr>
          <p:cNvPr id="5" name="Closing accent"/>
          <p:cNvSpPr/>
          <p:nvPr/>
        </p:nvSpPr>
        <p:spPr>
          <a:xfrm>
            <a:off x="5181447" y="3794760"/>
            <a:ext cx="1828800" cy="73152"/>
          </a:xfrm>
          <a:prstGeom prst="rect">
            <a:avLst/>
          </a:prstGeom>
          <a:solidFill>
            <a:srgbClr val="B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1554480" y="406908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B6472"/>
                </a:solidFill>
                <a:latin typeface="Segoe UI"/>
              </a:rPr>
              <a:t>Đề xuất phê duyệt giai đoạn thí điểm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