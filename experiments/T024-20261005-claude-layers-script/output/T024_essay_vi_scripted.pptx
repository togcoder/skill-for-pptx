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914400"/>
            <a:ext cx="9966960" cy="457200"/>
          </a:xfrm>
          <a:prstGeom prst="rect">
            <a:avLst/>
          </a:prstGeom>
          <a:noFill/>
        </p:spPr>
        <p:txBody>
          <a:bodyPr wrap="square">
            <a:spAutoFit/>
          </a:bodyPr>
          <a:lstStyle/>
          <a:p>
            <a:r>
              <a:rPr sz="2700" b="1"/>
              <a:t>BÀI THUYẾT TRÌNH NGHỊ LUẬN</a:t>
            </a:r>
          </a:p>
        </p:txBody>
      </p:sp>
      <p:sp>
        <p:nvSpPr>
          <p:cNvPr id="3" name="TextBox 2"/>
          <p:cNvSpPr txBox="1"/>
          <p:nvPr/>
        </p:nvSpPr>
        <p:spPr>
          <a:xfrm>
            <a:off x="822960" y="1828800"/>
            <a:ext cx="10424160" cy="731520"/>
          </a:xfrm>
          <a:prstGeom prst="rect">
            <a:avLst/>
          </a:prstGeom>
          <a:noFill/>
        </p:spPr>
        <p:txBody>
          <a:bodyPr wrap="square">
            <a:spAutoFit/>
          </a:bodyPr>
          <a:lstStyle/>
          <a:p>
            <a:r>
              <a:rPr sz="2700" b="1"/>
              <a:t>CÂY XANH TRONG</a:t>
            </a:r>
          </a:p>
          <a:p>
            <a:r>
              <a:rPr sz="2700" b="1"/>
              <a:t>ĐÔ THỊ HIỆN ĐẠI</a:t>
            </a:r>
          </a:p>
        </p:txBody>
      </p:sp>
      <p:sp>
        <p:nvSpPr>
          <p:cNvPr id="4" name="TextBox 3"/>
          <p:cNvSpPr txBox="1"/>
          <p:nvPr/>
        </p:nvSpPr>
        <p:spPr>
          <a:xfrm>
            <a:off x="1097280" y="3108960"/>
            <a:ext cx="9966960" cy="731520"/>
          </a:xfrm>
          <a:prstGeom prst="rect">
            <a:avLst/>
          </a:prstGeom>
          <a:noFill/>
        </p:spPr>
        <p:txBody>
          <a:bodyPr wrap="square">
            <a:spAutoFit/>
          </a:bodyPr>
          <a:lstStyle/>
          <a:p>
            <a:r>
              <a:rPr sz="2200" b="0"/>
              <a:t>CHỦ ĐỀ: CON NGƯỜI VÀ</a:t>
            </a:r>
          </a:p>
          <a:p>
            <a:r>
              <a:rPr sz="2200" b="0"/>
              <a:t>MÔI TRƯỜNG SỐNG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I. MỞ BÀI</a:t>
            </a:r>
          </a:p>
        </p:txBody>
      </p:sp>
      <p:sp>
        <p:nvSpPr>
          <p:cNvPr id="3" name="TextBox 2"/>
          <p:cNvSpPr txBox="1"/>
          <p:nvPr/>
        </p:nvSpPr>
        <p:spPr>
          <a:xfrm>
            <a:off x="457200" y="731520"/>
            <a:ext cx="10972800" cy="274320"/>
          </a:xfrm>
          <a:prstGeom prst="rect">
            <a:avLst/>
          </a:prstGeom>
          <a:noFill/>
        </p:spPr>
        <p:txBody>
          <a:bodyPr wrap="square">
            <a:spAutoFit/>
          </a:bodyPr>
          <a:lstStyle/>
          <a:p>
            <a:r>
              <a:rPr sz="1600" b="1"/>
              <a:t>Cách 1: Đi từ trải nghiệm đời thường</a:t>
            </a:r>
          </a:p>
        </p:txBody>
      </p:sp>
      <p:sp>
        <p:nvSpPr>
          <p:cNvPr id="4" name="TextBox 3"/>
          <p:cNvSpPr txBox="1"/>
          <p:nvPr/>
        </p:nvSpPr>
        <p:spPr>
          <a:xfrm>
            <a:off x="731520" y="1097280"/>
            <a:ext cx="10789920" cy="2011680"/>
          </a:xfrm>
          <a:prstGeom prst="rect">
            <a:avLst/>
          </a:prstGeom>
          <a:noFill/>
        </p:spPr>
        <p:txBody>
          <a:bodyPr wrap="square">
            <a:spAutoFit/>
          </a:bodyPr>
          <a:lstStyle/>
          <a:p>
            <a:r>
              <a:rPr sz="1680" b="0"/>
              <a:t>Cây xanh đô thị không chỉ tạo bóng mát mà còn điều hòa vi khí hậu, giảm bụi mịn và giữ nước mưa. Mỗi hàng cây trưởng thành có thể hạ nhiệt độ mặt đường vài độ vào buổi trưa.</a:t>
            </a:r>
          </a:p>
        </p:txBody>
      </p:sp>
      <p:sp>
        <p:nvSpPr>
          <p:cNvPr id="5" name="TextBox 4"/>
          <p:cNvSpPr txBox="1"/>
          <p:nvPr/>
        </p:nvSpPr>
        <p:spPr>
          <a:xfrm>
            <a:off x="457200" y="3429000"/>
            <a:ext cx="10972800" cy="274320"/>
          </a:xfrm>
          <a:prstGeom prst="rect">
            <a:avLst/>
          </a:prstGeom>
          <a:noFill/>
        </p:spPr>
        <p:txBody>
          <a:bodyPr wrap="square">
            <a:spAutoFit/>
          </a:bodyPr>
          <a:lstStyle/>
          <a:p>
            <a:r>
              <a:rPr sz="1600" b="1"/>
              <a:t>Cách 2: Đi từ số liệu</a:t>
            </a:r>
          </a:p>
        </p:txBody>
      </p:sp>
      <p:sp>
        <p:nvSpPr>
          <p:cNvPr id="6" name="TextBox 5"/>
          <p:cNvSpPr txBox="1"/>
          <p:nvPr/>
        </p:nvSpPr>
        <p:spPr>
          <a:xfrm>
            <a:off x="731520" y="3703320"/>
            <a:ext cx="10789920" cy="2194560"/>
          </a:xfrm>
          <a:prstGeom prst="rect">
            <a:avLst/>
          </a:prstGeom>
          <a:noFill/>
        </p:spPr>
        <p:txBody>
          <a:bodyPr wrap="square">
            <a:spAutoFit/>
          </a:bodyPr>
          <a:lstStyle/>
          <a:p>
            <a:r>
              <a:rPr sz="1680" b="0"/>
              <a:t>Tuy nhiên, nhiều tuyến phố mới mở rộng lại chặt bỏ cây cũ mà không trồng bù tương xứng. Hệ quả là các đảo nhiệt xuất hiện dày hơn và chi phí làm mát của cư dân tăng lên rõ rệt.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fill="hold"/>
                                        <p:tgtEl>
                                          <p:spTgt spid="4"/>
                                        </p:tgtEl>
                                        <p:attrNameLst>
                                          <p:attrName>ppt_x</p:attrName>
                                        </p:attrNameLst>
                                      </p:cBhvr>
                                      <p:tavLst>
                                        <p:tav tm="0">
                                          <p:val>
                                            <p:strVal val="#ppt_x"/>
                                          </p:val>
                                        </p:tav>
                                        <p:tav tm="100000">
                                          <p:val>
                                            <p:strVal val="#ppt_x"/>
                                          </p:val>
                                        </p:tav>
                                      </p:tavLst>
                                    </p:anim>
                                    <p:anim calcmode="lin" valueType="num">
                                      <p:cBhvr>
                                        <p:cTn id="15" dur="6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00"/>
                                        <p:tgtEl>
                                          <p:spTgt spid="5"/>
                                        </p:tgtEl>
                                      </p:cBhvr>
                                    </p:animEffect>
                                    <p:anim calcmode="lin" valueType="num">
                                      <p:cBhvr>
                                        <p:cTn id="21" dur="600" fill="hold"/>
                                        <p:tgtEl>
                                          <p:spTgt spid="5"/>
                                        </p:tgtEl>
                                        <p:attrNameLst>
                                          <p:attrName>ppt_x</p:attrName>
                                        </p:attrNameLst>
                                      </p:cBhvr>
                                      <p:tavLst>
                                        <p:tav tm="0">
                                          <p:val>
                                            <p:strVal val="#ppt_x"/>
                                          </p:val>
                                        </p:tav>
                                        <p:tav tm="100000">
                                          <p:val>
                                            <p:strVal val="#ppt_x"/>
                                          </p:val>
                                        </p:tav>
                                      </p:tavLst>
                                    </p:anim>
                                    <p:anim calcmode="lin" valueType="num">
                                      <p:cBhvr>
                                        <p:cTn id="22" dur="600" fill="hold"/>
                                        <p:tgtEl>
                                          <p:spTgt spid="5"/>
                                        </p:tgtEl>
                                        <p:attrNameLst>
                                          <p:attrName>ppt_y</p:attrName>
                                        </p:attrNameLst>
                                      </p:cBhvr>
                                      <p:tavLst>
                                        <p:tav tm="0">
                                          <p:val>
                                            <p:strVal val="#ppt_y+.1"/>
                                          </p:val>
                                        </p:tav>
                                        <p:tav tm="100000">
                                          <p:val>
                                            <p:strVal val="#ppt_y"/>
                                          </p:val>
                                        </p:tav>
                                      </p:tavLst>
                                    </p:anim>
                                  </p:childTnLst>
                                </p:cTn>
                              </p:par>
                            </p:childTnLst>
                          </p:cTn>
                        </p:par>
                        <p:par>
                          <p:cTn id="23" fill="hold">
                            <p:stCondLst>
                              <p:cond delay="600"/>
                            </p:stCondLst>
                            <p:childTnLst>
                              <p:par>
                                <p:cTn id="24" presetID="42"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fill="hold"/>
                                        <p:tgtEl>
                                          <p:spTgt spid="6"/>
                                        </p:tgtEl>
                                        <p:attrNameLst>
                                          <p:attrName>ppt_x</p:attrName>
                                        </p:attrNameLst>
                                      </p:cBhvr>
                                      <p:tavLst>
                                        <p:tav tm="0">
                                          <p:val>
                                            <p:strVal val="#ppt_x"/>
                                          </p:val>
                                        </p:tav>
                                        <p:tav tm="100000">
                                          <p:val>
                                            <p:strVal val="#ppt_x"/>
                                          </p:val>
                                        </p:tav>
                                      </p:tavLst>
                                    </p:anim>
                                    <p:anim calcmode="lin" valueType="num">
                                      <p:cBhvr>
                                        <p:cTn id="28" dur="6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II. THÂN BÀI</a:t>
            </a:r>
          </a:p>
        </p:txBody>
      </p:sp>
      <p:sp>
        <p:nvSpPr>
          <p:cNvPr id="3" name="TextBox 2"/>
          <p:cNvSpPr txBox="1"/>
          <p:nvPr/>
        </p:nvSpPr>
        <p:spPr>
          <a:xfrm>
            <a:off x="274320" y="457200"/>
            <a:ext cx="11704320" cy="274320"/>
          </a:xfrm>
          <a:prstGeom prst="rect">
            <a:avLst/>
          </a:prstGeom>
          <a:noFill/>
        </p:spPr>
        <p:txBody>
          <a:bodyPr wrap="square">
            <a:spAutoFit/>
          </a:bodyPr>
          <a:lstStyle/>
          <a:p>
            <a:r>
              <a:rPr sz="1300" b="1"/>
              <a:t>1. Vai trò của cây xanh</a:t>
            </a:r>
          </a:p>
        </p:txBody>
      </p:sp>
      <p:sp>
        <p:nvSpPr>
          <p:cNvPr id="4" name="TextBox 3"/>
          <p:cNvSpPr txBox="1"/>
          <p:nvPr/>
        </p:nvSpPr>
        <p:spPr>
          <a:xfrm>
            <a:off x="640080" y="868680"/>
            <a:ext cx="11064240" cy="4937760"/>
          </a:xfrm>
          <a:prstGeom prst="rect">
            <a:avLst/>
          </a:prstGeom>
          <a:noFill/>
        </p:spPr>
        <p:txBody>
          <a:bodyPr wrap="square">
            <a:spAutoFit/>
          </a:bodyPr>
          <a:lstStyle/>
          <a:p>
            <a:r>
              <a:rPr sz="1700" b="0"/>
              <a:t>Cây xanh đô thị không chỉ tạo bóng mát mà còn điều hòa vi khí hậu, giảm bụi mịn và giữ nước mưa. Mỗi hàng cây trưởng thành có thể hạ nhiệt độ mặt đường vài độ vào buổi trưa.</a:t>
            </a:r>
          </a:p>
          <a:p/>
          <a:p>
            <a:r>
              <a:rPr sz="1700" b="0"/>
              <a:t>Tuy nhiên, nhiều tuyến phố mới mở rộng lại chặt bỏ cây cũ mà không trồng bù tương xứng. Hệ quả là các đảo nhiệt xuất hiện dày hơn và chi phí làm mát của cư dân tăng lên rõ rệt.</a:t>
            </a:r>
          </a:p>
        </p:txBody>
      </p:sp>
      <p:sp>
        <p:nvSpPr>
          <p:cNvPr id="5" name="__gen_callout_callout3" descr="Generated by motion director (callout): states what the script says at this click"/>
          <p:cNvSpPr/>
          <p:nvPr/>
        </p:nvSpPr>
        <p:spPr>
          <a:xfrm>
            <a:off x="731501" y="5523865"/>
            <a:ext cx="4107475" cy="748030"/>
          </a:xfrm>
          <a:prstGeom prst="roundRect">
            <a:avLst/>
          </a:prstGeom>
          <a:solidFill>
            <a:srgbClr val="FFFFFF">
              <a:alpha val="92000"/>
            </a:srgbClr>
          </a:solidFill>
          <a:ln w="19050">
            <a:solidFill>
              <a:srgbClr val="0F9D8A"/>
            </a:solidFill>
          </a:ln>
        </p:spPr>
        <p:txBody>
          <a:bodyPr wrap="square" lIns="45720" rIns="45720" tIns="22860" bIns="22860" anchor="ctr"/>
          <a:lstStyle/>
          <a:p>
            <a:pPr algn="ctr"/>
            <a:r>
              <a:rPr lang="vi-VN" sz="1600" b="1" dirty="0">
                <a:solidFill>
                  <a:srgbClr val="1F2A44"/>
                </a:solidFill>
              </a:rPr>
              <a:t>Theo khảo sát, nhiệt độ mặt đường có thể giảm tới 5 độ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42" presetClass="entr" presetSubtype="0" fill="hold" grpId="0" nodeType="after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anim calcmode="lin" valueType="num">
                                      <p:cBhvr>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1"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anim calcmode="lin" valueType="num">
                                      <p:cBhvr>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600"/>
                                        <p:tgtEl>
                                          <p:spTgt spid="5"/>
                                        </p:tgtEl>
                                      </p:cBhvr>
                                    </p:animEffect>
                                    <p:anim calcmode="lin" valueType="num">
                                      <p:cBhvr>
                                        <p:cTn id="28" dur="600" fill="hold"/>
                                        <p:tgtEl>
                                          <p:spTgt spid="5"/>
                                        </p:tgtEl>
                                        <p:attrNameLst>
                                          <p:attrName>ppt_x</p:attrName>
                                        </p:attrNameLst>
                                      </p:cBhvr>
                                      <p:tavLst>
                                        <p:tav tm="0">
                                          <p:val>
                                            <p:strVal val="#ppt_x"/>
                                          </p:val>
                                        </p:tav>
                                        <p:tav tm="100000">
                                          <p:val>
                                            <p:strVal val="#ppt_x"/>
                                          </p:val>
                                        </p:tav>
                                      </p:tavLst>
                                    </p:anim>
                                    <p:anim calcmode="lin" valueType="num">
                                      <p:cBhvr>
                                        <p:cTn id="29"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4" grpId="1" build="p"/>
      <p:bldP spid="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2. Ý kiến trái chiều và phản bác</a:t>
            </a:r>
          </a:p>
        </p:txBody>
      </p:sp>
      <p:sp>
        <p:nvSpPr>
          <p:cNvPr id="3" name="TextBox 2"/>
          <p:cNvSpPr txBox="1"/>
          <p:nvPr/>
        </p:nvSpPr>
        <p:spPr>
          <a:xfrm>
            <a:off x="640080" y="868680"/>
            <a:ext cx="11064240" cy="5120640"/>
          </a:xfrm>
          <a:prstGeom prst="rect">
            <a:avLst/>
          </a:prstGeom>
          <a:noFill/>
        </p:spPr>
        <p:txBody>
          <a:bodyPr wrap="square">
            <a:spAutoFit/>
          </a:bodyPr>
          <a:lstStyle/>
          <a:p>
            <a:r>
              <a:rPr sz="1700" b="0"/>
              <a:t>Tuy nhiên, nhiều tuyến phố mới mở rộng lại chặt bỏ cây cũ mà không trồng bù tương xứng. Hệ quả là các đảo nhiệt xuất hiện dày hơn và chi phí làm mát của cư dân tăng lên rõ rệt.</a:t>
            </a:r>
          </a:p>
          <a:p/>
          <a:p>
            <a:r>
              <a:rPr sz="1700" b="0"/>
              <a:t>Cây xanh đô thị không chỉ tạo bóng mát mà còn điều hòa vi khí hậu, giảm bụi mịn và giữ nước mưa. Mỗi hàng cây trưởng thành có thể hạ nhiệt độ mặt đường vài độ vào buổi trưa.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37160"/>
            <a:ext cx="11795760" cy="365760"/>
          </a:xfrm>
          <a:prstGeom prst="rect">
            <a:avLst/>
          </a:prstGeom>
          <a:noFill/>
        </p:spPr>
        <p:txBody>
          <a:bodyPr wrap="square">
            <a:spAutoFit/>
          </a:bodyPr>
          <a:lstStyle/>
          <a:p>
            <a:r>
              <a:rPr sz="2000" b="1"/>
              <a:t>III. KẾT BÀI</a:t>
            </a:r>
          </a:p>
        </p:txBody>
      </p:sp>
      <p:sp>
        <p:nvSpPr>
          <p:cNvPr id="3" name="TextBox 2"/>
          <p:cNvSpPr txBox="1"/>
          <p:nvPr/>
        </p:nvSpPr>
        <p:spPr>
          <a:xfrm>
            <a:off x="274320" y="457200"/>
            <a:ext cx="11704320" cy="274320"/>
          </a:xfrm>
          <a:prstGeom prst="rect">
            <a:avLst/>
          </a:prstGeom>
          <a:noFill/>
        </p:spPr>
        <p:txBody>
          <a:bodyPr wrap="square">
            <a:spAutoFit/>
          </a:bodyPr>
          <a:lstStyle/>
          <a:p>
            <a:r>
              <a:rPr sz="1300" b="1"/>
              <a:t>CÁC CÁCH KẾT BÀI</a:t>
            </a:r>
          </a:p>
        </p:txBody>
      </p:sp>
      <p:sp>
        <p:nvSpPr>
          <p:cNvPr id="4" name="TextBox 3"/>
          <p:cNvSpPr txBox="1"/>
          <p:nvPr/>
        </p:nvSpPr>
        <p:spPr>
          <a:xfrm>
            <a:off x="457200" y="960120"/>
            <a:ext cx="10972800" cy="274320"/>
          </a:xfrm>
          <a:prstGeom prst="rect">
            <a:avLst/>
          </a:prstGeom>
          <a:noFill/>
        </p:spPr>
        <p:txBody>
          <a:bodyPr wrap="square">
            <a:spAutoFit/>
          </a:bodyPr>
          <a:lstStyle/>
          <a:p>
            <a:r>
              <a:rPr sz="1600" b="1"/>
              <a:t>Cách 1: Khẳng định</a:t>
            </a:r>
          </a:p>
        </p:txBody>
      </p:sp>
      <p:sp>
        <p:nvSpPr>
          <p:cNvPr id="5" name="TextBox 4"/>
          <p:cNvSpPr txBox="1"/>
          <p:nvPr/>
        </p:nvSpPr>
        <p:spPr>
          <a:xfrm>
            <a:off x="731520" y="1234440"/>
            <a:ext cx="10789920" cy="2011680"/>
          </a:xfrm>
          <a:prstGeom prst="rect">
            <a:avLst/>
          </a:prstGeom>
          <a:noFill/>
        </p:spPr>
        <p:txBody>
          <a:bodyPr wrap="square">
            <a:spAutoFit/>
          </a:bodyPr>
          <a:lstStyle/>
          <a:p>
            <a:r>
              <a:rPr sz="1650" b="0"/>
              <a:t>Cây xanh đô thị không chỉ tạo bóng mát mà còn điều hòa vi khí hậu, giảm bụi mịn và giữ nước mưa. Mỗi hàng cây trưởng thành có thể hạ nhiệt độ mặt đường vài độ vào buổi trưa.</a:t>
            </a:r>
          </a:p>
        </p:txBody>
      </p:sp>
      <p:sp>
        <p:nvSpPr>
          <p:cNvPr id="6" name="TextBox 5"/>
          <p:cNvSpPr txBox="1"/>
          <p:nvPr/>
        </p:nvSpPr>
        <p:spPr>
          <a:xfrm>
            <a:off x="457200" y="3474720"/>
            <a:ext cx="10972800" cy="274320"/>
          </a:xfrm>
          <a:prstGeom prst="rect">
            <a:avLst/>
          </a:prstGeom>
          <a:noFill/>
        </p:spPr>
        <p:txBody>
          <a:bodyPr wrap="square">
            <a:spAutoFit/>
          </a:bodyPr>
          <a:lstStyle/>
          <a:p>
            <a:r>
              <a:rPr sz="1600" b="1"/>
              <a:t>Cách 2: Gợi mở</a:t>
            </a:r>
          </a:p>
        </p:txBody>
      </p:sp>
      <p:sp>
        <p:nvSpPr>
          <p:cNvPr id="7" name="TextBox 6"/>
          <p:cNvSpPr txBox="1"/>
          <p:nvPr/>
        </p:nvSpPr>
        <p:spPr>
          <a:xfrm>
            <a:off x="731520" y="3840480"/>
            <a:ext cx="10789920" cy="2011680"/>
          </a:xfrm>
          <a:prstGeom prst="rect">
            <a:avLst/>
          </a:prstGeom>
          <a:noFill/>
        </p:spPr>
        <p:txBody>
          <a:bodyPr wrap="square">
            <a:spAutoFit/>
          </a:bodyPr>
          <a:lstStyle/>
          <a:p>
            <a:r>
              <a:rPr sz="1650" b="0"/>
              <a:t>Tuy nhiên, nhiều tuyến phố mới mở rộng lại chặt bỏ cây cũ mà không trồng bù tương xứng. Hệ quả là các đảo nhiệt xuất hiện dày hơn và chi phí làm mát của cư dân tăng lên rõ rệt.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