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ns0:Relationships xmlns:ns0="http://schemas.openxmlformats.org/package/2006/relationships"><ns0:Relationship Id="rId1" Type="http://schemas.openxmlformats.org/officeDocument/2006/relationships/notesMaster" Target="../notesMasters/notesMaster1.xml"/><ns0:Relationship Id="rId2" Type="http://schemas.openxmlformats.org/officeDocument/2006/relationships/slide" Target="../slides/slide6.xml"/></ns0: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cycle, then walk Plan, Do, Check and Act.</a:t>
            </a:r>
          </a:p>
          <a:p/>
          <a:p>
            <a:r>
              <a:rPr lang="vi-VN" dirty="0"/>
              <a:t>[Motion script]</a:t>
            </a:r>
          </a:p>
          <a:p>
            <a:r>
              <a:rPr lang="vi-VN" dirty="0"/>
              <a:t>This is how we improve every quarter.</a:t>
            </a:r>
          </a:p>
          <a:p>
            <a:r>
              <a:rPr lang="vi-VN" dirty="0"/>
              <a:t>[Click 1] Our improvement cycle has four stages around customer value: plan, do, check and act.</a:t>
            </a:r>
          </a:p>
          <a:p>
            <a:r>
              <a:rPr lang="vi-VN" dirty="0"/>
              <a:t>[Click 2] Everything starts with Plan: we set two targets per team each quarter.</a:t>
            </a:r>
          </a:p>
          <a:p>
            <a:r>
              <a:rPr lang="vi-VN" dirty="0"/>
              <a:t>[Click 3] Do means we run small pilots instead of big launches.</a:t>
            </a:r>
          </a:p>
          <a:p>
            <a:r>
              <a:rPr lang="vi-VN" dirty="0"/>
              <a:t>[Click 4] Check compares the pilots with the targets — last year 85% of pilots hit them.</a:t>
            </a:r>
          </a:p>
          <a:p>
            <a:r>
              <a:rPr lang="vi-VN" dirty="0"/>
              <a:t>[Click 5] Act turns the winners into the new standard.</a:t>
            </a:r>
          </a:p>
          <a:p>
            <a:r>
              <a:rPr lang="vi-VN" dirty="0"/>
              <a:t>[Click 6] And then the cycle starts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one order through each step.</a:t>
            </a:r>
          </a:p>
          <a:p/>
          <a:p>
            <a:r>
              <a:rPr lang="vi-VN" dirty="0"/>
              <a:t>[Motion script]</a:t>
            </a:r>
          </a:p>
          <a:p>
            <a:r>
              <a:rPr lang="vi-VN" dirty="0"/>
              <a:t>To open: Order journey.</a:t>
            </a:r>
          </a:p>
          <a:p>
            <a:r>
              <a:rPr lang="vi-VN" dirty="0"/>
              <a:t>[Click 1] Every order enters through the Order step.</a:t>
            </a:r>
          </a:p>
          <a:p>
            <a:r>
              <a:rPr lang="vi-VN" dirty="0"/>
              <a:t>[Click 2] We roast within 24 hours.</a:t>
            </a:r>
          </a:p>
          <a:p>
            <a:r>
              <a:rPr lang="vi-VN" dirty="0"/>
              <a:t>[Click 3] Pack and deliver happen the same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[Motion script]</a:t>
            </a:r>
          </a:p>
          <a:p>
            <a:r>
              <a:rPr lang="vi-VN" dirty="0"/>
              <a:t>We sort markets into four quadrants.</a:t>
            </a:r>
          </a:p>
          <a:p>
            <a:r>
              <a:rPr lang="vi-VN" dirty="0"/>
              <a:t>[Click 1] Grow is where premium cafés are.</a:t>
            </a:r>
          </a:p>
          <a:p>
            <a:r>
              <a:rPr lang="vi-VN" dirty="0"/>
              <a:t>[Click 2] Defend covers grocery retail.</a:t>
            </a:r>
          </a:p>
          <a:p>
            <a:r>
              <a:rPr lang="vi-VN" dirty="0"/>
              <a:t>[Click 3] Explore is subscriptions, and Exit means wholesale bulk.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Notes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Operating Model 2027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Roasters (synthetic data)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__gen_orbit-ring_orbit" descr="Generated by motion director (orbit-ring): shows the loop the stages form"/>
          <p:cNvSpPr/>
          <p:nvPr/>
        </p:nvSpPr>
        <p:spPr>
          <a:xfrm>
            <a:off x="4178807" y="2057399"/>
            <a:ext cx="3840480" cy="3840480"/>
          </a:xfrm>
          <a:prstGeom prst="ellipse">
            <a:avLst/>
          </a:prstGeom>
          <a:noFill/>
          <a:ln w="22225">
            <a:solidFill>
              <a:srgbClr val="0F9D8A">
                <a:alpha val="55000"/>
              </a:srgbClr>
            </a:solidFill>
            <a:prstDash val="dash"/>
          </a:ln>
        </p:spPr>
      </p:sp>
      <p:sp>
        <p:nvSpPr>
          <p:cNvPr id="9" name="__gen_halo_halo" descr="Generated by motion director (halo): guides attention to the stage being discussed"/>
          <p:cNvSpPr/>
          <p:nvPr/>
        </p:nvSpPr>
        <p:spPr>
          <a:xfrm>
            <a:off x="4928616" y="886966"/>
            <a:ext cx="2340864" cy="2340864"/>
          </a:xfrm>
          <a:prstGeom prst="ellipse">
            <a:avLst/>
          </a:prstGeom>
          <a:gradFill rotWithShape="1">
            <a:gsLst>
              <a:gs pos="0">
                <a:srgbClr val="0F9D8A">
                  <a:alpha val="45000"/>
                </a:srgbClr>
              </a:gs>
              <a:gs pos="100000">
                <a:srgbClr val="0F9D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improvement cycle</a:t>
            </a:r>
          </a:p>
        </p:txBody>
      </p:sp>
      <p:sp>
        <p:nvSpPr>
          <p:cNvPr id="3" name="Hub"/>
          <p:cNvSpPr/>
          <p:nvPr/>
        </p:nvSpPr>
        <p:spPr>
          <a:xfrm>
            <a:off x="5184648" y="3063239"/>
            <a:ext cx="1828800" cy="182880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FFFFFF"/>
                </a:solidFill>
              </a:rPr>
              <a:t>Customer value</a:t>
            </a:r>
          </a:p>
        </p:txBody>
      </p:sp>
      <p:sp>
        <p:nvSpPr>
          <p:cNvPr id="4" name="Stage Plan"/>
          <p:cNvSpPr/>
          <p:nvPr/>
        </p:nvSpPr>
        <p:spPr>
          <a:xfrm>
            <a:off x="5367528" y="1325879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5" name="Stage Do"/>
          <p:cNvSpPr/>
          <p:nvPr/>
        </p:nvSpPr>
        <p:spPr>
          <a:xfrm>
            <a:off x="7287768" y="3246120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Do</a:t>
            </a:r>
          </a:p>
        </p:txBody>
      </p:sp>
      <p:sp>
        <p:nvSpPr>
          <p:cNvPr id="6" name="Stage Check"/>
          <p:cNvSpPr/>
          <p:nvPr/>
        </p:nvSpPr>
        <p:spPr>
          <a:xfrm>
            <a:off x="5367528" y="5166359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7" name="Stage Act"/>
          <p:cNvSpPr/>
          <p:nvPr/>
        </p:nvSpPr>
        <p:spPr>
          <a:xfrm>
            <a:off x="3447288" y="3246120"/>
            <a:ext cx="1463040" cy="14630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FFFF"/>
                </a:solidFill>
              </a:rPr>
              <a:t>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28 L 0 -0.0224 E" pathEditMode="relative" rAng="0" ptsTypes="AA">
                                      <p:cBhvr>
                                        <p:cTn id="17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157504 -0 L 0.0126 0 E" pathEditMode="relative" rAng="0" ptsTypes="AA">
                                      <p:cBhvr>
                                        <p:cTn id="22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 -0.28 L 0 0.0224 E" pathEditMode="relative" rAng="0" ptsTypes="AA">
                                      <p:cBhvr>
                                        <p:cTn id="27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157504 -0 L -0.0126 0 E" pathEditMode="relative" rAng="0" ptsTypes="AA">
                                      <p:cBhvr>
                                        <p:cTn id="32" dur="5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30000" decel="70000" fill="hold" grpId="2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 -0.0224 L 0 0 E" pathEditMode="relative" rAng="0" ptsTypes="AA">
                                      <p:cBhvr>
                                        <p:cTn id="34" dur="14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30000" decel="7000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126 0 L 0 0 E" pathEditMode="relative" rAng="0" ptsTypes="AA">
                                      <p:cBhvr>
                                        <p:cTn id="36" dur="14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30000" decel="70000" fill="hold" grpId="2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 0.0224 L 0 0 E" pathEditMode="relative" rAng="0" ptsTypes="AA">
                                      <p:cBhvr>
                                        <p:cTn id="38" dur="14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30000" decel="70000" fill="hold" grpId="2" nodeType="withEffect">
                                  <p:stCondLst>
                                    <p:cond delay="980"/>
                                  </p:stCondLst>
                                  <p:childTnLst>
                                    <p:animMotion origin="layout" path="M -0.0126 0 L 0 0 E" pathEditMode="relative" rAng="0" ptsTypes="AA">
                                      <p:cBhvr>
                                        <p:cTn id="40" dur="14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2" dur="4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mp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49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52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55" dur="indefinite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mp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" dur="1" fill="hold"/>
                                        <p:tgtEl>
                                          <p:spTgt spid="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65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70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2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80501 0.077583 0.133003 0.170916 0.157504 0.28 E" pathEditMode="relative" rAng="0">
                                      <p:cBhvr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9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1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82" presetID="9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84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6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87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7504 0.28 C 0.133003 0.389084 0.080501 0.482417 0 0.56 E" pathEditMode="relative" rAng="0">
                                      <p:cBhvr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93" dur="indefinite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5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96" presetID="9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98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0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56 C -0.080501 0.482417 -0.133003 0.389084 -0.157504 0.28 E" pathEditMode="relative" rAng="0">
                                      <p:cBhvr>
                                        <p:cTn id="10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mph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07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10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13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6" presetClass="emp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5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4" grpId="2" animBg="1"/>
      <p:bldP spid="4" grpId="3" animBg="1"/>
      <p:bldP spid="4" grpId="4" animBg="1"/>
      <p:bldP spid="4" grpId="5" animBg="1"/>
      <p:bldP spid="4" grpId="6" animBg="1"/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5" grpId="6" animBg="1"/>
      <p:bldP spid="5" grpId="7" animBg="1"/>
      <p:bldP spid="5" grpId="8" animBg="1"/>
      <p:bldP spid="6" grpId="0" animBg="1"/>
      <p:bldP spid="6" grpId="1" animBg="1"/>
      <p:bldP spid="6" grpId="2" animBg="1"/>
      <p:bldP spid="6" grpId="3" animBg="1"/>
      <p:bldP spid="6" grpId="4" animBg="1"/>
      <p:bldP spid="6" grpId="5" animBg="1"/>
      <p:bldP spid="6" grpId="6" animBg="1"/>
      <p:bldP spid="6" grpId="7" animBg="1"/>
      <p:bldP spid="6" grpId="8" animBg="1"/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 ecosystem</a:t>
            </a:r>
          </a:p>
        </p:txBody>
      </p:sp>
      <p:sp>
        <p:nvSpPr>
          <p:cNvPr id="3" name="Platform"/>
          <p:cNvSpPr/>
          <p:nvPr/>
        </p:nvSpPr>
        <p:spPr>
          <a:xfrm>
            <a:off x="4818888" y="3428999"/>
            <a:ext cx="2560320" cy="109728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Northwind platform</a:t>
            </a:r>
          </a:p>
        </p:txBody>
      </p:sp>
      <p:sp>
        <p:nvSpPr>
          <p:cNvPr id="4" name="Partner Growers"/>
          <p:cNvSpPr/>
          <p:nvPr/>
        </p:nvSpPr>
        <p:spPr>
          <a:xfrm>
            <a:off x="5458968" y="146303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Growers</a:t>
            </a:r>
          </a:p>
        </p:txBody>
      </p:sp>
      <p:sp>
        <p:nvSpPr>
          <p:cNvPr id="5" name="Partner Importers"/>
          <p:cNvSpPr/>
          <p:nvPr/>
        </p:nvSpPr>
        <p:spPr>
          <a:xfrm>
            <a:off x="7517891" y="246887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Importers</a:t>
            </a:r>
          </a:p>
        </p:txBody>
      </p:sp>
      <p:sp>
        <p:nvSpPr>
          <p:cNvPr id="6" name="Partner Cafés"/>
          <p:cNvSpPr/>
          <p:nvPr/>
        </p:nvSpPr>
        <p:spPr>
          <a:xfrm>
            <a:off x="7517891" y="448055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Cafés</a:t>
            </a:r>
          </a:p>
        </p:txBody>
      </p:sp>
      <p:sp>
        <p:nvSpPr>
          <p:cNvPr id="7" name="Partner Grocers"/>
          <p:cNvSpPr/>
          <p:nvPr/>
        </p:nvSpPr>
        <p:spPr>
          <a:xfrm>
            <a:off x="5458968" y="548640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Grocers</a:t>
            </a:r>
          </a:p>
        </p:txBody>
      </p:sp>
      <p:sp>
        <p:nvSpPr>
          <p:cNvPr id="8" name="Partner Couriers"/>
          <p:cNvSpPr/>
          <p:nvPr/>
        </p:nvSpPr>
        <p:spPr>
          <a:xfrm>
            <a:off x="3400044" y="4480560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Couriers</a:t>
            </a:r>
          </a:p>
        </p:txBody>
      </p:sp>
      <p:sp>
        <p:nvSpPr>
          <p:cNvPr id="9" name="Partner Recyclers"/>
          <p:cNvSpPr/>
          <p:nvPr/>
        </p:nvSpPr>
        <p:spPr>
          <a:xfrm>
            <a:off x="3400044" y="2468879"/>
            <a:ext cx="1280160" cy="1005840"/>
          </a:xfrm>
          <a:prstGeom prst="ellipse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400" b="1">
                <a:solidFill>
                  <a:srgbClr val="FFFFFF"/>
                </a:solidFill>
              </a:rPr>
              <a:t>Recyclers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 re-ranked for 2027</a:t>
            </a:r>
          </a:p>
        </p:txBody>
      </p:sp>
      <p:sp>
        <p:nvSpPr>
          <p:cNvPr id="3" name="Priority Cost"/>
          <p:cNvSpPr/>
          <p:nvPr/>
        </p:nvSpPr>
        <p:spPr>
          <a:xfrm>
            <a:off x="2926080" y="1828800"/>
            <a:ext cx="6309360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4" name="Priority Speed"/>
          <p:cNvSpPr/>
          <p:nvPr/>
        </p:nvSpPr>
        <p:spPr>
          <a:xfrm>
            <a:off x="2926080" y="3200400"/>
            <a:ext cx="6309360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Speed</a:t>
            </a:r>
          </a:p>
        </p:txBody>
      </p:sp>
      <p:sp>
        <p:nvSpPr>
          <p:cNvPr id="5" name="Priority Sustainability"/>
          <p:cNvSpPr/>
          <p:nvPr/>
        </p:nvSpPr>
        <p:spPr>
          <a:xfrm>
            <a:off x="2926080" y="4572000"/>
            <a:ext cx="6309360" cy="1005840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200" b="1">
                <a:solidFill>
                  <a:srgbClr val="FFFFFF"/>
                </a:solidFill>
              </a:rPr>
              <a:t>Sustainability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journey</a:t>
            </a:r>
          </a:p>
        </p:txBody>
      </p:sp>
      <p:sp>
        <p:nvSpPr>
          <p:cNvPr id="3" name="Step Order"/>
          <p:cNvSpPr/>
          <p:nvPr/>
        </p:nvSpPr>
        <p:spPr>
          <a:xfrm>
            <a:off x="9144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Order</a:t>
            </a:r>
          </a:p>
        </p:txBody>
      </p:sp>
      <p:sp>
        <p:nvSpPr>
          <p:cNvPr id="4" name="Step Roast"/>
          <p:cNvSpPr/>
          <p:nvPr/>
        </p:nvSpPr>
        <p:spPr>
          <a:xfrm>
            <a:off x="36576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Roast</a:t>
            </a:r>
          </a:p>
        </p:txBody>
      </p:sp>
      <p:sp>
        <p:nvSpPr>
          <p:cNvPr id="5" name="Step Pack"/>
          <p:cNvSpPr/>
          <p:nvPr/>
        </p:nvSpPr>
        <p:spPr>
          <a:xfrm>
            <a:off x="64008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Pack</a:t>
            </a:r>
          </a:p>
        </p:txBody>
      </p:sp>
      <p:sp>
        <p:nvSpPr>
          <p:cNvPr id="6" name="Step Deliver"/>
          <p:cNvSpPr/>
          <p:nvPr/>
        </p:nvSpPr>
        <p:spPr>
          <a:xfrm>
            <a:off x="9144000" y="3108960"/>
            <a:ext cx="2194560" cy="11887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FFFFFF"/>
                </a:solidFill>
              </a:rPr>
              <a:t>Deliver</a:t>
            </a:r>
          </a:p>
        </p:txBody>
      </p:sp>
      <p:sp>
        <p:nvSpPr>
          <p:cNvPr id="7" name="Order token"/>
          <p:cNvSpPr/>
          <p:nvPr/>
        </p:nvSpPr>
        <p:spPr>
          <a:xfrm>
            <a:off x="320040" y="3429000"/>
            <a:ext cx="548640" cy="548640"/>
          </a:xfrm>
          <a:prstGeom prst="ellipse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2103 -0.072935 0.053179 -0.121223 0.123228 -0.144867 E" pathEditMode="relative" rAng="0">
                                      <p:cBhvr>
                                        <p:cTn id="12" dur="5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30000" decel="70000" fill="hold" grpId="1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123228 -0.144867 L 0.116253 -0.136667 E" pathEditMode="relative" rAng="0" ptsTypes="AA">
                                      <p:cBhvr>
                                        <p:cTn id="14" dur="13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16" dur="200" fill="hold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"/>
                            </p:stCondLst>
                            <p:childTnLst>
                              <p:par>
                                <p:cTn id="25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6253 -0.136667 C 0.195755 -0.184368 0.275257 -0.184368 0.354759 -0.136667 E" pathEditMode="relative" rAng="0">
                                      <p:cBhvr>
                                        <p:cTn id="26" dur="5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30000" decel="70000" fill="hold" grpId="3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354759 -0.136667 L 0.341259 -0.136667 E" pathEditMode="relative" rAng="0" ptsTypes="AA">
                                      <p:cBhvr>
                                        <p:cTn id="28" dur="13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30" dur="200" fill="hold" autoRev="1"/>
                                        <p:tgtEl>
                                          <p:spTgt spid="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"/>
                            </p:stCondLst>
                            <p:childTnLst>
                              <p:par>
                                <p:cTn id="39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1259 -0.136667 C 0.420761 -0.184368 0.500263 -0.184368 0.579765 -0.136667 E" pathEditMode="relative" rAng="0">
                                      <p:cBhvr>
                                        <p:cTn id="40" dur="5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30000" decel="70000" fill="hold" grpId="5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579765 -0.136667 L 0.566264 -0.136667 E" pathEditMode="relative" rAng="0" ptsTypes="AA">
                                      <p:cBhvr>
                                        <p:cTn id="42" dur="13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44" dur="200" fill="hold" autoRev="1"/>
                                        <p:tgtEl>
                                          <p:spTgt spid="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45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850"/>
                            </p:stCondLst>
                            <p:childTnLst>
                              <p:par>
                                <p:cTn id="52" presetID="0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66264 -0.136667 C 0.645766 -0.184368 0.725268 -0.184368 0.80477 -0.136667 E" pathEditMode="relative" rAng="0">
                                      <p:cBhvr>
                                        <p:cTn id="53" dur="5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accel="30000" decel="70000" fill="hold" grpId="7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80477 -0.136667 L 0.79127 -0.136667 E" pathEditMode="relative" rAng="0" ptsTypes="AA">
                                      <p:cBhvr>
                                        <p:cTn id="55" dur="13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57" dur="200" fill="hold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  <p:bldP spid="7" grpId="7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__gen_halo_halo" descr="Generated by motion director (halo): guides attention to the stage being discussed"/>
          <p:cNvSpPr/>
          <p:nvPr/>
        </p:nvSpPr>
        <p:spPr>
          <a:xfrm>
            <a:off x="5093208" y="-210311"/>
            <a:ext cx="5998462" cy="5998462"/>
          </a:xfrm>
          <a:prstGeom prst="ellipse">
            <a:avLst/>
          </a:prstGeom>
          <a:gradFill rotWithShape="1">
            <a:gsLst>
              <a:gs pos="0">
                <a:srgbClr val="0F9D8A">
                  <a:alpha val="45000"/>
                </a:srgbClr>
              </a:gs>
              <a:gs pos="100000">
                <a:srgbClr val="0F9D8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quadrants</a:t>
            </a:r>
          </a:p>
        </p:txBody>
      </p:sp>
      <p:sp>
        <p:nvSpPr>
          <p:cNvPr id="3" name="Quadrant Grow"/>
          <p:cNvSpPr/>
          <p:nvPr/>
        </p:nvSpPr>
        <p:spPr>
          <a:xfrm>
            <a:off x="2194560" y="1737360"/>
            <a:ext cx="3749039" cy="2103120"/>
          </a:xfrm>
          <a:prstGeom prst="round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Grow</a:t>
            </a:r>
          </a:p>
          <a:p>
            <a:r>
              <a:rPr sz="1800" b="1">
                <a:solidFill>
                  <a:srgbClr val="FFFFFF"/>
                </a:solidFill>
              </a:rPr>
              <a:t>Premium cafés</a:t>
            </a:r>
          </a:p>
        </p:txBody>
      </p:sp>
      <p:sp>
        <p:nvSpPr>
          <p:cNvPr id="4" name="Quadrant Defend"/>
          <p:cNvSpPr/>
          <p:nvPr/>
        </p:nvSpPr>
        <p:spPr>
          <a:xfrm>
            <a:off x="6217920" y="1737360"/>
            <a:ext cx="3749039" cy="21031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Defend</a:t>
            </a:r>
          </a:p>
          <a:p>
            <a:r>
              <a:rPr sz="1800" b="1">
                <a:solidFill>
                  <a:srgbClr val="FFFFFF"/>
                </a:solidFill>
              </a:rPr>
              <a:t>Grocery retail</a:t>
            </a:r>
          </a:p>
        </p:txBody>
      </p:sp>
      <p:sp>
        <p:nvSpPr>
          <p:cNvPr id="5" name="Quadrant Explore"/>
          <p:cNvSpPr/>
          <p:nvPr/>
        </p:nvSpPr>
        <p:spPr>
          <a:xfrm>
            <a:off x="2194560" y="4114800"/>
            <a:ext cx="3749039" cy="2103120"/>
          </a:xfrm>
          <a:prstGeom prst="round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Explore</a:t>
            </a:r>
          </a:p>
          <a:p>
            <a:r>
              <a:rPr sz="1800" b="1">
                <a:solidFill>
                  <a:srgbClr val="FFFFFF"/>
                </a:solidFill>
              </a:rPr>
              <a:t>Subscriptions</a:t>
            </a:r>
          </a:p>
        </p:txBody>
      </p:sp>
      <p:sp>
        <p:nvSpPr>
          <p:cNvPr id="6" name="Quadrant Exit"/>
          <p:cNvSpPr/>
          <p:nvPr/>
        </p:nvSpPr>
        <p:spPr>
          <a:xfrm>
            <a:off x="6217920" y="4114800"/>
            <a:ext cx="3749039" cy="210312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FFFFFF"/>
                </a:solidFill>
              </a:rPr>
              <a:t>Exit</a:t>
            </a:r>
          </a:p>
          <a:p>
            <a:r>
              <a:rPr sz="1800" b="1">
                <a:solidFill>
                  <a:srgbClr val="FFFFFF"/>
                </a:solidFill>
              </a:rPr>
              <a:t>Wholesale bulk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5004 0.173333 L 0.0132 -0.013867 E" pathEditMode="relative" rAng="0" ptsTypes="AA">
                                      <p:cBhvr>
                                        <p:cTn id="9" dur="56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decel="6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.165004 -0.173333 L 0.0132 0.013867 E" pathEditMode="relative" rAng="0" ptsTypes="AA">
                                      <p:cBhvr>
                                        <p:cTn id="14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decel="6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.165004 -0.173333 L -0.0132 0.013867 E" pathEditMode="relative" rAng="0" ptsTypes="AA">
                                      <p:cBhvr>
                                        <p:cTn id="19" dur="56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decel="6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0.165004 0.173333 L -0.0132 -0.013867 E" pathEditMode="relative" rAng="0" ptsTypes="AA">
                                      <p:cBhvr>
                                        <p:cTn id="24" dur="56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30000" decel="70000" fill="hold" grpId="2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132 -0.013867 L 0 0 E" pathEditMode="relative" rAng="0" ptsTypes="AA">
                                      <p:cBhvr>
                                        <p:cTn id="26" dur="14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30000" decel="7000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132 0.013867 L 0 0 E" pathEditMode="relative" rAng="0" ptsTypes="AA">
                                      <p:cBhvr>
                                        <p:cTn id="28" dur="14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30000" decel="70000" fill="hold" grpId="2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-0.0132 0.013867 L 0 0 E" pathEditMode="relative" rAng="0" ptsTypes="AA">
                                      <p:cBhvr>
                                        <p:cTn id="30" dur="14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30000" decel="70000" fill="hold" grpId="2" nodeType="withEffect">
                                  <p:stCondLst>
                                    <p:cond delay="980"/>
                                  </p:stCondLst>
                                  <p:childTnLst>
                                    <p:animMotion origin="layout" path="M -0.0132 -0.013867 L 0 0 E" pathEditMode="relative" rAng="0" ptsTypes="AA">
                                      <p:cBhvr>
                                        <p:cTn id="32" dur="14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mp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39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42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45" dur="indefinite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mp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0" dur="1" fill="hold"/>
                                        <p:tgtEl>
                                          <p:spTgt spid="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5" dur="indefinite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60" dur="indefinite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" presetClass="emp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75336 0.148556 -0.185339 0.264112 -0.330008 0.346667 E" pathEditMode="relative" rAng="0">
                                      <p:cBhvr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4" grpId="0" animBg="1"/>
      <p:bldP spid="4" grpId="1" animBg="1"/>
      <p:bldP spid="4" grpId="2" animBg="1"/>
      <p:bldP spid="4" grpId="3" animBg="1"/>
      <p:bldP spid="4" grpId="4" animBg="1"/>
      <p:bldP spid="4" grpId="5" animBg="1"/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6" grpId="0" animBg="1"/>
      <p:bldP spid="6" grpId="1" animBg="1"/>
      <p:bldP spid="6" grpId="2" animBg="1"/>
      <p:bldP spid="6" grpId="3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roastery</a:t>
            </a:r>
          </a:p>
        </p:txBody>
      </p:sp>
      <p:pic>
        <p:nvPicPr>
          <p:cNvPr id="3" name="Roastery phot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4008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roastery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7315200" cy="4389120"/>
          </a:xfrm>
        </p:spPr>
        <p:txBody>
          <a:bodyPr/>
          <a:lstStyle/>
          <a:p>
            <a:r>
              <a:t>Capacity 1,200 t per year</a:t>
            </a:r>
          </a:p>
          <a:p>
            <a:r>
              <a:t>Solar roof covers 40% of energy</a:t>
            </a:r>
          </a:p>
          <a:p>
            <a:r>
              <a:t>Second site opens in 2027</a:t>
            </a:r>
          </a:p>
        </p:txBody>
      </p:sp>
      <p:pic>
        <p:nvPicPr>
          <p:cNvPr id="4" name="Roastery phot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45920"/>
            <a:ext cx="3108960" cy="2331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