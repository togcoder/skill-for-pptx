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Retail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Q4 25</c:v>
                </c:pt>
                <c:pt idx="1">
                  <c:v>Q1 26</c:v>
                </c:pt>
                <c:pt idx="2">
                  <c:v>Q2 26</c:v>
                </c:pt>
                <c:pt idx="3">
                  <c:v>Q3 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1.4</c:v>
                </c:pt>
                <c:pt idx="1">
                  <c:v>1.5</c:v>
                </c:pt>
                <c:pt idx="2">
                  <c:v>1.7</c:v>
                </c:pt>
                <c:pt idx="3">
                  <c:v>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Online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Q4 25</c:v>
                </c:pt>
                <c:pt idx="1">
                  <c:v>Q1 26</c:v>
                </c:pt>
                <c:pt idx="2">
                  <c:v>Q2 26</c:v>
                </c:pt>
                <c:pt idx="3">
                  <c:v>Q3 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1.0</c:v>
                </c:pt>
                <c:pt idx="1">
                  <c:v>1.2</c:v>
                </c:pt>
                <c:pt idx="2">
                  <c:v>1.4</c:v>
                </c:pt>
                <c:pt idx="3">
                  <c:v>2.2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ns0:Relationships xmlns:ns0="http://schemas.openxmlformats.org/package/2006/relationships"><ns0:Relationship Id="rId1" Type="http://schemas.openxmlformats.org/officeDocument/2006/relationships/notesMaster" Target="../notesMasters/notesMaster1.xml"/><ns0:Relationship Id="rId2" Type="http://schemas.openxmlformats.org/officeDocument/2006/relationships/slide" Target="../slides/slide2.xml"/></ns0:Relationships>
</file>

<file path=ppt/notesSlides/_rels/notesSlide6.xml.rels><?xml version='1.0' encoding='UTF-8' standalone='yes'?>
<ns0:Relationships xmlns:ns0="http://schemas.openxmlformats.org/package/2006/relationships"><ns0:Relationship Id="rId1" Type="http://schemas.openxmlformats.org/officeDocument/2006/relationships/notesMaster" Target="../notesMasters/notesMaster1.xml"/><ns0:Relationship Id="rId2" Type="http://schemas.openxmlformats.org/officeDocument/2006/relationships/slide" Target="../slides/slide4.xml"/></ns0:Relationships>
</file>

<file path=ppt/notesSlides/_rels/notesSlide7.xml.rels><?xml version='1.0' encoding='UTF-8' standalone='yes'?>
<ns0:Relationships xmlns:ns0="http://schemas.openxmlformats.org/package/2006/relationships"><ns0:Relationship Id="rId1" Type="http://schemas.openxmlformats.org/officeDocument/2006/relationships/notesMaster" Target="../notesMasters/notesMaster1.xml"/><ns0:Relationship Id="rId2" Type="http://schemas.openxmlformats.org/officeDocument/2006/relationships/slide" Target="../slides/slide7.xml"/></ns0: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Today: how Q3 went, what drove it, and what we do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revenue: 4.2 million. Then margin held at 38 percent. Finally 1,250 new subscribers.</a:t>
            </a:r>
          </a:p>
          <a:p/>
          <a:p>
            <a:r>
              <a:rPr lang="vi-VN" dirty="0"/>
              <a:t>[Motion script]</a:t>
            </a:r>
          </a:p>
          <a:p>
            <a:r>
              <a:rPr lang="vi-VN" dirty="0"/>
              <a:t>To open: Q3 at a glance.</a:t>
            </a:r>
          </a:p>
          <a:p>
            <a:r>
              <a:rPr lang="vi-VN" dirty="0"/>
              <a:t>[Click 1] Ambient background starts with the slide.</a:t>
            </a:r>
          </a:p>
          <a:p>
            <a:r>
              <a:rPr lang="vi-VN" dirty="0"/>
              <a:t>[Click 2] First, $4.2M; Revenue, up from $3.1M.</a:t>
            </a:r>
          </a:p>
          <a:p>
            <a:r>
              <a:rPr lang="vi-VN" dirty="0"/>
              <a:t>[Click 3] Next, 38%; Gross margin.</a:t>
            </a:r>
          </a:p>
          <a:p>
            <a:r>
              <a:rPr lang="vi-VN" dirty="0"/>
              <a:t>[Click 4] Finally, 1,250; New subscribers.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four steps in order, then land the result: lead time down to four days.</a:t>
            </a:r>
          </a:p>
          <a:p/>
          <a:p>
            <a:r>
              <a:rPr lang="vi-VN" dirty="0"/>
              <a:t>[Motion script]</a:t>
            </a:r>
          </a:p>
          <a:p>
            <a:r>
              <a:rPr lang="vi-VN" dirty="0"/>
              <a:t>To open: How we fixed fulfilment.</a:t>
            </a:r>
          </a:p>
          <a:p>
            <a:r>
              <a:rPr lang="vi-VN" dirty="0"/>
              <a:t>[Click 1] Ambient background starts with the slide.</a:t>
            </a:r>
          </a:p>
          <a:p>
            <a:r>
              <a:rPr lang="vi-VN" dirty="0"/>
              <a:t>[Click 2] First, Forecast.</a:t>
            </a:r>
          </a:p>
          <a:p>
            <a:r>
              <a:rPr lang="vi-VN" dirty="0"/>
              <a:t>[Click 3] Next, Roast.</a:t>
            </a:r>
          </a:p>
          <a:p>
            <a:r>
              <a:rPr lang="vi-VN" dirty="0"/>
              <a:t>[Click 4] Next, Pack.</a:t>
            </a:r>
          </a:p>
          <a:p>
            <a:r>
              <a:rPr lang="vi-VN" dirty="0"/>
              <a:t>[Click 5] Next, Ship.</a:t>
            </a:r>
          </a:p>
          <a:p>
            <a:r>
              <a:rPr lang="vi-VN" dirty="0"/>
              <a:t>[Click 6] Finally, Lead time fell from 9 days to 4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Existing animation: each feedback point fades in on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[Motion script]</a:t>
            </a:r>
          </a:p>
          <a:p>
            <a:r>
              <a:rPr lang="vi-VN" dirty="0"/>
              <a:t>To open: Agenda.</a:t>
            </a:r>
          </a:p>
          <a:p>
            <a:r>
              <a:rPr lang="vi-VN" dirty="0"/>
              <a:t>[Click 1] Ambient background starts with the slide.</a:t>
            </a:r>
          </a:p>
          <a:p>
            <a:r>
              <a:rPr lang="vi-VN" dirty="0"/>
              <a:t>[Click 2] First, Headline results.</a:t>
            </a:r>
          </a:p>
          <a:p>
            <a:r>
              <a:rPr lang="vi-VN" dirty="0"/>
              <a:t>[Click 3] Next, Revenue by channel.</a:t>
            </a:r>
          </a:p>
          <a:p>
            <a:r>
              <a:rPr lang="vi-VN" dirty="0"/>
              <a:t>[Click 4] Next, How we fixed fulfilment.</a:t>
            </a:r>
          </a:p>
          <a:p>
            <a:r>
              <a:rPr lang="vi-VN" dirty="0"/>
              <a:t>[Click 5] Finally, Priorities for Q4.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[Motion script]</a:t>
            </a:r>
          </a:p>
          <a:p>
            <a:r>
              <a:rPr lang="vi-VN" dirty="0"/>
              <a:t>To open: Revenue by channel.</a:t>
            </a:r>
          </a:p>
          <a:p>
            <a:r>
              <a:rPr lang="vi-VN" dirty="0"/>
              <a:t>[Click 1] Ambient background starts with the slide.</a:t>
            </a:r>
          </a:p>
          <a:p>
            <a:r>
              <a:rPr lang="vi-VN" dirty="0"/>
              <a:t>[Click 2] First, the chart Channel Chart.</a:t>
            </a:r>
          </a:p>
          <a:p>
            <a:r>
              <a:rPr lang="vi-VN" dirty="0"/>
              <a:t>[Click 3] Next, Online overtook retail for the first time in Q3.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[Motion script]</a:t>
            </a:r>
          </a:p>
          <a:p>
            <a:r>
              <a:rPr lang="vi-VN" dirty="0"/>
              <a:t>To open: Priorities for Q4.</a:t>
            </a:r>
          </a:p>
          <a:p>
            <a:r>
              <a:rPr lang="vi-VN" dirty="0"/>
              <a:t>[Click 1] Ambient background starts with the slide.</a:t>
            </a:r>
          </a:p>
          <a:p>
            <a:r>
              <a:rPr lang="vi-VN" dirty="0"/>
              <a:t>[Click 2] First, Expand online subscriptions.</a:t>
            </a:r>
          </a:p>
          <a:p>
            <a:r>
              <a:rPr lang="vi-VN" dirty="0"/>
              <a:t>[Click 3] Next, Cut packaging waste by 30%.</a:t>
            </a:r>
          </a:p>
          <a:p>
            <a:r>
              <a:rPr lang="vi-VN" dirty="0"/>
              <a:t>[Click 4] Finally, Open the second roastery.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Notes5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Notes6" Type="http://schemas.openxmlformats.org/officeDocument/2006/relationships/notesSlide" Target="../notesSlides/notesSlide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Notes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Operating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Northwind Roasters (synthetic data)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__gen_backdrop_backdrop1" descr="Generated by motion director (backdrop): ambient background depth"/>
          <p:cNvSpPr/>
          <p:nvPr/>
        </p:nvSpPr>
        <p:spPr>
          <a:xfrm>
            <a:off x="-1463003" y="-1714500"/>
            <a:ext cx="3771900" cy="3771900"/>
          </a:xfrm>
          <a:prstGeom prst="ellipse">
            <a:avLst/>
          </a:prstGeom>
          <a:solidFill>
            <a:srgbClr val="1F2A44">
              <a:alpha val="8000"/>
            </a:srgbClr>
          </a:solidFill>
          <a:ln>
            <a:noFill/>
          </a:ln>
        </p:spPr>
      </p:sp>
      <p:sp>
        <p:nvSpPr>
          <p:cNvPr id="5" name="__gen_backdrop_backdrop2" descr="Generated by motion director (backdrop): ambient background depth"/>
          <p:cNvSpPr/>
          <p:nvPr/>
        </p:nvSpPr>
        <p:spPr>
          <a:xfrm>
            <a:off x="8778020" y="3771900"/>
            <a:ext cx="3771900" cy="3771900"/>
          </a:xfrm>
          <a:prstGeom prst="ellipse">
            <a:avLst/>
          </a:prstGeom>
          <a:solidFill>
            <a:srgbClr val="0F9D8A">
              <a:alpha val="8000"/>
            </a:srgb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Headline results</a:t>
            </a:r>
          </a:p>
          <a:p>
            <a:r>
              <a:t>Revenue by channel</a:t>
            </a:r>
          </a:p>
          <a:p>
            <a:r>
              <a:t>How we fixed fulfilment</a:t>
            </a:r>
          </a:p>
          <a:p>
            <a:r>
              <a:t>Priorities for Q4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repeatCount="indefinite" autoRev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7321 -0.01 E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repeatCount="indefinite" autoRev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22981 0.019284 E" pathEditMode="relative" rAng="0" ptsTypes="AA">
                                      <p:cBhvr>
                                        <p:cTn id="8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3" grpId="2" build="p"/>
      <p:bldP spid="3" grpId="3" build="p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__gen_backdrop_backdrop1" descr="Generated by motion director (backdrop): ambient background depth"/>
          <p:cNvSpPr/>
          <p:nvPr/>
        </p:nvSpPr>
        <p:spPr>
          <a:xfrm>
            <a:off x="-1463003" y="-1714500"/>
            <a:ext cx="3771900" cy="3771900"/>
          </a:xfrm>
          <a:prstGeom prst="ellipse">
            <a:avLst/>
          </a:prstGeom>
          <a:solidFill>
            <a:srgbClr val="1F2A44">
              <a:alpha val="8000"/>
            </a:srgbClr>
          </a:solidFill>
          <a:ln>
            <a:noFill/>
          </a:ln>
        </p:spPr>
      </p:sp>
      <p:sp>
        <p:nvSpPr>
          <p:cNvPr id="13" name="__gen_backdrop_backdrop2" descr="Generated by motion director (backdrop): ambient background depth"/>
          <p:cNvSpPr/>
          <p:nvPr/>
        </p:nvSpPr>
        <p:spPr>
          <a:xfrm>
            <a:off x="8778020" y="3771900"/>
            <a:ext cx="3771900" cy="3771900"/>
          </a:xfrm>
          <a:prstGeom prst="ellipse">
            <a:avLst/>
          </a:prstGeom>
          <a:solidFill>
            <a:srgbClr val="0F9D8A">
              <a:alpha val="8000"/>
            </a:srgb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at a glance</a:t>
            </a:r>
          </a:p>
        </p:txBody>
      </p:sp>
      <p:sp>
        <p:nvSpPr>
          <p:cNvPr id="3" name="KPI Card 1"/>
          <p:cNvSpPr/>
          <p:nvPr/>
        </p:nvSpPr>
        <p:spPr>
          <a:xfrm>
            <a:off x="822960" y="2011680"/>
            <a:ext cx="3200400" cy="2743200"/>
          </a:xfrm>
          <a:prstGeom prst="round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PI Value 1"/>
          <p:cNvSpPr txBox="1"/>
          <p:nvPr/>
        </p:nvSpPr>
        <p:spPr>
          <a:xfrm>
            <a:off x="1097280" y="23774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F9D8A"/>
                </a:solidFill>
              </a:rPr>
              <a:t>$4.2M</a:t>
            </a:r>
          </a:p>
        </p:txBody>
      </p:sp>
      <p:sp>
        <p:nvSpPr>
          <p:cNvPr id="5" name="KPI Label 1"/>
          <p:cNvSpPr txBox="1"/>
          <p:nvPr/>
        </p:nvSpPr>
        <p:spPr>
          <a:xfrm>
            <a:off x="1097280" y="35661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B616E"/>
                </a:solidFill>
              </a:rPr>
              <a:t>Revenue, up from $3.1M</a:t>
            </a:r>
          </a:p>
        </p:txBody>
      </p:sp>
      <p:sp>
        <p:nvSpPr>
          <p:cNvPr id="6" name="KPI Card 2"/>
          <p:cNvSpPr/>
          <p:nvPr/>
        </p:nvSpPr>
        <p:spPr>
          <a:xfrm>
            <a:off x="4480560" y="2011680"/>
            <a:ext cx="3200400" cy="2743200"/>
          </a:xfrm>
          <a:prstGeom prst="round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KPI Value 2"/>
          <p:cNvSpPr txBox="1"/>
          <p:nvPr/>
        </p:nvSpPr>
        <p:spPr>
          <a:xfrm>
            <a:off x="4754880" y="23774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F9D8A"/>
                </a:solidFill>
              </a:rPr>
              <a:t>38%</a:t>
            </a:r>
          </a:p>
        </p:txBody>
      </p:sp>
      <p:sp>
        <p:nvSpPr>
          <p:cNvPr id="8" name="KPI Label 2"/>
          <p:cNvSpPr txBox="1"/>
          <p:nvPr/>
        </p:nvSpPr>
        <p:spPr>
          <a:xfrm>
            <a:off x="4754880" y="35661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B616E"/>
                </a:solidFill>
              </a:rPr>
              <a:t>Gross margin</a:t>
            </a:r>
          </a:p>
        </p:txBody>
      </p:sp>
      <p:sp>
        <p:nvSpPr>
          <p:cNvPr id="9" name="KPI Card 3"/>
          <p:cNvSpPr/>
          <p:nvPr/>
        </p:nvSpPr>
        <p:spPr>
          <a:xfrm>
            <a:off x="8138160" y="2011680"/>
            <a:ext cx="3200400" cy="2743200"/>
          </a:xfrm>
          <a:prstGeom prst="round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PI Value 3"/>
          <p:cNvSpPr txBox="1"/>
          <p:nvPr/>
        </p:nvSpPr>
        <p:spPr>
          <a:xfrm>
            <a:off x="8412480" y="23774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F9D8A"/>
                </a:solidFill>
              </a:rPr>
              <a:t>1,250</a:t>
            </a:r>
          </a:p>
        </p:txBody>
      </p:sp>
      <p:sp>
        <p:nvSpPr>
          <p:cNvPr id="11" name="KPI Label 3"/>
          <p:cNvSpPr txBox="1"/>
          <p:nvPr/>
        </p:nvSpPr>
        <p:spPr>
          <a:xfrm>
            <a:off x="8412480" y="35661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B616E"/>
                </a:solidFill>
              </a:rPr>
              <a:t>New subscribers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repeatCount="indefinite" autoRev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7321 -0.01 E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repeatCount="indefinite" autoRev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22981 0.019284 E" pathEditMode="relative" rAng="0" ptsTypes="AA">
                                      <p:cBhvr>
                                        <p:cTn id="8" dur="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__gen_backdrop_backdrop1" descr="Generated by motion director (backdrop): ambient background depth"/>
          <p:cNvSpPr/>
          <p:nvPr/>
        </p:nvSpPr>
        <p:spPr>
          <a:xfrm>
            <a:off x="-1463003" y="-1714500"/>
            <a:ext cx="3771900" cy="3771900"/>
          </a:xfrm>
          <a:prstGeom prst="ellipse">
            <a:avLst/>
          </a:prstGeom>
          <a:solidFill>
            <a:srgbClr val="1F2A44">
              <a:alpha val="8000"/>
            </a:srgbClr>
          </a:solidFill>
          <a:ln>
            <a:noFill/>
          </a:ln>
        </p:spPr>
      </p:sp>
      <p:sp>
        <p:nvSpPr>
          <p:cNvPr id="7" name="__gen_backdrop_backdrop2" descr="Generated by motion director (backdrop): ambient background depth"/>
          <p:cNvSpPr/>
          <p:nvPr/>
        </p:nvSpPr>
        <p:spPr>
          <a:xfrm>
            <a:off x="8778020" y="3771900"/>
            <a:ext cx="3771900" cy="3771900"/>
          </a:xfrm>
          <a:prstGeom prst="ellipse">
            <a:avLst/>
          </a:prstGeom>
          <a:solidFill>
            <a:srgbClr val="0F9D8A">
              <a:alpha val="8000"/>
            </a:srgb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channel</a:t>
            </a:r>
          </a:p>
        </p:txBody>
      </p:sp>
      <p:graphicFrame>
        <p:nvGraphicFramePr>
          <p:cNvPr id="3" name="Channel Chart"/>
          <p:cNvGraphicFramePr>
            <a:graphicFrameLocks noGrp="1"/>
          </p:cNvGraphicFramePr>
          <p:nvPr/>
        </p:nvGraphicFramePr>
        <p:xfrm>
          <a:off x="731520" y="1554480"/>
          <a:ext cx="71323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akeaway Card"/>
          <p:cNvSpPr/>
          <p:nvPr/>
        </p:nvSpPr>
        <p:spPr>
          <a:xfrm>
            <a:off x="8229600" y="2011680"/>
            <a:ext cx="3291840" cy="2926080"/>
          </a:xfrm>
          <a:prstGeom prst="round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akeaway"/>
          <p:cNvSpPr txBox="1"/>
          <p:nvPr/>
        </p:nvSpPr>
        <p:spPr>
          <a:xfrm>
            <a:off x="8503920" y="2286000"/>
            <a:ext cx="2743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A44"/>
                </a:solidFill>
              </a:rPr>
              <a:t>Online overtook retail for the first time in Q3.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repeatCount="indefinite" autoRev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7321 -0.01 E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repeatCount="indefinite" autoRev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22981 0.019284 E" pathEditMode="relative" rAng="0" ptsTypes="AA">
                                      <p:cBhvr>
                                        <p:cTn id="8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800"/>
                                        <p:tgtEl>
                                          <p:spTgt spid="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800"/>
                                        <p:tgtEl>
                                          <p:spTgt spid="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Chart bld="series" animBg="0"/>
        </p:bldSub>
      </p:bldGraphic>
      <p:bldGraphic spid="3" grpId="1">
        <p:bldSub>
          <a:bldChart bld="series" animBg="0"/>
        </p:bldSub>
      </p:bldGraphic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" name="__gen_track-line_track" descr="Generated by motion director (track-line): the rail the work travels along"/>
          <p:cNvSpPr/>
          <p:nvPr/>
        </p:nvSpPr>
        <p:spPr>
          <a:xfrm>
            <a:off x="1828800" y="4393692"/>
            <a:ext cx="8778240" cy="82296"/>
          </a:xfrm>
          <a:prstGeom prst="roundRect">
            <a:avLst/>
          </a:prstGeom>
          <a:solidFill>
            <a:srgbClr val="1F2A44">
              <a:alpha val="35000"/>
            </a:srgbClr>
          </a:solidFill>
          <a:ln>
            <a:noFill/>
          </a:ln>
        </p:spPr>
      </p:sp>
      <p:sp>
        <p:nvSpPr>
          <p:cNvPr id="16" name="__gen_backdrop_backdrop1" descr="Generated by motion director (backdrop): ambient background depth"/>
          <p:cNvSpPr/>
          <p:nvPr/>
        </p:nvSpPr>
        <p:spPr>
          <a:xfrm>
            <a:off x="-1463003" y="-1714500"/>
            <a:ext cx="3771900" cy="3771900"/>
          </a:xfrm>
          <a:prstGeom prst="ellipse">
            <a:avLst/>
          </a:prstGeom>
          <a:solidFill>
            <a:srgbClr val="1F2A44">
              <a:alpha val="8000"/>
            </a:srgbClr>
          </a:solidFill>
          <a:ln>
            <a:noFill/>
          </a:ln>
        </p:spPr>
      </p:sp>
      <p:sp>
        <p:nvSpPr>
          <p:cNvPr id="17" name="__gen_backdrop_backdrop2" descr="Generated by motion director (backdrop): ambient background depth"/>
          <p:cNvSpPr/>
          <p:nvPr/>
        </p:nvSpPr>
        <p:spPr>
          <a:xfrm>
            <a:off x="8778020" y="3771900"/>
            <a:ext cx="3771900" cy="3771900"/>
          </a:xfrm>
          <a:prstGeom prst="ellipse">
            <a:avLst/>
          </a:prstGeom>
          <a:solidFill>
            <a:srgbClr val="0F9D8A">
              <a:alpha val="8000"/>
            </a:srgb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fixed fulfilment</a:t>
            </a:r>
          </a:p>
        </p:txBody>
      </p:sp>
      <p:sp>
        <p:nvSpPr>
          <p:cNvPr id="3" name="Step 1"/>
          <p:cNvSpPr/>
          <p:nvPr/>
        </p:nvSpPr>
        <p:spPr>
          <a:xfrm>
            <a:off x="731520" y="2743200"/>
            <a:ext cx="2194560" cy="12801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>
                <a:solidFill>
                  <a:srgbClr val="FFFFFF"/>
                </a:solidFill>
              </a:rPr>
              <a:t>Forecast</a:t>
            </a:r>
          </a:p>
        </p:txBody>
      </p:sp>
      <p:sp>
        <p:nvSpPr>
          <p:cNvPr id="4" name="Step 2"/>
          <p:cNvSpPr/>
          <p:nvPr/>
        </p:nvSpPr>
        <p:spPr>
          <a:xfrm>
            <a:off x="3657600" y="2743200"/>
            <a:ext cx="2194560" cy="12801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>
                <a:solidFill>
                  <a:srgbClr val="FFFFFF"/>
                </a:solidFill>
              </a:rPr>
              <a:t>Roast</a:t>
            </a:r>
          </a:p>
        </p:txBody>
      </p:sp>
      <p:cxnSp>
        <p:nvCxnSpPr>
          <p:cNvPr id="5" name="Arrow 1"/>
          <p:cNvCxnSpPr/>
          <p:nvPr/>
        </p:nvCxnSpPr>
        <p:spPr>
          <a:xfrm>
            <a:off x="2926080" y="3383280"/>
            <a:ext cx="731520" cy="0"/>
          </a:xfrm>
          <a:prstGeom prst="line">
            <a:avLst/>
          </a:prstGeom>
          <a:ln w="25400">
            <a:solidFill>
              <a:srgbClr val="5B6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tep 3"/>
          <p:cNvSpPr/>
          <p:nvPr/>
        </p:nvSpPr>
        <p:spPr>
          <a:xfrm>
            <a:off x="6583680" y="2743200"/>
            <a:ext cx="2194560" cy="12801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>
                <a:solidFill>
                  <a:srgbClr val="FFFFFF"/>
                </a:solidFill>
              </a:rPr>
              <a:t>Pack</a:t>
            </a:r>
          </a:p>
        </p:txBody>
      </p:sp>
      <p:cxnSp>
        <p:nvCxnSpPr>
          <p:cNvPr id="7" name="Arrow 2"/>
          <p:cNvCxnSpPr/>
          <p:nvPr/>
        </p:nvCxnSpPr>
        <p:spPr>
          <a:xfrm>
            <a:off x="5852160" y="3383280"/>
            <a:ext cx="731520" cy="0"/>
          </a:xfrm>
          <a:prstGeom prst="line">
            <a:avLst/>
          </a:prstGeom>
          <a:ln w="25400">
            <a:solidFill>
              <a:srgbClr val="5B6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tep 4"/>
          <p:cNvSpPr/>
          <p:nvPr/>
        </p:nvSpPr>
        <p:spPr>
          <a:xfrm>
            <a:off x="9509760" y="2743200"/>
            <a:ext cx="2194560" cy="1280160"/>
          </a:xfrm>
          <a:prstGeom prst="round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>
                <a:solidFill>
                  <a:srgbClr val="FFFFFF"/>
                </a:solidFill>
              </a:rPr>
              <a:t>Ship</a:t>
            </a:r>
          </a:p>
        </p:txBody>
      </p:sp>
      <p:cxnSp>
        <p:nvCxnSpPr>
          <p:cNvPr id="9" name="Arrow 3"/>
          <p:cNvCxnSpPr/>
          <p:nvPr/>
        </p:nvCxnSpPr>
        <p:spPr>
          <a:xfrm>
            <a:off x="8778240" y="3383280"/>
            <a:ext cx="731520" cy="0"/>
          </a:xfrm>
          <a:prstGeom prst="line">
            <a:avLst/>
          </a:prstGeom>
          <a:ln w="25400">
            <a:solidFill>
              <a:srgbClr val="5B6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sult"/>
          <p:cNvSpPr txBox="1"/>
          <p:nvPr/>
        </p:nvSpPr>
        <p:spPr>
          <a:xfrm>
            <a:off x="731520" y="45720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F9D8A"/>
                </a:solidFill>
              </a:rPr>
              <a:t>Lead time fell from 9 days to 4 days.</a:t>
            </a:r>
          </a:p>
        </p:txBody>
      </p:sp>
      <p:grpSp>
        <p:nvGrpSpPr>
          <p:cNvPr id="11" name="Badge Group"/>
          <p:cNvGrpSpPr/>
          <p:nvPr/>
        </p:nvGrpSpPr>
        <p:grpSpPr>
          <a:xfrm>
            <a:off x="10607040" y="365760"/>
            <a:ext cx="914400" cy="914400"/>
            <a:chOff x="10607040" y="365760"/>
            <a:chExt cx="914400" cy="914400"/>
          </a:xfrm>
        </p:grpSpPr>
        <p:sp>
          <p:nvSpPr>
            <p:cNvPr id="12" name="Oval 11"/>
            <p:cNvSpPr/>
            <p:nvPr/>
          </p:nvSpPr>
          <p:spPr>
            <a:xfrm>
              <a:off x="10607040" y="365760"/>
              <a:ext cx="914400" cy="914400"/>
            </a:xfrm>
            <a:prstGeom prst="ellipse">
              <a:avLst/>
            </a:prstGeom>
            <a:solidFill>
              <a:srgbClr val="0F9D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698480" y="594360"/>
              <a:ext cx="73152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-55%</a:t>
              </a:r>
            </a:p>
          </p:txBody>
        </p:sp>
      </p:grpSp>
      <p:sp>
        <p:nvSpPr>
          <p:cNvPr id="15" name="__gen_token_token" descr="Generated by motion director (token): marks where the process is right now"/>
          <p:cNvSpPr/>
          <p:nvPr/>
        </p:nvSpPr>
        <p:spPr>
          <a:xfrm>
            <a:off x="299466" y="4280535"/>
            <a:ext cx="308610" cy="30861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repeatCount="indefinite" autoRev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7321 -0.01 E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repeatCount="indefinite" autoRev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22981 0.019284 E" pathEditMode="relative" rAng="0" ptsTypes="AA">
                                      <p:cBhvr>
                                        <p:cTn id="8" dur="5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80"/>
                            </p:stCondLst>
                            <p:childTnLst>
                              <p:par>
                                <p:cTn id="23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3985 -0.02391 0.079701 -0.02391 0.119551 0 E" pathEditMode="relative" rAng="0">
                                      <p:cBhvr>
                                        <p:cTn id="24" dur="5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30000" decel="70000" fill="hold" grpId="2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.119551 0 L 0.112784 0 E" pathEditMode="relative" rAng="0" ptsTypes="AA">
                                      <p:cBhvr>
                                        <p:cTn id="26" dur="13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6" presetClass="emph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28" dur="200" fill="hold" autoRev="1"/>
                                        <p:tgtEl>
                                          <p:spTgt spid="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00"/>
                            </p:stCondLst>
                            <p:childTnLst>
                              <p:par>
                                <p:cTn id="41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2784 0 C 0.197586 -0.050881 0.282388 -0.050881 0.36719 0 E" pathEditMode="relative" rAng="0">
                                      <p:cBhvr>
                                        <p:cTn id="42" dur="5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accel="30000" decel="70000" fill="hold" grpId="4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.36719 0 L 0.35279 0 E" pathEditMode="relative" rAng="0" ptsTypes="AA">
                                      <p:cBhvr>
                                        <p:cTn id="44" dur="13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6" presetClass="emph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46" dur="200" fill="hold" autoRev="1"/>
                                        <p:tgtEl>
                                          <p:spTgt spid="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700"/>
                            </p:stCondLst>
                            <p:childTnLst>
                              <p:par>
                                <p:cTn id="59" presetID="0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5279 0 C 0.437592 -0.050881 0.522394 -0.050881 0.607196 0 E" pathEditMode="relative" rAng="0">
                                      <p:cBhvr>
                                        <p:cTn id="60" dur="5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0" presetClass="path" presetSubtype="0" accel="30000" decel="70000" fill="hold" grpId="6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.607196 0 L 0.592796 0 E" pathEditMode="relative" rAng="0" ptsTypes="AA">
                                      <p:cBhvr>
                                        <p:cTn id="62" dur="13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6" presetClass="emph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64" dur="200" fill="hold" autoRev="1"/>
                                        <p:tgtEl>
                                          <p:spTgt spid="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00"/>
                            </p:stCondLst>
                            <p:childTnLst>
                              <p:par>
                                <p:cTn id="77" presetID="0" presetClass="path" presetSubtype="0" accel="50000" decel="5000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92796 0 C 0.677598 -0.050881 0.7624 -0.050881 0.847202 0 E" pathEditMode="relative" rAng="0">
                                      <p:cBhvr>
                                        <p:cTn id="78" dur="5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0" presetClass="path" presetSubtype="0" accel="30000" decel="70000" fill="hold" grpId="8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.847202 0 L 0.832802 0 E" pathEditMode="relative" rAng="0" ptsTypes="AA">
                                      <p:cBhvr>
                                        <p:cTn id="80" dur="13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6" presetClass="emph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82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6" grpId="0" animBg="1"/>
      <p:bldP spid="6" grpId="1" animBg="1"/>
      <p:bldP spid="8" grpId="0" animBg="1"/>
      <p:bldP spid="8" grpId="1" animBg="1"/>
      <p:bldP spid="10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6400800" cy="4389120"/>
          </a:xfrm>
        </p:spPr>
        <p:txBody>
          <a:bodyPr/>
          <a:lstStyle/>
          <a:p>
            <a:r>
              <a:t>Delivery speed is the top compliment</a:t>
            </a:r>
          </a:p>
          <a:p>
            <a:r>
              <a:t>Packaging waste is the top complaint</a:t>
            </a:r>
          </a:p>
        </p:txBody>
      </p:sp>
      <p:pic>
        <p:nvPicPr>
          <p:cNvPr id="4" name="Feedback Pictur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737360"/>
            <a:ext cx="3840480" cy="28803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__gen_backdrop_backdrop1" descr="Generated by motion director (backdrop): ambient background depth"/>
          <p:cNvSpPr/>
          <p:nvPr/>
        </p:nvSpPr>
        <p:spPr>
          <a:xfrm>
            <a:off x="-1463003" y="-1714500"/>
            <a:ext cx="3771900" cy="3771900"/>
          </a:xfrm>
          <a:prstGeom prst="ellipse">
            <a:avLst/>
          </a:prstGeom>
          <a:solidFill>
            <a:srgbClr val="1F2A44">
              <a:alpha val="8000"/>
            </a:srgbClr>
          </a:solidFill>
          <a:ln>
            <a:noFill/>
          </a:ln>
        </p:spPr>
      </p:sp>
      <p:sp>
        <p:nvSpPr>
          <p:cNvPr id="5" name="__gen_backdrop_backdrop2" descr="Generated by motion director (backdrop): ambient background depth"/>
          <p:cNvSpPr/>
          <p:nvPr/>
        </p:nvSpPr>
        <p:spPr>
          <a:xfrm>
            <a:off x="8778020" y="3771900"/>
            <a:ext cx="3771900" cy="3771900"/>
          </a:xfrm>
          <a:prstGeom prst="ellipse">
            <a:avLst/>
          </a:prstGeom>
          <a:solidFill>
            <a:srgbClr val="0F9D8A">
              <a:alpha val="8000"/>
            </a:srgb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Priorities for Q4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Expand online subscriptions</a:t>
            </a:r>
          </a:p>
          <a:p>
            <a:r>
              <a:t>Cut packaging waste by 30%</a:t>
            </a:r>
          </a:p>
          <a:p>
            <a:r>
              <a:t>Open the second roastery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repeatCount="indefinite" autoRev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7321 -0.01 E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repeatCount="indefinite" autoRev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22981 0.019284 E" pathEditMode="relative" rAng="0" ptsTypes="AA">
                                      <p:cBhvr>
                                        <p:cTn id="8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3" grpId="2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